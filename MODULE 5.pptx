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3" r:id="rId20"/>
    <p:sldId id="278" r:id="rId21"/>
    <p:sldId id="279" r:id="rId22"/>
    <p:sldId id="280" r:id="rId23"/>
    <p:sldId id="274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67930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89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85042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37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49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695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122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368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867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15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1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5F1FB86-431F-484D-8FC6-974F33ABBC3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AAA4A20-88D4-42D2-A33A-25E53DFB219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7849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651B-CE18-7B82-53DF-8CD6E321A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3871" y="976691"/>
            <a:ext cx="8361229" cy="2098226"/>
          </a:xfrm>
        </p:spPr>
        <p:txBody>
          <a:bodyPr/>
          <a:lstStyle/>
          <a:p>
            <a:r>
              <a:rPr lang="en-IN" b="1" dirty="0"/>
              <a:t>MODULE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ADDFC-CEA3-5814-40AA-EAD2D4D32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3" y="3429000"/>
            <a:ext cx="6831673" cy="1086237"/>
          </a:xfrm>
        </p:spPr>
        <p:txBody>
          <a:bodyPr>
            <a:normAutofit/>
          </a:bodyPr>
          <a:lstStyle/>
          <a:p>
            <a:r>
              <a:rPr lang="en-IN" sz="5400" b="1" dirty="0"/>
              <a:t>Sequence Modelling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8866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405D-B47F-F4EB-E7A7-16C00D15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527" y="2439955"/>
            <a:ext cx="9601200" cy="1485900"/>
          </a:xfrm>
        </p:spPr>
        <p:txBody>
          <a:bodyPr/>
          <a:lstStyle/>
          <a:p>
            <a:r>
              <a:rPr lang="en-IN" b="1" dirty="0"/>
              <a:t>Introduction to Sequence </a:t>
            </a:r>
            <a:r>
              <a:rPr lang="en-IN" b="1" dirty="0" err="1"/>
              <a:t>Modeling</a:t>
            </a:r>
            <a:r>
              <a:rPr lang="en-IN" b="1" dirty="0"/>
              <a:t> and Unfolding Computational Graphs</a:t>
            </a:r>
          </a:p>
        </p:txBody>
      </p:sp>
    </p:spTree>
    <p:extLst>
      <p:ext uri="{BB962C8B-B14F-4D97-AF65-F5344CB8AC3E}">
        <p14:creationId xmlns:p14="http://schemas.microsoft.com/office/powerpoint/2010/main" val="355985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3A88-878C-172F-E81C-6AFDE113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922BE-0242-2433-0A5C-211C30582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By the end of this session,</a:t>
            </a:r>
          </a:p>
          <a:p>
            <a:pPr lvl="0"/>
            <a:r>
              <a:rPr lang="en-IN" dirty="0"/>
              <a:t>Define sequence </a:t>
            </a:r>
            <a:r>
              <a:rPr lang="en-IN" dirty="0" err="1"/>
              <a:t>modeling</a:t>
            </a:r>
            <a:endParaRPr lang="en-IN" dirty="0"/>
          </a:p>
          <a:p>
            <a:pPr lvl="0"/>
            <a:r>
              <a:rPr lang="en-IN" dirty="0"/>
              <a:t>Explain a computational graph</a:t>
            </a:r>
          </a:p>
          <a:p>
            <a:pPr lvl="0"/>
            <a:r>
              <a:rPr lang="en-IN" dirty="0"/>
              <a:t>Describe recurrent computation</a:t>
            </a:r>
          </a:p>
          <a:p>
            <a:pPr lvl="0"/>
            <a:r>
              <a:rPr lang="en-IN" dirty="0"/>
              <a:t>Unfold a computational graph over time</a:t>
            </a:r>
          </a:p>
          <a:p>
            <a:pPr lvl="0"/>
            <a:r>
              <a:rPr lang="en-IN" dirty="0"/>
              <a:t>Identify the advantages of unfolding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58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1AEC0-7A13-4864-C979-CE53222F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/>
              <a:t>Sequence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B7E22-E765-BB2E-E1A3-516DAED9B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3581400"/>
          </a:xfrm>
        </p:spPr>
        <p:txBody>
          <a:bodyPr/>
          <a:lstStyle/>
          <a:p>
            <a:r>
              <a:rPr lang="en-IN" dirty="0"/>
              <a:t>Data where </a:t>
            </a:r>
            <a:r>
              <a:rPr lang="en-IN" b="1" dirty="0"/>
              <a:t>order matters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8FD64-6DB3-1610-6C78-7204A6BDD510}"/>
              </a:ext>
            </a:extLst>
          </p:cNvPr>
          <p:cNvSpPr txBox="1"/>
          <p:nvPr/>
        </p:nvSpPr>
        <p:spPr>
          <a:xfrm>
            <a:off x="1593203" y="2171700"/>
            <a:ext cx="60975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Text: “Students learn deep learning.”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Speech: audio samples over time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Video: sequence of frames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Sensor data: temperature, ECG, accelerometer readings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Financial data: daily stock prices</a:t>
            </a:r>
          </a:p>
        </p:txBody>
      </p:sp>
    </p:spTree>
    <p:extLst>
      <p:ext uri="{BB962C8B-B14F-4D97-AF65-F5344CB8AC3E}">
        <p14:creationId xmlns:p14="http://schemas.microsoft.com/office/powerpoint/2010/main" val="307869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FAC0-97A6-E107-332A-5B40E80C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Limitation of Feedforward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E6634-A1C0-506D-6CA4-08E168259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feedforward network:</a:t>
            </a:r>
          </a:p>
          <a:p>
            <a:pPr lvl="0"/>
            <a:r>
              <a:rPr lang="en-IN" dirty="0"/>
              <a:t>Assumes inputs are independent</a:t>
            </a:r>
          </a:p>
          <a:p>
            <a:pPr lvl="0"/>
            <a:r>
              <a:rPr lang="en-IN" dirty="0"/>
              <a:t>Usually requires fixed-size input</a:t>
            </a:r>
          </a:p>
          <a:p>
            <a:pPr lvl="0"/>
            <a:r>
              <a:rPr lang="en-IN" dirty="0"/>
              <a:t>Does not naturally remember previous inputs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12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069A-958F-7BEE-5FAE-A50B560F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Need for Sequence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6AEB-EC6B-0A5F-6055-C8C9473C1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We need a model that can:</a:t>
            </a:r>
          </a:p>
          <a:p>
            <a:pPr lvl="0"/>
            <a:r>
              <a:rPr lang="en-IN" dirty="0"/>
              <a:t>Accept variable-length sequences</a:t>
            </a:r>
          </a:p>
          <a:p>
            <a:pPr lvl="0"/>
            <a:r>
              <a:rPr lang="en-IN" dirty="0"/>
              <a:t>Preserve order</a:t>
            </a:r>
          </a:p>
          <a:p>
            <a:pPr lvl="0"/>
            <a:r>
              <a:rPr lang="en-IN" dirty="0"/>
              <a:t>Remember previous information</a:t>
            </a:r>
          </a:p>
          <a:p>
            <a:pPr lvl="0"/>
            <a:r>
              <a:rPr lang="en-IN" dirty="0"/>
              <a:t>Share knowledge across time steps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909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4B81-F9A6-D7E1-ED6B-F2C23D13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Computational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B8284F-E75B-3E08-6CC9-235F0D1D80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744824"/>
                <a:ext cx="9601200" cy="3581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A </a:t>
                </a:r>
                <a:r>
                  <a:rPr lang="en-IN" b="1" dirty="0"/>
                  <a:t>computational graph</a:t>
                </a:r>
                <a:r>
                  <a:rPr lang="en-IN" dirty="0"/>
                  <a:t> represents computations as nodes and edges.</a:t>
                </a:r>
              </a:p>
              <a:p>
                <a:pPr lvl="0"/>
                <a:r>
                  <a:rPr lang="en-IN" dirty="0"/>
                  <a:t>Nodes: variables, operations, parameters</a:t>
                </a:r>
              </a:p>
              <a:p>
                <a:pPr lvl="0"/>
                <a:r>
                  <a:rPr lang="en-IN" dirty="0"/>
                  <a:t>Edges: dependencies between computations</a:t>
                </a:r>
              </a:p>
              <a:p>
                <a:r>
                  <a:rPr lang="en-IN" dirty="0"/>
                  <a:t>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B8284F-E75B-3E08-6CC9-235F0D1D8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744824"/>
                <a:ext cx="9601200" cy="3581400"/>
              </a:xfrm>
              <a:blipFill>
                <a:blip r:embed="rId2"/>
                <a:stretch>
                  <a:fillRect l="-635" t="-1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80E9DB-7690-856B-09E8-ACE670292E4B}"/>
              </a:ext>
            </a:extLst>
          </p:cNvPr>
          <p:cNvSpPr txBox="1"/>
          <p:nvPr/>
        </p:nvSpPr>
        <p:spPr>
          <a:xfrm>
            <a:off x="7924023" y="2505670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x ──┐</a:t>
            </a:r>
          </a:p>
          <a:p>
            <a:r>
              <a:rPr lang="en-IN" dirty="0"/>
              <a:t>    ├──► z</a:t>
            </a:r>
          </a:p>
          <a:p>
            <a:r>
              <a:rPr lang="en-IN" dirty="0"/>
              <a:t>y ──┘</a:t>
            </a:r>
          </a:p>
        </p:txBody>
      </p:sp>
    </p:spTree>
    <p:extLst>
      <p:ext uri="{BB962C8B-B14F-4D97-AF65-F5344CB8AC3E}">
        <p14:creationId xmlns:p14="http://schemas.microsoft.com/office/powerpoint/2010/main" val="235219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EE25-41E9-4D0A-35F5-798D8BA6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Dynamical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D46E3D-E2F3-FAB7-8ACE-A8CBF9A98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simple recurrent system: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;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: current state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/>
                  <a:t>: previous state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: transition function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/>
                  <a:t>: parameters</a:t>
                </a:r>
              </a:p>
              <a:p>
                <a:pPr marL="0" indent="0">
                  <a:buNone/>
                </a:pPr>
                <a:r>
                  <a:rPr lang="en-IN" dirty="0"/>
                  <a:t>The current state depends on the previous state.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D46E3D-E2F3-FAB7-8ACE-A8CBF9A98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5" t="-1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6810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E704-F089-6800-38E8-B0803EFB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Adding 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7C094-EC2E-8EAD-EE5D-DC4B7E3067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an RNN-like system: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: input at time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: hidden state at time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/>
                  <a:t>: previous hidden state</a:t>
                </a:r>
              </a:p>
              <a:p>
                <a:pPr marL="0" indent="0">
                  <a:buNone/>
                </a:pPr>
                <a:r>
                  <a:rPr lang="en-IN" b="1" dirty="0"/>
                  <a:t>Hidden state = memory of the sequence seen so far.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7C094-EC2E-8EAD-EE5D-DC4B7E3067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5" t="-1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17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6388-A5AA-F92A-FDF0-CE5398A3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Recurrent Computational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05921-EC19-7713-BCC6-2E53AE799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┌──────────</a:t>
            </a:r>
          </a:p>
          <a:p>
            <a:pPr marL="0" indent="0">
              <a:buNone/>
            </a:pPr>
            <a:r>
              <a:rPr lang="en-IN" dirty="0"/>
              <a:t>                   │                           ▼</a:t>
            </a:r>
          </a:p>
          <a:p>
            <a:pPr marL="0" indent="0">
              <a:buNone/>
            </a:pPr>
            <a:r>
              <a:rPr lang="en-IN" dirty="0"/>
              <a:t>       x1 → [ h1 ] → [ h2 ] → [ h3 ] → ...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C76D46-78E1-7F2D-DAC9-0723F266A562}"/>
              </a:ext>
            </a:extLst>
          </p:cNvPr>
          <p:cNvCxnSpPr/>
          <p:nvPr/>
        </p:nvCxnSpPr>
        <p:spPr>
          <a:xfrm>
            <a:off x="4646645" y="2463282"/>
            <a:ext cx="0" cy="270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48C4A4-043C-344D-C13E-32C854F24F0B}"/>
              </a:ext>
            </a:extLst>
          </p:cNvPr>
          <p:cNvSpPr txBox="1"/>
          <p:nvPr/>
        </p:nvSpPr>
        <p:spPr>
          <a:xfrm>
            <a:off x="1597867" y="3898937"/>
            <a:ext cx="922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loop indicates that information from earlier time steps influences later states.</a:t>
            </a:r>
          </a:p>
        </p:txBody>
      </p:sp>
    </p:spTree>
    <p:extLst>
      <p:ext uri="{BB962C8B-B14F-4D97-AF65-F5344CB8AC3E}">
        <p14:creationId xmlns:p14="http://schemas.microsoft.com/office/powerpoint/2010/main" val="2160316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E5F7A-F597-F00B-D88F-F331892F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Unfolding?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7FD67-FC60-7756-A9B2-AD446B873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Unfolding</a:t>
            </a:r>
            <a:r>
              <a:rPr lang="en-IN" dirty="0"/>
              <a:t> means expanding the recurrent computation over time.</a:t>
            </a:r>
          </a:p>
          <a:p>
            <a:r>
              <a:rPr lang="en-IN" dirty="0"/>
              <a:t>It converts a cyclic graph into a repeated chain:</a:t>
            </a:r>
          </a:p>
          <a:p>
            <a:pPr marL="0" indent="0">
              <a:buNone/>
            </a:pPr>
            <a:r>
              <a:rPr lang="pt-BR" dirty="0"/>
              <a:t>x1 → h1 → h2 → h3</a:t>
            </a:r>
          </a:p>
          <a:p>
            <a:pPr marL="0" indent="0">
              <a:buNone/>
            </a:pPr>
            <a:r>
              <a:rPr lang="pt-BR" dirty="0"/>
              <a:t>             │     │     │</a:t>
            </a:r>
          </a:p>
          <a:p>
            <a:pPr marL="0" indent="0">
              <a:buNone/>
            </a:pPr>
            <a:r>
              <a:rPr lang="pt-BR" dirty="0"/>
              <a:t>             f        f      f</a:t>
            </a:r>
          </a:p>
          <a:p>
            <a:pPr marL="0" indent="0">
              <a:buNone/>
            </a:pPr>
            <a:r>
              <a:rPr lang="pt-BR" dirty="0"/>
              <a:t>              θ     θ     θ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725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E394-2130-4CAF-D398-D5C2C34FE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Unfolded Graph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CDC113-FDD8-F9EA-814D-3CDE3FBA67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Sentence: </a:t>
                </a:r>
                <a:r>
                  <a:rPr lang="en-IN" b="1" dirty="0"/>
                  <a:t>“Students learn deep learning”</a:t>
                </a:r>
              </a:p>
              <a:p>
                <a:pPr marL="0" indent="0">
                  <a:buNone/>
                </a:pPr>
                <a:r>
                  <a:rPr lang="en-US" dirty="0"/>
                  <a:t>x1:“Students” → h1</a:t>
                </a:r>
              </a:p>
              <a:p>
                <a:pPr marL="0" indent="0">
                  <a:buNone/>
                </a:pPr>
                <a:r>
                  <a:rPr lang="en-US" dirty="0"/>
                  <a:t>x2:“learn”    → h2</a:t>
                </a:r>
              </a:p>
              <a:p>
                <a:pPr marL="0" indent="0">
                  <a:buNone/>
                </a:pPr>
                <a:r>
                  <a:rPr lang="en-US" dirty="0"/>
                  <a:t>x3:“deep”     → h3</a:t>
                </a:r>
              </a:p>
              <a:p>
                <a:pPr marL="0" indent="0">
                  <a:buNone/>
                </a:pPr>
                <a:r>
                  <a:rPr lang="en-US" dirty="0"/>
                  <a:t>x4:“learning” → h4</a:t>
                </a:r>
              </a:p>
              <a:p>
                <a:r>
                  <a:rPr lang="en-IN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depends on:</a:t>
                </a:r>
              </a:p>
              <a:p>
                <a:pPr marL="0" lvl="0" indent="0">
                  <a:buNone/>
                </a:pPr>
                <a:r>
                  <a:rPr lang="en-IN" dirty="0"/>
                  <a:t>Current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IN" dirty="0"/>
              </a:p>
              <a:p>
                <a:pPr marL="0" lvl="0" indent="0">
                  <a:buNone/>
                </a:pPr>
                <a:r>
                  <a:rPr lang="en-IN" dirty="0"/>
                  <a:t>Previous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CDC113-FDD8-F9EA-814D-3CDE3FBA67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5" t="-1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664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AFE40-0AA8-7ABF-81EE-33E92CA4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Property — Parameter Sharing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D04530-BEC9-2851-F97B-4FE0106A4A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same function and parameters are used at every time step: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Same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b="1" dirty="0"/>
                  <a:t>, same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/>
                  <a:t>— regardless of sequence length.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D04530-BEC9-2851-F97B-4FE0106A4A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1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267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71AA4-6BBD-83BC-E8DC-13613F29F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 of Unfolding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C3D24-B953-C14C-3919-7D61B7389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Handles variable-length sequences</a:t>
            </a:r>
          </a:p>
          <a:p>
            <a:pPr lvl="0"/>
            <a:r>
              <a:rPr lang="en-IN" dirty="0"/>
              <a:t>Uses the same transition function at every step</a:t>
            </a:r>
          </a:p>
          <a:p>
            <a:pPr lvl="0"/>
            <a:r>
              <a:rPr lang="en-IN" dirty="0"/>
              <a:t>Requires fewer parameters</a:t>
            </a:r>
          </a:p>
          <a:p>
            <a:pPr lvl="0"/>
            <a:r>
              <a:rPr lang="en-IN" dirty="0"/>
              <a:t>Provides a compact model representation</a:t>
            </a:r>
          </a:p>
          <a:p>
            <a:pPr lvl="0"/>
            <a:r>
              <a:rPr lang="en-IN" dirty="0"/>
              <a:t>Clearly shows information flow across time</a:t>
            </a:r>
          </a:p>
          <a:p>
            <a:pPr lvl="0"/>
            <a:r>
              <a:rPr lang="en-IN" dirty="0"/>
              <a:t>Enables backpropagation through time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807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9FA7-590B-3300-13E9-75FB6B80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Recurrent vs Feedforward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FCBE3C-6C5D-A982-AB72-457AD11EC0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7375415"/>
              </p:ext>
            </p:extLst>
          </p:nvPr>
        </p:nvGraphicFramePr>
        <p:xfrm>
          <a:off x="1446245" y="1687130"/>
          <a:ext cx="960120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69993959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418157547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3331416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Aspect</a:t>
                      </a:r>
                      <a:endParaRPr lang="en-IN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Feedforward Network</a:t>
                      </a:r>
                      <a:endParaRPr lang="en-IN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Recurrent Network</a:t>
                      </a:r>
                      <a:endParaRPr lang="en-IN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629981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Input structure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Fixed-size input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Variable-length sequence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713925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Order sensitivity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Limited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Order matters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611338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Memory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No internal sequence memory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Hidden state carries context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962282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Parameter sharing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Across layers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Across time steps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4024835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Example task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Image classification</a:t>
                      </a:r>
                      <a:endParaRPr lang="en-IN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Language </a:t>
                      </a:r>
                      <a:r>
                        <a:rPr lang="en-IN" dirty="0" err="1">
                          <a:effectLst/>
                        </a:rPr>
                        <a:t>modeling</a:t>
                      </a:r>
                      <a:r>
                        <a:rPr lang="en-IN" dirty="0">
                          <a:effectLst/>
                        </a:rPr>
                        <a:t>, speech recognition</a:t>
                      </a:r>
                      <a:endParaRPr lang="en-IN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297768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72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FE16-ABBC-8C3E-E9F9-7881F299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RECURRENT NEURAL NETWORK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F56F9-431D-FA96-F3BD-1AEC06C2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Learn patterns in sequential data by maintaining a hidden state that carries information from previous time steps</a:t>
            </a:r>
          </a:p>
          <a:p>
            <a:r>
              <a:rPr lang="en-IN" b="1" dirty="0"/>
              <a:t>Basic architecture</a:t>
            </a:r>
            <a:endParaRPr lang="en-IN" dirty="0"/>
          </a:p>
          <a:p>
            <a:r>
              <a:rPr lang="en-IN" dirty="0"/>
              <a:t>Input → Hidden state → Output</a:t>
            </a:r>
          </a:p>
          <a:p>
            <a:r>
              <a:rPr lang="en-IN" dirty="0"/>
              <a:t>The hidden state is also passed to the next time step, allowing the network to use previous context.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6334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T 6.S191: Recurrent Neural Networks | Lee's Blog">
            <a:extLst>
              <a:ext uri="{FF2B5EF4-FFF2-40B4-BE49-F238E27FC236}">
                <a16:creationId xmlns:a16="http://schemas.microsoft.com/office/drawing/2014/main" id="{FA90CB6D-8064-32EF-BEB4-B149DB98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287" y="857250"/>
            <a:ext cx="88745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35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17C38-C3DF-DF3C-4938-C80958701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237" y="793102"/>
            <a:ext cx="9601200" cy="3581400"/>
          </a:xfrm>
        </p:spPr>
        <p:txBody>
          <a:bodyPr/>
          <a:lstStyle/>
          <a:p>
            <a:r>
              <a:rPr lang="en-IN" dirty="0"/>
              <a:t>Consider the input sequence: “I — love — AI.”</a:t>
            </a:r>
          </a:p>
          <a:p>
            <a:pPr lvl="0"/>
            <a:r>
              <a:rPr lang="en-IN" dirty="0"/>
              <a:t>At time(t=1), the network processes “I”.</a:t>
            </a:r>
          </a:p>
          <a:p>
            <a:pPr lvl="0"/>
            <a:r>
              <a:rPr lang="en-IN" dirty="0"/>
              <a:t>At time(t=2), it processes “love” using the previous hidden state.</a:t>
            </a:r>
          </a:p>
          <a:p>
            <a:pPr lvl="0"/>
            <a:r>
              <a:rPr lang="en-IN" dirty="0"/>
              <a:t>At time(t=3), it processes “AI” using information from earlier steps.</a:t>
            </a:r>
          </a:p>
          <a:p>
            <a:r>
              <a:rPr lang="en-IN" dirty="0"/>
              <a:t>The same </a:t>
            </a:r>
            <a:r>
              <a:rPr lang="en-IN" b="1" dirty="0"/>
              <a:t>recurrent computation and weights </a:t>
            </a:r>
            <a:r>
              <a:rPr lang="en-IN" dirty="0"/>
              <a:t>are reused at each time step.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461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55241-2C6B-C1F0-8FD0-E1635EAF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MATHEMATICAL EQUATION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41D79A-B228-AEB9-09D6-913C549B3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hidden state is calculated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The output is calculated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41D79A-B228-AEB9-09D6-913C549B3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1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0564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9F6EB-C498-E0BE-5FB8-0461232D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Numerical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18237E-E207-A6BC-B85D-489D76541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300" y="1428750"/>
            <a:ext cx="5629683" cy="5116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F7E852-0715-7E86-A31F-622B8F5502AA}"/>
              </a:ext>
            </a:extLst>
          </p:cNvPr>
          <p:cNvSpPr txBox="1"/>
          <p:nvPr/>
        </p:nvSpPr>
        <p:spPr>
          <a:xfrm>
            <a:off x="7256884" y="2254718"/>
            <a:ext cx="49351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Observe the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First hidden state:</a:t>
            </a:r>
            <a:r>
              <a:rPr lang="en-IN" b="1" dirty="0"/>
              <a:t>0.4621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Second hidden state:</a:t>
            </a:r>
            <a:r>
              <a:rPr lang="en-IN" b="1" dirty="0"/>
              <a:t>0.7011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second state depends on both the </a:t>
            </a:r>
            <a:r>
              <a:rPr lang="en-IN" b="1" dirty="0"/>
              <a:t>current input and the previous hidden state.</a:t>
            </a:r>
          </a:p>
        </p:txBody>
      </p:sp>
    </p:spTree>
    <p:extLst>
      <p:ext uri="{BB962C8B-B14F-4D97-AF65-F5344CB8AC3E}">
        <p14:creationId xmlns:p14="http://schemas.microsoft.com/office/powerpoint/2010/main" val="4252301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A45B3-A7DE-A91A-1338-E4790AAA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RNN LEARN?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FD1CC4-4C75-2680-75AD-7A87C5DAD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9298" y="1833465"/>
            <a:ext cx="6818012" cy="43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06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1EA3-FFF0-1793-F403-B91C2EDD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 Applications:</a:t>
            </a:r>
            <a:endParaRPr lang="en-IN" b="1" dirty="0"/>
          </a:p>
        </p:txBody>
      </p:sp>
      <p:pic>
        <p:nvPicPr>
          <p:cNvPr id="4" name="Picture 3" descr="Google's Mind-Reading Keyboard: Analyzing the AI Techniques Behind Text Prediction">
            <a:extLst>
              <a:ext uri="{FF2B5EF4-FFF2-40B4-BE49-F238E27FC236}">
                <a16:creationId xmlns:a16="http://schemas.microsoft.com/office/drawing/2014/main" id="{14D1D9DE-4C04-BA84-A058-79A9EA8F5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27" y="1364948"/>
            <a:ext cx="3824159" cy="3321353"/>
          </a:xfrm>
          <a:prstGeom prst="rect">
            <a:avLst/>
          </a:prstGeom>
        </p:spPr>
      </p:pic>
      <p:pic>
        <p:nvPicPr>
          <p:cNvPr id="5" name="Picture 4" descr="Los 10 mejores software de dictado y reconocimiento de voz en 2026">
            <a:extLst>
              <a:ext uri="{FF2B5EF4-FFF2-40B4-BE49-F238E27FC236}">
                <a16:creationId xmlns:a16="http://schemas.microsoft.com/office/drawing/2014/main" id="{3D049043-A179-F982-70CA-54BCCD820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4645"/>
            <a:ext cx="3824159" cy="3321353"/>
          </a:xfrm>
          <a:prstGeom prst="rect">
            <a:avLst/>
          </a:prstGeom>
        </p:spPr>
      </p:pic>
      <p:pic>
        <p:nvPicPr>
          <p:cNvPr id="6" name="Picture 5" descr="New Sensor Data Structuring for Deeper Feature Extraction in Human Activity Recognition | MDPI">
            <a:extLst>
              <a:ext uri="{FF2B5EF4-FFF2-40B4-BE49-F238E27FC236}">
                <a16:creationId xmlns:a16="http://schemas.microsoft.com/office/drawing/2014/main" id="{DA817C55-470E-BE11-1BBD-03EF9EFE9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28" y="3486105"/>
            <a:ext cx="6649228" cy="326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52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8018-9158-5A34-6624-076C8C38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069" y="685800"/>
            <a:ext cx="10820400" cy="1485900"/>
          </a:xfrm>
        </p:spPr>
        <p:txBody>
          <a:bodyPr/>
          <a:lstStyle/>
          <a:p>
            <a:r>
              <a:rPr lang="en-US" b="1" dirty="0"/>
              <a:t>TYPES OF INPUT-OUTPUT RNN TRANSITIONS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1745-F3B4-94C2-99A4-75A137466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One-to-One  </a:t>
            </a:r>
            <a:r>
              <a:rPr lang="en-IN" dirty="0"/>
              <a:t>One question, one answer.</a:t>
            </a:r>
            <a:endParaRPr lang="en-IN" b="1" dirty="0"/>
          </a:p>
          <a:p>
            <a:r>
              <a:rPr lang="en-IN" b="1" dirty="0"/>
              <a:t>One-to-Many  </a:t>
            </a:r>
            <a:r>
              <a:rPr lang="en-IN" dirty="0"/>
              <a:t>One photograph, a complete caption.</a:t>
            </a:r>
            <a:endParaRPr lang="en-IN" b="1" dirty="0"/>
          </a:p>
          <a:p>
            <a:r>
              <a:rPr lang="en-IN" b="1" dirty="0"/>
              <a:t>Many-to-One  </a:t>
            </a:r>
            <a:r>
              <a:rPr lang="en-IN" dirty="0"/>
              <a:t>Many words, one sentiment label.</a:t>
            </a:r>
            <a:endParaRPr lang="en-IN" b="1" dirty="0"/>
          </a:p>
          <a:p>
            <a:r>
              <a:rPr lang="en-IN" b="1" dirty="0"/>
              <a:t>Many-to-Many </a:t>
            </a:r>
            <a:r>
              <a:rPr lang="en-IN" dirty="0"/>
              <a:t>Every word receives a label</a:t>
            </a:r>
          </a:p>
          <a:p>
            <a:r>
              <a:rPr lang="en-IN" b="1" dirty="0"/>
              <a:t>Encoder–Decoder </a:t>
            </a:r>
            <a:r>
              <a:rPr lang="en-IN" dirty="0"/>
              <a:t>One sentence is transformed into another sentence.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400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F402-AB45-B265-E505-12085E22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BIDIRECTIONAL RNN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5B1DC-BF52-5050-21B9-A03A8ED63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883" y="1695450"/>
            <a:ext cx="9408554" cy="44767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24963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D629B-77C7-76F7-3B51-DF184A2C0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03" y="1200150"/>
            <a:ext cx="10887075" cy="4457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70038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EFE8E-FF2A-7A03-D5B0-494E068D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BF080-F0B5-6DF8-1C7D-0B0E31FE8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38300"/>
            <a:ext cx="10049069" cy="3581400"/>
          </a:xfrm>
        </p:spPr>
        <p:txBody>
          <a:bodyPr/>
          <a:lstStyle/>
          <a:p>
            <a:r>
              <a:rPr lang="en-IN" dirty="0"/>
              <a:t>“</a:t>
            </a:r>
            <a:r>
              <a:rPr lang="en-IN" b="1" dirty="0"/>
              <a:t>The bank was beside the river.”</a:t>
            </a:r>
          </a:p>
          <a:p>
            <a:r>
              <a:rPr lang="en-IN" dirty="0"/>
              <a:t>A sequence-labelling model processes every word and predicts a label for it. </a:t>
            </a:r>
          </a:p>
          <a:p>
            <a:r>
              <a:rPr lang="en-IN" dirty="0"/>
              <a:t>The word “bank” can use the context on both sides, especially </a:t>
            </a:r>
            <a:r>
              <a:rPr lang="en-IN" b="1" dirty="0"/>
              <a:t>“beside the river,” </a:t>
            </a:r>
            <a:r>
              <a:rPr lang="en-IN" dirty="0"/>
              <a:t>to infer the riverbank meaning.</a:t>
            </a:r>
          </a:p>
          <a:p>
            <a:r>
              <a:rPr lang="en-IN" dirty="0"/>
              <a:t>This is useful in named-entity recognition, part-of-speech tagging, and other language-understanding tasks.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D7D28-A8F1-22A8-A41A-E116DBD04795}"/>
              </a:ext>
            </a:extLst>
          </p:cNvPr>
          <p:cNvSpPr txBox="1"/>
          <p:nvPr/>
        </p:nvSpPr>
        <p:spPr>
          <a:xfrm>
            <a:off x="1453243" y="4214718"/>
            <a:ext cx="9846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“I went to the bank to deposit money.”</a:t>
            </a:r>
          </a:p>
          <a:p>
            <a:endParaRPr lang="en-IN" dirty="0"/>
          </a:p>
          <a:p>
            <a:r>
              <a:rPr lang="en-IN" dirty="0"/>
              <a:t>“How do you know that bank refers to a financial institution and not the side of a river?”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8CE68-C300-77CC-DF41-5615644B135A}"/>
              </a:ext>
            </a:extLst>
          </p:cNvPr>
          <p:cNvSpPr txBox="1"/>
          <p:nvPr/>
        </p:nvSpPr>
        <p:spPr>
          <a:xfrm>
            <a:off x="2043404" y="5922220"/>
            <a:ext cx="925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RNN is unsuitable for strictly causal predictions when future observations are unavailable.</a:t>
            </a:r>
          </a:p>
        </p:txBody>
      </p:sp>
    </p:spTree>
    <p:extLst>
      <p:ext uri="{BB962C8B-B14F-4D97-AF65-F5344CB8AC3E}">
        <p14:creationId xmlns:p14="http://schemas.microsoft.com/office/powerpoint/2010/main" val="4198967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229E-B0B7-7E17-9CC1-D102C19E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Encoder–Decoder Sequence-to-Sequence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56767-F47F-67EF-44B2-0F4131D21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Architecture:</a:t>
            </a:r>
          </a:p>
          <a:p>
            <a:pPr lvl="0"/>
            <a:r>
              <a:rPr lang="en-IN" b="1" dirty="0"/>
              <a:t>Encoder: </a:t>
            </a:r>
            <a:r>
              <a:rPr lang="en-IN" dirty="0"/>
              <a:t>Reads the input sequence one element at a time and produces hidden representations.</a:t>
            </a:r>
          </a:p>
          <a:p>
            <a:pPr lvl="0"/>
            <a:r>
              <a:rPr lang="en-IN" b="1" dirty="0"/>
              <a:t>Context representation: </a:t>
            </a:r>
            <a:r>
              <a:rPr lang="en-IN" dirty="0"/>
              <a:t>Summarizes information from the input for the decoder. In a basic model, this may be the encoder's final hidden state.</a:t>
            </a:r>
          </a:p>
          <a:p>
            <a:pPr lvl="0"/>
            <a:r>
              <a:rPr lang="en-IN" b="1" dirty="0"/>
              <a:t>Decoder: </a:t>
            </a:r>
            <a:r>
              <a:rPr lang="en-IN" dirty="0"/>
              <a:t>Uses the encoded information and previously generated tokens to produce the output sequence step by step.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233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09A6-E442-3E8D-B24B-146BE2ED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Equation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6D302-6DC5-5162-BC66-6642318BC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Encoder:</a:t>
            </a:r>
          </a:p>
          <a:p>
            <a:pPr marL="0" indent="0">
              <a:buNone/>
            </a:pPr>
            <a:r>
              <a:rPr lang="en-IN" dirty="0"/>
              <a:t>                           </a:t>
            </a:r>
            <a:r>
              <a:rPr lang="en-IN" dirty="0" err="1"/>
              <a:t>h</a:t>
            </a:r>
            <a:r>
              <a:rPr lang="en-IN" baseline="-25000" dirty="0" err="1"/>
              <a:t>t</a:t>
            </a:r>
            <a:r>
              <a:rPr lang="en-IN" dirty="0"/>
              <a:t>=f(h</a:t>
            </a:r>
            <a:r>
              <a:rPr lang="en-IN" baseline="-25000" dirty="0"/>
              <a:t>{t-1},</a:t>
            </a:r>
            <a:r>
              <a:rPr lang="en-IN" dirty="0" err="1"/>
              <a:t>x</a:t>
            </a:r>
            <a:r>
              <a:rPr lang="en-IN" baseline="-25000" dirty="0" err="1"/>
              <a:t>t</a:t>
            </a:r>
            <a:r>
              <a:rPr lang="en-IN" dirty="0"/>
              <a:t>)</a:t>
            </a:r>
          </a:p>
          <a:p>
            <a:r>
              <a:rPr lang="en-IN" dirty="0"/>
              <a:t>Decoder:</a:t>
            </a:r>
          </a:p>
          <a:p>
            <a:pPr marL="0" indent="0">
              <a:buNone/>
            </a:pPr>
            <a:r>
              <a:rPr lang="en-IN" dirty="0"/>
              <a:t>                           s</a:t>
            </a:r>
            <a:r>
              <a:rPr lang="en-IN" baseline="-25000" dirty="0"/>
              <a:t>t</a:t>
            </a:r>
            <a:r>
              <a:rPr lang="en-IN" dirty="0"/>
              <a:t>=f(s</a:t>
            </a:r>
            <a:r>
              <a:rPr lang="en-IN" baseline="-25000" dirty="0"/>
              <a:t>{t-1},</a:t>
            </a:r>
            <a:r>
              <a:rPr lang="en-IN" dirty="0"/>
              <a:t>y</a:t>
            </a:r>
            <a:r>
              <a:rPr lang="en-IN" baseline="-25000" dirty="0"/>
              <a:t>{t-1},</a:t>
            </a:r>
            <a:r>
              <a:rPr lang="en-IN" dirty="0"/>
              <a:t>c) </a:t>
            </a:r>
          </a:p>
          <a:p>
            <a:endParaRPr lang="en-IN" dirty="0"/>
          </a:p>
        </p:txBody>
      </p:sp>
      <p:pic>
        <p:nvPicPr>
          <p:cNvPr id="4" name="Picture 3" descr="7. Recurrent Neural Networks | Tobias  Stenzel">
            <a:extLst>
              <a:ext uri="{FF2B5EF4-FFF2-40B4-BE49-F238E27FC236}">
                <a16:creationId xmlns:a16="http://schemas.microsoft.com/office/drawing/2014/main" id="{96F51317-7379-ADB9-CA2D-EE0F79A57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705" y="1662403"/>
            <a:ext cx="6653539" cy="397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44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2A5B4-5812-BB43-1849-327BEF26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DEEP RECURRENT NETWORKS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6BB89-AD89-C273-1E99-B071F5BC0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91478"/>
            <a:ext cx="10300996" cy="3581400"/>
          </a:xfrm>
        </p:spPr>
        <p:txBody>
          <a:bodyPr/>
          <a:lstStyle/>
          <a:p>
            <a:r>
              <a:rPr lang="en-IN" dirty="0"/>
              <a:t>A deep recurrent network has multiple recurrent layers stacked on top of one another.</a:t>
            </a:r>
          </a:p>
          <a:p>
            <a:pPr lvl="0"/>
            <a:r>
              <a:rPr lang="en-IN" b="1" dirty="0"/>
              <a:t>First layer: </a:t>
            </a:r>
            <a:r>
              <a:rPr lang="en-IN" dirty="0"/>
              <a:t>Learns basic sequential patterns.</a:t>
            </a:r>
          </a:p>
          <a:p>
            <a:pPr lvl="0"/>
            <a:r>
              <a:rPr lang="en-IN" b="1" dirty="0"/>
              <a:t>Intermediate layers: </a:t>
            </a:r>
            <a:r>
              <a:rPr lang="en-IN" dirty="0"/>
              <a:t>Learn more complex representations.</a:t>
            </a:r>
          </a:p>
          <a:p>
            <a:pPr lvl="0"/>
            <a:r>
              <a:rPr lang="en-IN" b="1" dirty="0"/>
              <a:t>Final layer: </a:t>
            </a:r>
            <a:r>
              <a:rPr lang="en-IN" dirty="0"/>
              <a:t>Produces features for prediction or classification.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F565D-17C6-B4E9-3BC6-754FB221D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452" y="3582178"/>
            <a:ext cx="2476500" cy="838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7D431A-D892-85A1-9DC5-05AEF4D39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236" y="4001278"/>
            <a:ext cx="376237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23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95E4-1E9C-8FF6-6FCA-BCF9E86C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Recursive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3DAC-715F-D9A5-46D5-51995785C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8213"/>
            <a:ext cx="9601200" cy="3581400"/>
          </a:xfrm>
        </p:spPr>
        <p:txBody>
          <a:bodyPr/>
          <a:lstStyle/>
          <a:p>
            <a:r>
              <a:rPr lang="en-US" dirty="0"/>
              <a:t>R</a:t>
            </a:r>
            <a:r>
              <a:rPr lang="en-IN" dirty="0" err="1"/>
              <a:t>ecursive</a:t>
            </a:r>
            <a:r>
              <a:rPr lang="en-IN" dirty="0"/>
              <a:t> network can combine word or phrase representations according to a tree structure</a:t>
            </a:r>
          </a:p>
        </p:txBody>
      </p:sp>
      <p:pic>
        <p:nvPicPr>
          <p:cNvPr id="4" name="Picture 3" descr="The Stanford Sentiment Treebank (SST): Studying sentiment analysis using NLP | by Jerry Wei | TDS Archive | Medium">
            <a:extLst>
              <a:ext uri="{FF2B5EF4-FFF2-40B4-BE49-F238E27FC236}">
                <a16:creationId xmlns:a16="http://schemas.microsoft.com/office/drawing/2014/main" id="{EF706F1D-4351-F83A-6E4A-698EDB2E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4" r="8327"/>
          <a:stretch>
            <a:fillRect/>
          </a:stretch>
        </p:blipFill>
        <p:spPr>
          <a:xfrm>
            <a:off x="3116425" y="2244151"/>
            <a:ext cx="6848670" cy="421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23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B095A-3F93-E0F2-65EF-2A3CB15B2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68" y="548077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How it works</a:t>
            </a:r>
          </a:p>
          <a:p>
            <a:pPr lvl="0"/>
            <a:r>
              <a:rPr lang="en-IN" dirty="0"/>
              <a:t>Represent individual words as vectors.</a:t>
            </a:r>
          </a:p>
          <a:p>
            <a:pPr lvl="0"/>
            <a:r>
              <a:rPr lang="en-IN" dirty="0"/>
              <a:t>Combine the vectors of child nodes using a learned function.</a:t>
            </a:r>
          </a:p>
          <a:p>
            <a:pPr lvl="0"/>
            <a:r>
              <a:rPr lang="en-IN" dirty="0"/>
              <a:t>Produce a parent-node representation.</a:t>
            </a:r>
          </a:p>
          <a:p>
            <a:pPr lvl="0"/>
            <a:r>
              <a:rPr lang="en-IN" dirty="0"/>
              <a:t>Continue combining representations until reaching the root.</a:t>
            </a:r>
          </a:p>
          <a:p>
            <a:pPr lvl="0"/>
            <a:r>
              <a:rPr lang="en-IN" dirty="0"/>
              <a:t>Use the root representation for tasks such as sentiment classification.</a:t>
            </a:r>
          </a:p>
          <a:p>
            <a:pPr lvl="0"/>
            <a:r>
              <a:rPr lang="en-IN" dirty="0"/>
              <a:t>A simple binary composition function is: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D73DE-B0A9-495E-8F8D-B15C28EE7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839" y="3553214"/>
            <a:ext cx="29241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49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0F74C-6F41-D31E-0B16-86599F11B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Recurrent vs. Recursive Neural Networks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A13FCC-CACA-9FCA-FBA9-F840980D1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687" y="2947987"/>
            <a:ext cx="8201025" cy="2257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98525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A4DE-B232-702D-BD98-2B9084367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LSTM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D763-A6EA-57E3-926F-2C02FFFE6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9601200" cy="3581400"/>
          </a:xfrm>
        </p:spPr>
        <p:txBody>
          <a:bodyPr/>
          <a:lstStyle/>
          <a:p>
            <a:r>
              <a:rPr lang="en-IN" dirty="0"/>
              <a:t>LSTM introduces a memory cell and gates to regulate information flow</a:t>
            </a:r>
          </a:p>
          <a:p>
            <a:r>
              <a:rPr lang="en-IN" dirty="0"/>
              <a:t>Gates learn their decisions during training; they are not manually assigned rules.</a:t>
            </a:r>
          </a:p>
        </p:txBody>
      </p:sp>
      <p:pic>
        <p:nvPicPr>
          <p:cNvPr id="4" name="Picture 3" descr="&quot;LSTMs: From Beginner to Expert&quot; — Part 2 | by शारंग | Medium">
            <a:extLst>
              <a:ext uri="{FF2B5EF4-FFF2-40B4-BE49-F238E27FC236}">
                <a16:creationId xmlns:a16="http://schemas.microsoft.com/office/drawing/2014/main" id="{D581BE9E-9141-3965-29F3-2931C801D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04" y="2836643"/>
            <a:ext cx="6528991" cy="372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34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7CE7-0C7E-07F8-F45E-4BEA53B54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Four key components of an LSTM cell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A6BBCF-7CDB-0481-74B5-C89DAC7C4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615" y="1508548"/>
            <a:ext cx="7591425" cy="135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7B070-FF6D-F74D-D542-17773FCE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15" y="2932049"/>
            <a:ext cx="5915025" cy="205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F2728A-5765-C46E-1D7A-398B91102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15" y="5060400"/>
            <a:ext cx="5838825" cy="1552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5AF388-365A-4511-22DB-529386602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379" y="3659062"/>
            <a:ext cx="5268103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15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2B9A-AEB0-5D5F-EF2C-FE42EEFB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Other Gated RNNs : Gated Recurrent Unit (GRU)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3FF7B-899C-AD83-F009-1D127170E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Architecture designed to help capture longer-term dependencies</a:t>
            </a:r>
          </a:p>
          <a:p>
            <a:r>
              <a:rPr lang="en-IN" dirty="0"/>
              <a:t>A GRU uses two main gates:</a:t>
            </a:r>
          </a:p>
          <a:p>
            <a:pPr lvl="0"/>
            <a:r>
              <a:rPr lang="en-IN" b="1" dirty="0"/>
              <a:t>Update gate: </a:t>
            </a:r>
            <a:r>
              <a:rPr lang="en-IN" dirty="0"/>
              <a:t>Controls how much of the previous state is retained versus replaced with new information.</a:t>
            </a:r>
          </a:p>
          <a:p>
            <a:pPr lvl="0"/>
            <a:r>
              <a:rPr lang="en-IN" b="1" dirty="0"/>
              <a:t>Reset gate: </a:t>
            </a:r>
            <a:r>
              <a:rPr lang="en-IN" dirty="0"/>
              <a:t>Controls how much of the previous state contributes to the candidate state.</a:t>
            </a:r>
          </a:p>
          <a:p>
            <a:r>
              <a:rPr lang="en-IN" dirty="0"/>
              <a:t>Unlike a conventional LSTM, a standard GRU has no separate cell state and combines the memory and hidden-state roles.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56294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8E5F-3595-566A-3C8A-50CD5877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F89C3-7855-13C0-062D-940D91B34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Encoder–decoder </a:t>
            </a:r>
            <a:r>
              <a:rPr lang="en-IN" dirty="0"/>
              <a:t>maps one sequence to another; </a:t>
            </a:r>
          </a:p>
          <a:p>
            <a:r>
              <a:rPr lang="en-IN" b="1" dirty="0"/>
              <a:t>Deep RNNs </a:t>
            </a:r>
            <a:r>
              <a:rPr lang="en-IN" dirty="0"/>
              <a:t>stack recurrent layers; </a:t>
            </a:r>
          </a:p>
          <a:p>
            <a:r>
              <a:rPr lang="en-IN" b="1" dirty="0"/>
              <a:t>Recursive networks </a:t>
            </a:r>
            <a:r>
              <a:rPr lang="en-IN" dirty="0"/>
              <a:t>combine tree-structured representations; </a:t>
            </a:r>
          </a:p>
          <a:p>
            <a:r>
              <a:rPr lang="en-IN" b="1" dirty="0"/>
              <a:t>LSTM and GRU </a:t>
            </a:r>
            <a:r>
              <a:rPr lang="en-IN" dirty="0"/>
              <a:t>use gates to regulate information and improve learning of long-term dependencies.</a:t>
            </a:r>
          </a:p>
        </p:txBody>
      </p:sp>
    </p:spTree>
    <p:extLst>
      <p:ext uri="{BB962C8B-B14F-4D97-AF65-F5344CB8AC3E}">
        <p14:creationId xmlns:p14="http://schemas.microsoft.com/office/powerpoint/2010/main" val="220615275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229</TotalTime>
  <Words>1195</Words>
  <Application>Microsoft Office PowerPoint</Application>
  <PresentationFormat>Widescreen</PresentationFormat>
  <Paragraphs>186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Cambria Math</vt:lpstr>
      <vt:lpstr>Franklin Gothic Book</vt:lpstr>
      <vt:lpstr>Crop</vt:lpstr>
      <vt:lpstr>MODULE 5</vt:lpstr>
      <vt:lpstr>Introduction to Sequence Modeling and Unfolding Computational Graphs</vt:lpstr>
      <vt:lpstr>Learning Outcomes</vt:lpstr>
      <vt:lpstr>Sequence Data</vt:lpstr>
      <vt:lpstr>Limitation of Feedforward Networks</vt:lpstr>
      <vt:lpstr>Need for Sequence Models</vt:lpstr>
      <vt:lpstr>Computational Graph</vt:lpstr>
      <vt:lpstr>Dynamical System</vt:lpstr>
      <vt:lpstr>Adding Input</vt:lpstr>
      <vt:lpstr>Recurrent Computational Graph</vt:lpstr>
      <vt:lpstr>What Is Unfolding?</vt:lpstr>
      <vt:lpstr>Unfolded Graph Example</vt:lpstr>
      <vt:lpstr>Key Property — Parameter Sharing</vt:lpstr>
      <vt:lpstr>Advantages of Unfolding</vt:lpstr>
      <vt:lpstr>Recurrent vs Feedforward</vt:lpstr>
      <vt:lpstr>RECURRENT NEURAL NETWORK</vt:lpstr>
      <vt:lpstr>PowerPoint Presentation</vt:lpstr>
      <vt:lpstr>PowerPoint Presentation</vt:lpstr>
      <vt:lpstr>MATHEMATICAL EQUATION</vt:lpstr>
      <vt:lpstr>Simple Numerical</vt:lpstr>
      <vt:lpstr>How does RNN LEARN?</vt:lpstr>
      <vt:lpstr>Real Applications:</vt:lpstr>
      <vt:lpstr>TYPES OF INPUT-OUTPUT RNN TRANSITIONS</vt:lpstr>
      <vt:lpstr>BIDIRECTIONAL RNN</vt:lpstr>
      <vt:lpstr>PowerPoint Presentation</vt:lpstr>
      <vt:lpstr>EXAMPLE:</vt:lpstr>
      <vt:lpstr>Encoder–Decoder Sequence-to-Sequence Architectures</vt:lpstr>
      <vt:lpstr>Equation</vt:lpstr>
      <vt:lpstr>DEEP RECURRENT NETWORKS</vt:lpstr>
      <vt:lpstr>Recursive Neural Networks</vt:lpstr>
      <vt:lpstr>PowerPoint Presentation</vt:lpstr>
      <vt:lpstr>Recurrent vs. Recursive Neural Networks</vt:lpstr>
      <vt:lpstr>LSTM </vt:lpstr>
      <vt:lpstr>Four key components of an LSTM cell</vt:lpstr>
      <vt:lpstr>Other Gated RNNs : Gated Recurrent Unit (GRU)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Ranjani Pradeep</dc:creator>
  <cp:lastModifiedBy>Ranjani Pradeep</cp:lastModifiedBy>
  <cp:revision>76</cp:revision>
  <dcterms:created xsi:type="dcterms:W3CDTF">2026-10-11T07:06:54Z</dcterms:created>
  <dcterms:modified xsi:type="dcterms:W3CDTF">2026-10-13T15:55:29Z</dcterms:modified>
</cp:coreProperties>
</file>