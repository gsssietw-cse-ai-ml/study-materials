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1"/>
  </p:notesMasterIdLst>
  <p:sldIdLst>
    <p:sldId id="256" r:id="rId2"/>
    <p:sldId id="257" r:id="rId3"/>
    <p:sldId id="284" r:id="rId4"/>
    <p:sldId id="258" r:id="rId5"/>
    <p:sldId id="259" r:id="rId6"/>
    <p:sldId id="260" r:id="rId7"/>
    <p:sldId id="261" r:id="rId8"/>
    <p:sldId id="280" r:id="rId9"/>
    <p:sldId id="262" r:id="rId10"/>
    <p:sldId id="281" r:id="rId11"/>
    <p:sldId id="264" r:id="rId12"/>
    <p:sldId id="282" r:id="rId13"/>
    <p:sldId id="285" r:id="rId14"/>
    <p:sldId id="286" r:id="rId15"/>
    <p:sldId id="265" r:id="rId16"/>
    <p:sldId id="283" r:id="rId17"/>
    <p:sldId id="266" r:id="rId18"/>
    <p:sldId id="292" r:id="rId19"/>
    <p:sldId id="267" r:id="rId20"/>
    <p:sldId id="268" r:id="rId21"/>
    <p:sldId id="269" r:id="rId22"/>
    <p:sldId id="270" r:id="rId23"/>
    <p:sldId id="271" r:id="rId24"/>
    <p:sldId id="272" r:id="rId25"/>
    <p:sldId id="287" r:id="rId26"/>
    <p:sldId id="273" r:id="rId27"/>
    <p:sldId id="288" r:id="rId28"/>
    <p:sldId id="274" r:id="rId29"/>
    <p:sldId id="295" r:id="rId30"/>
    <p:sldId id="289" r:id="rId31"/>
    <p:sldId id="293" r:id="rId32"/>
    <p:sldId id="294" r:id="rId33"/>
    <p:sldId id="296" r:id="rId34"/>
    <p:sldId id="297" r:id="rId35"/>
    <p:sldId id="298" r:id="rId36"/>
    <p:sldId id="302" r:id="rId37"/>
    <p:sldId id="299" r:id="rId38"/>
    <p:sldId id="301" r:id="rId39"/>
    <p:sldId id="300" r:id="rId40"/>
    <p:sldId id="303" r:id="rId41"/>
    <p:sldId id="275" r:id="rId42"/>
    <p:sldId id="276" r:id="rId43"/>
    <p:sldId id="290" r:id="rId44"/>
    <p:sldId id="291" r:id="rId45"/>
    <p:sldId id="277" r:id="rId46"/>
    <p:sldId id="305" r:id="rId47"/>
    <p:sldId id="278" r:id="rId48"/>
    <p:sldId id="304" r:id="rId49"/>
    <p:sldId id="279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82" d="100"/>
          <a:sy n="82" d="100"/>
        </p:scale>
        <p:origin x="8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3C2645-CB8A-4607-9FE4-D2F129CC58D2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1E63E1-95EE-4407-BEC9-CD609E113C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2374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1E63E1-95EE-4407-BEC9-CD609E113CB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0690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1E63E1-95EE-4407-BEC9-CD609E113CB4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712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1E63E1-95EE-4407-BEC9-CD609E113CB4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8425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1E63E1-95EE-4407-BEC9-CD609E113CB4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3970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4A06-6093-45E3-B7A5-48748793667B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E9AA-0C12-4199-854D-745E7603B0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330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4A06-6093-45E3-B7A5-48748793667B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E9AA-0C12-4199-854D-745E7603B0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591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4A06-6093-45E3-B7A5-48748793667B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E9AA-0C12-4199-854D-745E7603B0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246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4A06-6093-45E3-B7A5-48748793667B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E9AA-0C12-4199-854D-745E7603B0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063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4A06-6093-45E3-B7A5-48748793667B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E9AA-0C12-4199-854D-745E7603B0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4541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4A06-6093-45E3-B7A5-48748793667B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E9AA-0C12-4199-854D-745E7603B0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844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4A06-6093-45E3-B7A5-48748793667B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E9AA-0C12-4199-854D-745E7603B0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948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4A06-6093-45E3-B7A5-48748793667B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E9AA-0C12-4199-854D-745E7603B0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994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4A06-6093-45E3-B7A5-48748793667B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E9AA-0C12-4199-854D-745E7603B0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1394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4A06-6093-45E3-B7A5-48748793667B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E9AA-0C12-4199-854D-745E7603B0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9928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4A06-6093-45E3-B7A5-48748793667B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E9AA-0C12-4199-854D-745E7603B0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1102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4A06-6093-45E3-B7A5-48748793667B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E9AA-0C12-4199-854D-745E7603B0FC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43331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4A06-6093-45E3-B7A5-48748793667B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E9AA-0C12-4199-854D-745E7603B0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3237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4A06-6093-45E3-B7A5-48748793667B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E9AA-0C12-4199-854D-745E7603B0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8942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4A06-6093-45E3-B7A5-48748793667B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E9AA-0C12-4199-854D-745E7603B0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639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4A06-6093-45E3-B7A5-48748793667B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E9AA-0C12-4199-854D-745E7603B0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961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F4A06-6093-45E3-B7A5-48748793667B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DE9AA-0C12-4199-854D-745E7603B0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9922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2F4A06-6093-45E3-B7A5-48748793667B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DE9AA-0C12-4199-854D-745E7603B0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419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30080-FF44-AD14-C788-7C21007614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3000" y="348861"/>
            <a:ext cx="5965637" cy="1815841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DEEP LEARNING MODULE:1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01A2F-2B25-5808-B1C1-946098B9CF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535" y="3037537"/>
            <a:ext cx="6024465" cy="1655762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INTRODUCTION TO NEURAL NETWORKS AND PERCEPTRON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854CC5-ACDD-9C75-A813-B1060D2AE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8637" y="433258"/>
            <a:ext cx="5455332" cy="525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165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B5CB0-DD69-1618-173A-70E489052C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016" y="207963"/>
            <a:ext cx="11831482" cy="967694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LEARNING OBJECTIVES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4EE803-0A16-C522-E9BC-6BC4D96A32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016" y="1297375"/>
            <a:ext cx="11831482" cy="5352661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Understand neural networks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 Explain the biological inspiration behind neural networks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Describe neuron models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Understand neural network architectures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Explain the perceptron model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Understand the Perceptron Convergence Theorem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Relate perceptron's to Bayes classifiers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0014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6B4C7-4F5D-9054-73B1-18D7E236E6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983" y="161310"/>
            <a:ext cx="11710183" cy="837066"/>
          </a:xfrm>
        </p:spPr>
        <p:txBody>
          <a:bodyPr/>
          <a:lstStyle/>
          <a:p>
            <a:r>
              <a:rPr lang="en-IN" dirty="0"/>
              <a:t>AI </a:t>
            </a:r>
            <a:r>
              <a:rPr lang="en-IN" sz="1600" dirty="0"/>
              <a:t>VS</a:t>
            </a:r>
            <a:r>
              <a:rPr lang="en-IN" dirty="0"/>
              <a:t> ML </a:t>
            </a:r>
            <a:r>
              <a:rPr lang="en-IN" sz="1600" dirty="0"/>
              <a:t>VS</a:t>
            </a:r>
            <a:r>
              <a:rPr lang="en-IN" dirty="0"/>
              <a:t> DL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77447AA-8698-0DDD-1953-81D55234EA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009249"/>
              </p:ext>
            </p:extLst>
          </p:nvPr>
        </p:nvGraphicFramePr>
        <p:xfrm>
          <a:off x="2032000" y="998376"/>
          <a:ext cx="7839788" cy="35712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87755184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936300331"/>
                    </a:ext>
                  </a:extLst>
                </a:gridCol>
                <a:gridCol w="2421122">
                  <a:extLst>
                    <a:ext uri="{9D8B030D-6E8A-4147-A177-3AD203B41FA5}">
                      <a16:colId xmlns:a16="http://schemas.microsoft.com/office/drawing/2014/main" val="28088406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DL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049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/>
                        <a:t>Broad field of creating intelligent systems.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Subset of AI that enables systems to learn from data.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Subset of ML that uses deep neural networks to learn complex patterns.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5695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/>
                        <a:t>Mimics human intelligence and decision-making.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Learns from historical data using algorithms.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Learns automatically using multiple layers of artificial neurons.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3670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/>
                        <a:t>May use rules, logic, search algorithms, and learning methods.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Uses algorithms such as Linear Regression, Decision Trees, SVM, etc.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Uses Artificial Neural Networks (ANN), CNNs, RNNs, Transformers, etc.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302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/>
                        <a:t>Can work with or without learning from data.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Requires structured data for training.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Performs well with large volumes of structured and unstructured data.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5966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/>
                        <a:t>Example: Expert systems, chess-playing programs, virtual assistants.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Example: Email spam detection, house price prediction, customer churn prediction.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Example: ChatGPT, facial recognition, self-driving cars, medical image analysis.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902551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6527E1B-3A32-7926-E021-957760E2546E}"/>
              </a:ext>
            </a:extLst>
          </p:cNvPr>
          <p:cNvSpPr txBox="1"/>
          <p:nvPr/>
        </p:nvSpPr>
        <p:spPr>
          <a:xfrm>
            <a:off x="594826" y="4809845"/>
            <a:ext cx="609755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Artificial Intelligence (AI)</a:t>
            </a:r>
          </a:p>
          <a:p>
            <a:r>
              <a:rPr lang="en-IN" dirty="0"/>
              <a:t>│</a:t>
            </a:r>
          </a:p>
          <a:p>
            <a:r>
              <a:rPr lang="en-IN" dirty="0"/>
              <a:t>├── Machine Learning (ML)</a:t>
            </a:r>
          </a:p>
          <a:p>
            <a:r>
              <a:rPr lang="en-IN" dirty="0"/>
              <a:t>│     │</a:t>
            </a:r>
          </a:p>
          <a:p>
            <a:r>
              <a:rPr lang="en-IN" dirty="0"/>
              <a:t>│     └── Deep Learning (DL)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C69C88-5F10-CBBF-626A-5ED4D37B78B1}"/>
              </a:ext>
            </a:extLst>
          </p:cNvPr>
          <p:cNvSpPr txBox="1"/>
          <p:nvPr/>
        </p:nvSpPr>
        <p:spPr>
          <a:xfrm>
            <a:off x="5198707" y="4665365"/>
            <a:ext cx="609755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AI</a:t>
            </a:r>
            <a:r>
              <a:rPr lang="en-IN" dirty="0"/>
              <a:t> is the </a:t>
            </a:r>
            <a:r>
              <a:rPr lang="en-IN" b="1" dirty="0"/>
              <a:t>largest circle</a:t>
            </a:r>
            <a:r>
              <a:rPr lang="en-IN" dirty="0"/>
              <a:t> – the goal is to make machines intelligent. </a:t>
            </a:r>
          </a:p>
          <a:p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ML</a:t>
            </a:r>
            <a:r>
              <a:rPr lang="en-IN" dirty="0"/>
              <a:t> is a </a:t>
            </a:r>
            <a:r>
              <a:rPr lang="en-IN" b="1" dirty="0"/>
              <a:t>subset of AI</a:t>
            </a:r>
            <a:r>
              <a:rPr lang="en-IN" dirty="0"/>
              <a:t> – machines learn from data. </a:t>
            </a:r>
          </a:p>
          <a:p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DL</a:t>
            </a:r>
            <a:r>
              <a:rPr lang="en-IN" dirty="0"/>
              <a:t> is a </a:t>
            </a:r>
            <a:r>
              <a:rPr lang="en-IN" b="1" dirty="0"/>
              <a:t>subset of ML</a:t>
            </a:r>
            <a:r>
              <a:rPr lang="en-IN" dirty="0"/>
              <a:t> – machines learn using deep neural networks. </a:t>
            </a:r>
          </a:p>
        </p:txBody>
      </p:sp>
    </p:spTree>
    <p:extLst>
      <p:ext uri="{BB962C8B-B14F-4D97-AF65-F5344CB8AC3E}">
        <p14:creationId xmlns:p14="http://schemas.microsoft.com/office/powerpoint/2010/main" val="1103274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2502F-9C45-93C9-978A-3BF1EDD70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B6D11-3C9B-8D24-1753-6651DFF6E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016" y="207963"/>
            <a:ext cx="11831482" cy="967694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What is DL?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12E740-39DF-78E8-47B4-0C18594B1F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016" y="1297375"/>
            <a:ext cx="11831482" cy="5352661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Deep Learning is a subset of Machine Learning.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Uses Artificial Neural Networks with multiple hidden layers.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Learns complex patterns automatically from data.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Inspired by the structure and functioning of the human brain. </a:t>
            </a:r>
          </a:p>
          <a:p>
            <a:pPr algn="l"/>
            <a:endParaRPr lang="en-IN" b="1" dirty="0"/>
          </a:p>
          <a:p>
            <a:pPr algn="l"/>
            <a:r>
              <a:rPr lang="en-IN" b="1" dirty="0"/>
              <a:t>Applications:</a:t>
            </a:r>
            <a:endParaRPr lang="en-IN" dirty="0"/>
          </a:p>
          <a:p>
            <a:pPr algn="l"/>
            <a:r>
              <a:rPr lang="en-IN" dirty="0"/>
              <a:t>                            Image Recognition </a:t>
            </a:r>
          </a:p>
          <a:p>
            <a:pPr algn="l"/>
            <a:r>
              <a:rPr lang="en-IN" dirty="0"/>
              <a:t>                            Speech Recognition </a:t>
            </a:r>
          </a:p>
          <a:p>
            <a:pPr algn="l"/>
            <a:r>
              <a:rPr lang="en-IN" dirty="0"/>
              <a:t>                            Chatbots </a:t>
            </a:r>
          </a:p>
          <a:p>
            <a:pPr algn="l"/>
            <a:r>
              <a:rPr lang="en-IN" dirty="0"/>
              <a:t>                            Self-driving Cars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3621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4145C-616E-3988-F1C9-A19C4CF8D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18C46-54A9-B8E5-83A5-68666AC6B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016" y="207963"/>
            <a:ext cx="11831482" cy="967694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What is Neural Network?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7FABA-6A0A-5EA7-EB6A-6E10CAD376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016" y="1175657"/>
            <a:ext cx="11831482" cy="5352661"/>
          </a:xfrm>
        </p:spPr>
        <p:txBody>
          <a:bodyPr>
            <a:normAutofit fontScale="92500"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A Neural Network is a computational model inspired by the human brain.</a:t>
            </a:r>
          </a:p>
          <a:p>
            <a:pPr algn="l"/>
            <a:endParaRPr lang="en-IN" b="1" dirty="0"/>
          </a:p>
          <a:p>
            <a:pPr algn="l"/>
            <a:r>
              <a:rPr lang="en-IN" b="1" dirty="0"/>
              <a:t>Definition:</a:t>
            </a:r>
            <a:br>
              <a:rPr lang="en-IN" dirty="0"/>
            </a:br>
            <a:r>
              <a:rPr lang="en-IN" dirty="0"/>
              <a:t>A neural network consists of interconnected processing units called neurons that work together to solve problems.</a:t>
            </a:r>
          </a:p>
          <a:p>
            <a:pPr algn="l"/>
            <a:endParaRPr lang="en-IN" b="1" dirty="0"/>
          </a:p>
          <a:p>
            <a:pPr algn="l"/>
            <a:r>
              <a:rPr lang="en-IN" b="1" dirty="0"/>
              <a:t>Characteristics:</a:t>
            </a:r>
            <a:endParaRPr lang="en-IN" dirty="0"/>
          </a:p>
          <a:p>
            <a:pPr algn="l"/>
            <a:r>
              <a:rPr lang="en-IN" dirty="0"/>
              <a:t>                                 Learning capability </a:t>
            </a:r>
          </a:p>
          <a:p>
            <a:pPr algn="l"/>
            <a:r>
              <a:rPr lang="en-IN" dirty="0"/>
              <a:t>                                 Pattern recognition </a:t>
            </a:r>
          </a:p>
          <a:p>
            <a:pPr algn="l"/>
            <a:r>
              <a:rPr lang="en-IN" dirty="0"/>
              <a:t>                                 Generalization </a:t>
            </a:r>
          </a:p>
          <a:p>
            <a:pPr algn="l"/>
            <a:r>
              <a:rPr lang="en-IN" dirty="0"/>
              <a:t>                                 Adaptability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3901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C10C8-73DF-5BB8-A17C-DB46B453C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84D87-8C38-4C8E-B49D-9E9FFC47EC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016" y="207963"/>
            <a:ext cx="11831482" cy="967694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HUMAN BRAIN 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</a:rPr>
              <a:t>as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 INSPIRATION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536D14-3771-7F45-1F73-500EB6E3A6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016" y="1175657"/>
            <a:ext cx="11831482" cy="5352661"/>
          </a:xfrm>
        </p:spPr>
        <p:txBody>
          <a:bodyPr>
            <a:normAutofit/>
          </a:bodyPr>
          <a:lstStyle/>
          <a:p>
            <a:pPr algn="l"/>
            <a:r>
              <a:rPr lang="en-IN" b="1" dirty="0"/>
              <a:t>Human Brain Facts: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Approximately 86 billion neurons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Neurons communicate through electrical signals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Learning occurs by strengthening connections </a:t>
            </a:r>
          </a:p>
          <a:p>
            <a:pPr algn="l"/>
            <a:r>
              <a:rPr lang="en-IN" b="1" dirty="0"/>
              <a:t>Components: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Dendrites → Receive signals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Cell Body → Processes information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Axon → Sends signals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Synapse → Connection between neurons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8306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F4A91-F455-8ACF-1697-612C00288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CA16F-C8EF-6DB8-625F-824570FA66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016" y="207963"/>
            <a:ext cx="11831482" cy="967694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BIOLOGICAL NEURON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9E5DF7-C5C9-E1DB-4014-F2BDA9D6F0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016" y="1418253"/>
            <a:ext cx="11831482" cy="5352661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Dendrites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Cell Body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Axon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Synapse </a:t>
            </a:r>
          </a:p>
          <a:p>
            <a:pPr algn="l"/>
            <a:r>
              <a:rPr lang="en-IN" dirty="0"/>
              <a:t>Signal flow from dendrites to axon.</a:t>
            </a:r>
          </a:p>
          <a:p>
            <a:pPr algn="l"/>
            <a:r>
              <a:rPr lang="en-IN" dirty="0"/>
              <a:t>Electrochemical conduction happens in brain : K</a:t>
            </a:r>
            <a:r>
              <a:rPr lang="en-IN" baseline="30000" dirty="0"/>
              <a:t>+</a:t>
            </a:r>
            <a:r>
              <a:rPr lang="en-IN" dirty="0"/>
              <a:t> , Na</a:t>
            </a:r>
            <a:r>
              <a:rPr lang="en-IN" baseline="30000" dirty="0"/>
              <a:t>+</a:t>
            </a:r>
            <a:r>
              <a:rPr lang="en-IN" dirty="0"/>
              <a:t>  jumps from one neuron to another to pass signals, impulsive signals       </a:t>
            </a:r>
          </a:p>
          <a:p>
            <a:pPr algn="l"/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F75F5E2-72E6-B371-8AD9-D60D0F48C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375" y="1259632"/>
            <a:ext cx="5095875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536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5417D-08A8-DFC8-CFCD-FA1DEB043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024" y="143070"/>
            <a:ext cx="10353761" cy="762000"/>
          </a:xfrm>
        </p:spPr>
        <p:txBody>
          <a:bodyPr/>
          <a:lstStyle/>
          <a:p>
            <a:pPr algn="l"/>
            <a:r>
              <a:rPr lang="en-US" dirty="0"/>
              <a:t>BENEFITS OF </a:t>
            </a:r>
            <a:r>
              <a:rPr lang="en-US" dirty="0" err="1"/>
              <a:t>nn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644FD-DACE-A8D2-1512-88D45AF9B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661" y="1010496"/>
            <a:ext cx="10353762" cy="4122978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Nonlinearity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Input-output Mapping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Adaptivity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Evidential Response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Contextual Information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Fault Tolerance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VLSI Implementability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Uniformity of Analysis &amp; Design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Neurobiological Analogy</a:t>
            </a:r>
          </a:p>
          <a:p>
            <a:pPr marL="457200" indent="-45720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4616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56E10-6964-DE7D-1CA0-E61F3B3E8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25CDF-6CE2-8C3D-D0D2-676546750B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016" y="207963"/>
            <a:ext cx="11831482" cy="967694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ARTIFICIAL NEURON MODEL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C37BFF0B-684A-37C2-A980-5199CA602CE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77016" y="1418253"/>
                <a:ext cx="11831482" cy="5352661"/>
              </a:xfrm>
            </p:spPr>
            <p:txBody>
              <a:bodyPr>
                <a:normAutofit fontScale="85000" lnSpcReduction="20000"/>
              </a:bodyPr>
              <a:lstStyle/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IN" dirty="0"/>
                  <a:t>Artificial neuron is inspired by biological neuron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IN" dirty="0"/>
                  <a:t>3 basic elements of neuron:  Set of Synapses(w) , An adder(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grow m:val="on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dirty="0"/>
                  <a:t>) , An Activation function(</a:t>
                </a:r>
                <a:r>
                  <a:rPr lang="el-GR" dirty="0">
                    <a:latin typeface="Yu Gothic Medium" panose="020B0500000000000000" pitchFamily="34" charset="-128"/>
                    <a:ea typeface="Yu Gothic Medium" panose="020B0500000000000000" pitchFamily="34" charset="-128"/>
                  </a:rPr>
                  <a:t>φ</a:t>
                </a:r>
                <a:r>
                  <a:rPr lang="en-IN" dirty="0"/>
                  <a:t>)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IN" dirty="0"/>
                  <a:t>Inputs → (Synapses)Weights → (adder)Summation → Activation Function (</a:t>
                </a:r>
                <a:r>
                  <a:rPr lang="el-GR" dirty="0">
                    <a:latin typeface="Yu Gothic Medium" panose="020B0500000000000000" pitchFamily="34" charset="-128"/>
                    <a:ea typeface="Yu Gothic Medium" panose="020B0500000000000000" pitchFamily="34" charset="-128"/>
                  </a:rPr>
                  <a:t>φ</a:t>
                </a:r>
                <a:r>
                  <a:rPr lang="en-IN" dirty="0"/>
                  <a:t>)→ Output</a:t>
                </a:r>
              </a:p>
              <a:p>
                <a:pPr algn="l"/>
                <a:r>
                  <a:rPr lang="en-IN" dirty="0"/>
                  <a:t>           Mathematical Model: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grow m:val="on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pPr algn="l"/>
                <a:r>
                  <a:rPr lang="en-IN" dirty="0"/>
                  <a:t>                                                          Where:</a:t>
                </a:r>
              </a:p>
              <a:p>
                <a:r>
                  <a:rPr lang="en-IN" dirty="0"/>
                  <a:t>  x = inputs </a:t>
                </a:r>
              </a:p>
              <a:p>
                <a:r>
                  <a:rPr lang="en-IN" dirty="0"/>
                  <a:t>     w = weights</a:t>
                </a:r>
              </a:p>
              <a:p>
                <a:r>
                  <a:rPr lang="en-IN" dirty="0"/>
                  <a:t>b = bias </a:t>
                </a:r>
              </a:p>
              <a:p>
                <a:r>
                  <a:rPr lang="en-IN" dirty="0"/>
                  <a:t>                       f = activation function </a:t>
                </a:r>
              </a:p>
              <a:p>
                <a:r>
                  <a:rPr lang="en-IN" dirty="0"/>
                  <a:t>   y = output</a:t>
                </a:r>
              </a:p>
              <a:p>
                <a:pPr algn="l"/>
                <a:endParaRPr lang="en-IN" dirty="0">
                  <a:solidFill>
                    <a:schemeClr val="tx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C37BFF0B-684A-37C2-A980-5199CA602C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77016" y="1418253"/>
                <a:ext cx="11831482" cy="5352661"/>
              </a:xfrm>
              <a:blipFill>
                <a:blip r:embed="rId2"/>
                <a:stretch>
                  <a:fillRect l="-567" t="-13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0005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rtificial Neural Network (ANN) from Scratch | by Samina Amin ...">
            <a:extLst>
              <a:ext uri="{FF2B5EF4-FFF2-40B4-BE49-F238E27FC236}">
                <a16:creationId xmlns:a16="http://schemas.microsoft.com/office/drawing/2014/main" id="{23F49FE9-3D46-6FCA-898F-6B2EDB92B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872" y="1486143"/>
            <a:ext cx="5879365" cy="388571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170903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F085C-A925-1984-06DB-102B95701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BE40B-BBC7-ADBD-5759-F05E83C654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016" y="207963"/>
            <a:ext cx="11831482" cy="967694"/>
          </a:xfrm>
        </p:spPr>
        <p:txBody>
          <a:bodyPr>
            <a:normAutofit/>
          </a:bodyPr>
          <a:lstStyle/>
          <a:p>
            <a:pPr algn="l"/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types of activation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042973-6979-5A8F-4C37-F4FBCB843C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016" y="1418253"/>
            <a:ext cx="11831482" cy="5352661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Threshold Function:         </a:t>
            </a:r>
          </a:p>
          <a:p>
            <a:pPr algn="l"/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Yu Gothic Medium" panose="020B0500000000000000" pitchFamily="34" charset="-128"/>
                <a:ea typeface="Yu Gothic Medium" panose="020B0500000000000000" pitchFamily="34" charset="-128"/>
              </a:rPr>
              <a:t>   </a:t>
            </a:r>
            <a:r>
              <a:rPr lang="el-GR" dirty="0">
                <a:solidFill>
                  <a:schemeClr val="tx1">
                    <a:lumMod val="95000"/>
                  </a:schemeClr>
                </a:solidFill>
                <a:latin typeface="Yu Gothic Medium" panose="020B0500000000000000" pitchFamily="34" charset="-128"/>
                <a:ea typeface="Yu Gothic Medium" panose="020B0500000000000000" pitchFamily="34" charset="-128"/>
              </a:rPr>
              <a:t>φ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Yu Gothic Medium" panose="020B0500000000000000" pitchFamily="34" charset="-128"/>
                <a:ea typeface="Yu Gothic Medium" panose="020B0500000000000000" pitchFamily="34" charset="-128"/>
              </a:rPr>
              <a:t>(v) defines output of a neuron in terms of the induced local field v. </a:t>
            </a:r>
          </a:p>
          <a:p>
            <a:pPr algn="l"/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Yu Gothic Medium" panose="020B0500000000000000" pitchFamily="34" charset="-128"/>
                <a:ea typeface="Yu Gothic Medium" panose="020B0500000000000000" pitchFamily="34" charset="-128"/>
              </a:rPr>
              <a:t>                                 </a:t>
            </a:r>
            <a:r>
              <a:rPr lang="el-GR" dirty="0">
                <a:solidFill>
                  <a:schemeClr val="tx1">
                    <a:lumMod val="95000"/>
                  </a:schemeClr>
                </a:solidFill>
                <a:latin typeface="Yu Gothic Medium" panose="020B0500000000000000" pitchFamily="34" charset="-128"/>
                <a:ea typeface="Yu Gothic Medium" panose="020B0500000000000000" pitchFamily="34" charset="-128"/>
              </a:rPr>
              <a:t>φ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Yu Gothic Medium" panose="020B0500000000000000" pitchFamily="34" charset="-128"/>
                <a:ea typeface="Yu Gothic Medium" panose="020B0500000000000000" pitchFamily="34" charset="-128"/>
              </a:rPr>
              <a:t>(v) = 1   if v ≥ 0     </a:t>
            </a:r>
          </a:p>
          <a:p>
            <a:pPr algn="l"/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Yu Gothic Medium" panose="020B0500000000000000" pitchFamily="34" charset="-128"/>
                <a:ea typeface="Yu Gothic Medium" panose="020B0500000000000000" pitchFamily="34" charset="-128"/>
              </a:rPr>
              <a:t>                                              0   if v &lt; 0</a:t>
            </a:r>
          </a:p>
          <a:p>
            <a:pPr algn="l"/>
            <a:r>
              <a:rPr lang="en-IN" dirty="0"/>
              <a:t>Output is either 0 or 1</a:t>
            </a:r>
          </a:p>
          <a:p>
            <a:pPr algn="l"/>
            <a:r>
              <a:rPr lang="en-IN" dirty="0"/>
              <a:t>Used in the Perceptron.</a:t>
            </a:r>
            <a:endParaRPr lang="en-US" dirty="0">
              <a:solidFill>
                <a:schemeClr val="tx1">
                  <a:lumMod val="95000"/>
                </a:schemeClr>
              </a:solidFill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  <a:p>
            <a:pPr algn="l"/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4C70A3-0C0B-0E9D-4454-7B7FEBE7D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7618" y="4189445"/>
            <a:ext cx="4490278" cy="225334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34720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4D95B-DFDA-A1F4-EEDA-A8ED4F563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00CA397-F0F4-5EAA-C3CB-8E2E9CA5C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761" y="512348"/>
            <a:ext cx="11831482" cy="6168370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2. </a:t>
            </a:r>
            <a:r>
              <a:rPr lang="en-US" sz="2900" b="1" dirty="0">
                <a:solidFill>
                  <a:schemeClr val="tx1">
                    <a:lumMod val="95000"/>
                  </a:schemeClr>
                </a:solidFill>
              </a:rPr>
              <a:t>Sigmoid Function:        </a:t>
            </a:r>
          </a:p>
          <a:p>
            <a:pPr algn="l"/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Yu Gothic Medium" panose="020B0500000000000000" pitchFamily="34" charset="-128"/>
                <a:ea typeface="Yu Gothic Medium" panose="020B0500000000000000" pitchFamily="34" charset="-128"/>
              </a:rPr>
              <a:t>   Graph is S-shaped, sigmoid is logistic function</a:t>
            </a:r>
          </a:p>
          <a:p>
            <a:pPr algn="l"/>
            <a:r>
              <a:rPr lang="en-IN" dirty="0"/>
              <a:t>Output ranges from 0 to 1</a:t>
            </a:r>
          </a:p>
          <a:p>
            <a:pPr algn="l"/>
            <a:r>
              <a:rPr lang="en-IN" dirty="0"/>
              <a:t>Suitable for binary classification.</a:t>
            </a:r>
            <a:endParaRPr lang="en-US" dirty="0">
              <a:solidFill>
                <a:schemeClr val="tx1">
                  <a:lumMod val="95000"/>
                </a:schemeClr>
              </a:solidFill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  <a:p>
            <a:pPr algn="l"/>
            <a:r>
              <a:rPr lang="en-US" dirty="0">
                <a:solidFill>
                  <a:schemeClr val="tx1">
                    <a:lumMod val="95000"/>
                  </a:schemeClr>
                </a:solidFill>
                <a:ea typeface="Yu Gothic Medium" panose="020B0500000000000000" pitchFamily="34" charset="-128"/>
              </a:rPr>
              <a:t>   </a:t>
            </a:r>
            <a:r>
              <a:rPr lang="en-US" sz="2900" b="1" dirty="0">
                <a:solidFill>
                  <a:schemeClr val="tx1">
                    <a:lumMod val="95000"/>
                  </a:schemeClr>
                </a:solidFill>
                <a:ea typeface="Yu Gothic Medium" panose="020B0500000000000000" pitchFamily="34" charset="-128"/>
              </a:rPr>
              <a:t> 3. Tanh Function:</a:t>
            </a:r>
          </a:p>
          <a:p>
            <a:pPr algn="l"/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Yu Gothic Medium" panose="020B0500000000000000" pitchFamily="34" charset="-128"/>
                <a:ea typeface="Yu Gothic Medium" panose="020B0500000000000000" pitchFamily="34" charset="-128"/>
              </a:rPr>
              <a:t>Sigmoid function can also be defined as hyperbolic tangent function</a:t>
            </a:r>
          </a:p>
          <a:p>
            <a:pPr algn="l"/>
            <a:r>
              <a:rPr lang="en-US" dirty="0">
                <a:latin typeface="Yu Gothic Medium" panose="020B0500000000000000" pitchFamily="34" charset="-128"/>
                <a:ea typeface="Yu Gothic Medium" panose="020B0500000000000000" pitchFamily="34" charset="-128"/>
              </a:rPr>
              <a:t>                                           </a:t>
            </a:r>
            <a:r>
              <a:rPr lang="el-GR" dirty="0">
                <a:latin typeface="Yu Gothic Medium" panose="020B0500000000000000" pitchFamily="34" charset="-128"/>
                <a:ea typeface="Yu Gothic Medium" panose="020B0500000000000000" pitchFamily="34" charset="-128"/>
              </a:rPr>
              <a:t>φ</a:t>
            </a:r>
            <a:r>
              <a:rPr lang="en-IN" dirty="0"/>
              <a:t>(v) = tanh(v)</a:t>
            </a:r>
          </a:p>
          <a:p>
            <a:pPr algn="l"/>
            <a:r>
              <a:rPr lang="en-IN" dirty="0">
                <a:latin typeface="Yu Gothic Medium" panose="020B0500000000000000" pitchFamily="34" charset="-128"/>
                <a:ea typeface="Yu Gothic Medium" panose="020B0500000000000000" pitchFamily="34" charset="-128"/>
              </a:rPr>
              <a:t>                                           </a:t>
            </a:r>
            <a:r>
              <a:rPr lang="el-GR" dirty="0">
                <a:latin typeface="Yu Gothic Medium" panose="020B0500000000000000" pitchFamily="34" charset="-128"/>
                <a:ea typeface="Yu Gothic Medium" panose="020B0500000000000000" pitchFamily="34" charset="-128"/>
              </a:rPr>
              <a:t>φ</a:t>
            </a:r>
            <a:r>
              <a:rPr lang="en-IN" dirty="0"/>
              <a:t>(v) =   1 /1 + exp(-</a:t>
            </a:r>
            <a:r>
              <a:rPr lang="en-IN" dirty="0" err="1"/>
              <a:t>bv</a:t>
            </a:r>
            <a:r>
              <a:rPr lang="en-IN" dirty="0"/>
              <a:t>)</a:t>
            </a:r>
          </a:p>
          <a:p>
            <a:pPr algn="l"/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Yu Gothic Medium" panose="020B0500000000000000" pitchFamily="34" charset="-128"/>
                <a:ea typeface="Yu Gothic Medium" panose="020B0500000000000000" pitchFamily="34" charset="-128"/>
              </a:rPr>
              <a:t>                                                      </a:t>
            </a:r>
            <a:r>
              <a:rPr lang="el-GR" dirty="0">
                <a:solidFill>
                  <a:schemeClr val="tx1">
                    <a:lumMod val="95000"/>
                  </a:schemeClr>
                </a:solidFill>
                <a:latin typeface="Yu Gothic Medium" panose="020B0500000000000000" pitchFamily="34" charset="-128"/>
                <a:ea typeface="Yu Gothic Medium" panose="020B0500000000000000" pitchFamily="34" charset="-128"/>
              </a:rPr>
              <a:t>φ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Yu Gothic Medium" panose="020B0500000000000000" pitchFamily="34" charset="-128"/>
                <a:ea typeface="Yu Gothic Medium" panose="020B0500000000000000" pitchFamily="34" charset="-128"/>
              </a:rPr>
              <a:t>(v) = 1   if v ≥ 0     </a:t>
            </a:r>
          </a:p>
          <a:p>
            <a:pPr algn="l"/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Yu Gothic Medium" panose="020B0500000000000000" pitchFamily="34" charset="-128"/>
                <a:ea typeface="Yu Gothic Medium" panose="020B0500000000000000" pitchFamily="34" charset="-128"/>
              </a:rPr>
              <a:t>                                                                   0   if v = 0</a:t>
            </a:r>
          </a:p>
          <a:p>
            <a:pPr algn="l"/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Yu Gothic Medium" panose="020B0500000000000000" pitchFamily="34" charset="-128"/>
                <a:ea typeface="Yu Gothic Medium" panose="020B0500000000000000" pitchFamily="34" charset="-128"/>
              </a:rPr>
              <a:t>                                                                  -1   if v &lt; 0</a:t>
            </a:r>
          </a:p>
          <a:p>
            <a:pPr algn="l"/>
            <a:r>
              <a:rPr lang="en-IN" dirty="0"/>
              <a:t>Output ranges from -1 to 1.</a:t>
            </a:r>
          </a:p>
          <a:p>
            <a:pPr algn="l"/>
            <a:r>
              <a:rPr lang="en-IN" dirty="0"/>
              <a:t>Zero-</a:t>
            </a:r>
            <a:r>
              <a:rPr lang="en-IN" dirty="0" err="1"/>
              <a:t>centered</a:t>
            </a:r>
            <a:r>
              <a:rPr lang="en-IN" dirty="0"/>
              <a:t>.</a:t>
            </a:r>
          </a:p>
          <a:p>
            <a:pPr algn="l"/>
            <a:r>
              <a:rPr lang="en-IN" sz="2900" b="1" dirty="0"/>
              <a:t>4. </a:t>
            </a:r>
            <a:r>
              <a:rPr lang="en-IN" sz="2900" b="1" dirty="0" err="1"/>
              <a:t>ReLU</a:t>
            </a:r>
            <a:r>
              <a:rPr lang="en-IN" sz="2900" b="1" dirty="0"/>
              <a:t> Function: </a:t>
            </a:r>
          </a:p>
          <a:p>
            <a:pPr algn="l"/>
            <a:r>
              <a:rPr lang="en-IN" sz="2900" b="1" dirty="0"/>
              <a:t>                           </a:t>
            </a:r>
            <a:r>
              <a:rPr lang="en-IN" dirty="0"/>
              <a:t>Outputs 0 for negative values </a:t>
            </a:r>
          </a:p>
          <a:p>
            <a:pPr algn="l"/>
            <a:r>
              <a:rPr lang="en-IN" dirty="0"/>
              <a:t>                                 Input itself for positive values</a:t>
            </a:r>
          </a:p>
          <a:p>
            <a:pPr algn="l"/>
            <a:r>
              <a:rPr lang="en-IN" dirty="0"/>
              <a:t>Most widely used in deep learning because it is simple and computationally efficient.</a:t>
            </a:r>
          </a:p>
          <a:p>
            <a:pPr algn="l"/>
            <a:endParaRPr lang="en-US" dirty="0">
              <a:solidFill>
                <a:schemeClr val="tx1">
                  <a:lumMod val="95000"/>
                </a:schemeClr>
              </a:solidFill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EFEF07-9D86-CD06-9A84-40ECDAD17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3944" y="2462863"/>
            <a:ext cx="4692423" cy="226733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93121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C9319-31E8-D56D-FFF1-948AD7544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381" y="38773"/>
            <a:ext cx="10353761" cy="755494"/>
          </a:xfrm>
        </p:spPr>
        <p:txBody>
          <a:bodyPr/>
          <a:lstStyle/>
          <a:p>
            <a:r>
              <a:rPr lang="en-IN" dirty="0"/>
              <a:t>Why activation function needed?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E671C3-0BA8-671A-220B-6647D05FE718}"/>
              </a:ext>
            </a:extLst>
          </p:cNvPr>
          <p:cNvSpPr txBox="1"/>
          <p:nvPr/>
        </p:nvSpPr>
        <p:spPr>
          <a:xfrm>
            <a:off x="8023161" y="1057931"/>
            <a:ext cx="352813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Inputs → Features </a:t>
            </a:r>
          </a:p>
          <a:p>
            <a:r>
              <a:rPr lang="en-IN" dirty="0"/>
              <a:t>Weighted Sum → Net Input </a:t>
            </a:r>
          </a:p>
          <a:p>
            <a:r>
              <a:rPr lang="en-IN" dirty="0"/>
              <a:t>Activation Function → Decision </a:t>
            </a:r>
          </a:p>
          <a:p>
            <a:r>
              <a:rPr lang="en-IN" dirty="0"/>
              <a:t>Output → Final Prediction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231BA1-AD61-CDBA-CF99-651784CD9E18}"/>
              </a:ext>
            </a:extLst>
          </p:cNvPr>
          <p:cNvSpPr txBox="1"/>
          <p:nvPr/>
        </p:nvSpPr>
        <p:spPr>
          <a:xfrm>
            <a:off x="935395" y="744965"/>
            <a:ext cx="946823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Decides whether a neuron should be activated. </a:t>
            </a:r>
          </a:p>
          <a:p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Introduces </a:t>
            </a:r>
            <a:r>
              <a:rPr lang="en-IN" b="1" dirty="0"/>
              <a:t>non-linearity</a:t>
            </a:r>
            <a:r>
              <a:rPr lang="en-IN" dirty="0"/>
              <a:t> into the network. </a:t>
            </a:r>
          </a:p>
          <a:p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Enables learning of complex patterns. </a:t>
            </a:r>
          </a:p>
          <a:p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Controls the output passed to the next layer. </a:t>
            </a:r>
          </a:p>
          <a:p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Helps solve problems like image recognition, speech recognition, and natural language processing. 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activation function determines how the neuron responds to the input.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B5F6631-D4D1-DD6A-9E97-E26BFB354B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406908"/>
              </p:ext>
            </p:extLst>
          </p:nvPr>
        </p:nvGraphicFramePr>
        <p:xfrm>
          <a:off x="1808065" y="4171550"/>
          <a:ext cx="8128000" cy="2286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74448848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3274112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Without Activation 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With Activation Function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4866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Only linear relationships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Learns linear and non-linear relationships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2098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Deep network behaves like one linear 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Deep network becomes powerful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4863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Cannot solve complex problems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Can solve complex real-world problems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0180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3599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2CEFB-A551-D381-7192-274C532A6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836" y="2485053"/>
            <a:ext cx="10353761" cy="1326321"/>
          </a:xfrm>
        </p:spPr>
        <p:txBody>
          <a:bodyPr>
            <a:normAutofit fontScale="90000"/>
          </a:bodyPr>
          <a:lstStyle/>
          <a:p>
            <a:r>
              <a:rPr lang="en-IN" dirty="0"/>
              <a:t>"If a deep neural network has 100 hidden layers but no activation function, will it be more powerful than a single-layer linear model?"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8752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3E75D-7311-1AA8-C4A1-8C27BD67E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72B49-0ADF-1F3F-A215-CBB308735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016" y="207963"/>
            <a:ext cx="12014984" cy="1210290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/>
              <a:t>Neural Networks </a:t>
            </a:r>
            <a:r>
              <a:rPr lang="en-IN" sz="1800" dirty="0"/>
              <a:t>as</a:t>
            </a:r>
            <a:r>
              <a:rPr lang="en-IN" dirty="0"/>
              <a:t> Directed Graphs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E06A58-78BC-2DE6-AF50-0223EBC915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016" y="1418253"/>
            <a:ext cx="11831482" cy="5352661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A neural network can be represented as a directed graph.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Nodes represent neurons.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Edges represent weighted connections.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Information flows through directed links.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2- different types of links:  </a:t>
            </a:r>
          </a:p>
          <a:p>
            <a:pPr algn="l"/>
            <a:r>
              <a:rPr lang="en-IN" dirty="0"/>
              <a:t>            (</a:t>
            </a:r>
            <a:r>
              <a:rPr lang="en-IN" dirty="0" err="1"/>
              <a:t>i</a:t>
            </a:r>
            <a:r>
              <a:rPr lang="en-IN" dirty="0"/>
              <a:t>) Synaptic links : Input and output relation is linear</a:t>
            </a:r>
          </a:p>
          <a:p>
            <a:pPr algn="l"/>
            <a:r>
              <a:rPr lang="en-IN" dirty="0"/>
              <a:t>            (ii)Activation links : Input and output relation is non-linear       </a:t>
            </a:r>
          </a:p>
          <a:p>
            <a:pPr algn="l"/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B1999F-2FE5-CC81-6744-FD3821EB0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3246" y="4094583"/>
            <a:ext cx="3267075" cy="71437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51240E-1C1E-CCC2-F1E1-3DE7BC890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246" y="5427986"/>
            <a:ext cx="3238500" cy="7239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382004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22BBFE8-165C-C6F9-13D3-C335C499FA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008" y="243017"/>
            <a:ext cx="11803490" cy="370383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en-US" dirty="0">
                <a:effectLst/>
              </a:rPr>
              <a:t>A neural network is a directed graph consisting of nodes with interconnecting synaptic and</a:t>
            </a:r>
          </a:p>
          <a:p>
            <a:pPr algn="l"/>
            <a:r>
              <a:rPr lang="en-US" dirty="0">
                <a:effectLst/>
              </a:rPr>
              <a:t>activation links and is characterized by four properties:</a:t>
            </a:r>
          </a:p>
          <a:p>
            <a:pPr algn="l"/>
            <a:r>
              <a:rPr lang="en-US" dirty="0">
                <a:effectLst/>
              </a:rPr>
              <a:t>1. Each neuron is represented by a set of linear synaptic links, an externally applied bias, and a possibly nonlinear activation link. The bias is represented by a synaptic link connected to an input fixed at 1.</a:t>
            </a:r>
          </a:p>
          <a:p>
            <a:pPr algn="l"/>
            <a:r>
              <a:rPr lang="en-US" dirty="0">
                <a:effectLst/>
              </a:rPr>
              <a:t>2. The synaptic links of a neuron weight their respective input signals.</a:t>
            </a:r>
          </a:p>
          <a:p>
            <a:pPr algn="l"/>
            <a:r>
              <a:rPr lang="en-US" dirty="0">
                <a:effectLst/>
              </a:rPr>
              <a:t>3. The weighted sum of the input signals defines the induced local field of the neuron in </a:t>
            </a:r>
            <a:r>
              <a:rPr lang="en-IN" dirty="0">
                <a:effectLst/>
              </a:rPr>
              <a:t>question.</a:t>
            </a:r>
          </a:p>
          <a:p>
            <a:pPr algn="l"/>
            <a:r>
              <a:rPr lang="en-US" dirty="0">
                <a:effectLst/>
              </a:rPr>
              <a:t>4. The activation link squashes the induced local field of the neuron to produce an output.</a:t>
            </a:r>
            <a:endParaRPr lang="en-IN" dirty="0">
              <a:effectLst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92F4A8-4BEC-9EFF-D1B6-63C140A1D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054" y="3713584"/>
            <a:ext cx="5337110" cy="306001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399892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52F9A-7F21-7B62-2735-105790A4B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BDEBA-D70D-4ABD-6B19-B12F78E548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016" y="207963"/>
            <a:ext cx="12014984" cy="687776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/>
              <a:t>Directed Graph Example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9C6C72-5C0D-C4F3-D167-6233FC8A4F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016" y="1138335"/>
            <a:ext cx="11831482" cy="5352661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Input Layer → Hidden Layer → Output Layer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Vertices = neurons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Edges = weights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pic>
        <p:nvPicPr>
          <p:cNvPr id="6" name="Picture 5" descr="Example of Directed Graph">
            <a:extLst>
              <a:ext uri="{FF2B5EF4-FFF2-40B4-BE49-F238E27FC236}">
                <a16:creationId xmlns:a16="http://schemas.microsoft.com/office/drawing/2014/main" id="{519C2580-23A9-A828-8201-DBC507112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8982" y="2991301"/>
            <a:ext cx="5974590" cy="3058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762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1C729-083D-42C4-A1C3-615084A9F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674" y="320351"/>
            <a:ext cx="10478883" cy="566057"/>
          </a:xfrm>
        </p:spPr>
        <p:txBody>
          <a:bodyPr/>
          <a:lstStyle/>
          <a:p>
            <a:r>
              <a:rPr lang="en-US" dirty="0"/>
              <a:t>WHY BIAS IS required?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DCA1C-FFDD-B5CE-3B1B-4FA3D0B92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1234" y="1079027"/>
            <a:ext cx="10353762" cy="3695136"/>
          </a:xfrm>
        </p:spPr>
        <p:txBody>
          <a:bodyPr/>
          <a:lstStyle/>
          <a:p>
            <a:r>
              <a:rPr lang="en-IN" dirty="0"/>
              <a:t>Bias allows a neuron to shift its activation function, enabling it to learn patterns that do not pass through the origin (0,0).</a:t>
            </a:r>
          </a:p>
          <a:p>
            <a:r>
              <a:rPr lang="en-IN" dirty="0"/>
              <a:t>Without bias, a neuron has limited flexibility and cannot represent many real-world decision boundaries.</a:t>
            </a:r>
          </a:p>
          <a:p>
            <a:r>
              <a:rPr lang="en-IN" dirty="0"/>
              <a:t>To give the model the flexibility to shift and fit data patterns more accurately.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A8691-2FDC-4D1B-02BA-E07F42FFB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486" y="3677929"/>
            <a:ext cx="6203636" cy="25777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68592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6C966-F06A-7330-2386-0674BDF6A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343C1-AFB6-6D97-3447-21B3479B6C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016" y="207963"/>
            <a:ext cx="12014984" cy="687776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/>
              <a:t>Feedback in Neural Networks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42D90D-8199-BB9D-6C64-32EBD8ED9D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016" y="1138335"/>
            <a:ext cx="11831482" cy="5352661"/>
          </a:xfrm>
        </p:spPr>
        <p:txBody>
          <a:bodyPr>
            <a:normAutofit/>
          </a:bodyPr>
          <a:lstStyle/>
          <a:p>
            <a:pPr algn="l"/>
            <a:r>
              <a:rPr lang="en-IN" dirty="0"/>
              <a:t>Two types: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b="1" dirty="0"/>
              <a:t>Feedforward Networks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No loops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Signal moves in one direction </a:t>
            </a:r>
          </a:p>
          <a:p>
            <a:pPr marL="457200" indent="-457200" algn="l">
              <a:buFont typeface="+mj-lt"/>
              <a:buAutoNum type="arabicPeriod"/>
            </a:pPr>
            <a:endParaRPr lang="en-IN" b="1" dirty="0"/>
          </a:p>
          <a:p>
            <a:pPr marL="457200" indent="-457200" algn="l">
              <a:buAutoNum type="arabicPeriod" startAt="2"/>
            </a:pPr>
            <a:r>
              <a:rPr lang="en-IN" b="1" dirty="0"/>
              <a:t>Feedback Networks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Contains loops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Output influences future inputs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8457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88039-C563-BF5C-8672-70D5B3DC9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8CED2-06CD-3752-6BFD-08B3216B4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016" y="207963"/>
            <a:ext cx="12014984" cy="687776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/>
              <a:t>Feedforward Network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6556CB-4485-CFA6-3898-F69CA8CCCF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016" y="1138335"/>
            <a:ext cx="11831482" cy="5352661"/>
          </a:xfrm>
        </p:spPr>
        <p:txBody>
          <a:bodyPr>
            <a:normAutofit/>
          </a:bodyPr>
          <a:lstStyle/>
          <a:p>
            <a:pPr algn="l"/>
            <a:r>
              <a:rPr lang="en-IN" dirty="0"/>
              <a:t>Characteristics: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Simpler architecture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Easy training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Used in classification </a:t>
            </a:r>
          </a:p>
          <a:p>
            <a:pPr algn="l"/>
            <a:r>
              <a:rPr lang="en-IN" dirty="0"/>
              <a:t>Examples: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Perceptron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Multilayer Perceptron</a:t>
            </a:r>
          </a:p>
          <a:p>
            <a:pPr algn="l"/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8109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60424-1447-D1DA-4B88-FC54C6262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E3AA6-0357-A257-B922-6EE1058C4D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016" y="207963"/>
            <a:ext cx="12014984" cy="687776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/>
              <a:t>Feedback Network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ED255F-1D6F-8BA7-DCE5-2C605D4C96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016" y="1138335"/>
            <a:ext cx="11831482" cy="5352661"/>
          </a:xfrm>
        </p:spPr>
        <p:txBody>
          <a:bodyPr>
            <a:normAutofit/>
          </a:bodyPr>
          <a:lstStyle/>
          <a:p>
            <a:pPr algn="l"/>
            <a:r>
              <a:rPr lang="en-IN" dirty="0"/>
              <a:t>Characteristics: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Dynamic behaviour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Memory capability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Time-dependent processing </a:t>
            </a:r>
          </a:p>
          <a:p>
            <a:pPr algn="l"/>
            <a:r>
              <a:rPr lang="en-IN" dirty="0"/>
              <a:t>Examples: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Hopfield Network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Recurrent Neural Network (RNN)</a:t>
            </a:r>
          </a:p>
          <a:p>
            <a:pPr algn="l"/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6411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1F03F-5283-DB98-4885-07B8427AE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9FED0-653C-460C-B861-82DE1B3E3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016" y="207963"/>
            <a:ext cx="12014984" cy="687776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/>
              <a:t>Network Architectures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74B06F-D818-DE94-F68A-C3B1918A3A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016" y="1138335"/>
            <a:ext cx="11831482" cy="5352661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/>
              <a:t>Single Layer Network</a:t>
            </a:r>
          </a:p>
          <a:p>
            <a:pPr algn="l"/>
            <a:r>
              <a:rPr lang="en-IN" dirty="0"/>
              <a:t>                              Input → Output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/>
              <a:t>Multi-Layer Network</a:t>
            </a:r>
          </a:p>
          <a:p>
            <a:pPr algn="l"/>
            <a:r>
              <a:rPr lang="en-IN" dirty="0"/>
              <a:t>                              Input → Hidden Layer(s) → Output</a:t>
            </a:r>
          </a:p>
          <a:p>
            <a:pPr algn="l"/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08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5DFA5-7502-FC16-3F84-0E2D03187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4B4DF-A497-A64F-4CE5-B63BCBF2EB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016" y="207963"/>
            <a:ext cx="12014984" cy="687776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/>
              <a:t>Types of Network Architecture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F7766F-766F-C501-F283-1236FBFDB3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016" y="1138335"/>
            <a:ext cx="11831482" cy="5352661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Single Layer Feedforward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Multi Layer Feedforward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Recurrent Networks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0193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DEBFF-1D88-AF48-A86C-BCD6B8114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40F7C-F2EA-A705-2AFF-A34891460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016" y="207963"/>
            <a:ext cx="12014984" cy="687776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/>
              <a:t>Perceptron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565452-AEFF-5DEA-A932-4A382ED634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016" y="1138335"/>
            <a:ext cx="11831482" cy="5352661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A perceptron is a supervised learning algorithm that classifies input data into one of two classes.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The </a:t>
            </a:r>
            <a:r>
              <a:rPr lang="en-IN" b="1" dirty="0"/>
              <a:t>Perceptron</a:t>
            </a:r>
            <a:r>
              <a:rPr lang="en-IN" dirty="0"/>
              <a:t> is the </a:t>
            </a:r>
            <a:r>
              <a:rPr lang="en-IN" b="1" dirty="0"/>
              <a:t>first artificial neural network model</a:t>
            </a:r>
            <a:r>
              <a:rPr lang="en-IN" dirty="0"/>
              <a:t> developed for binary classification.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It was introduced by </a:t>
            </a:r>
            <a:r>
              <a:rPr lang="en-IN" b="1" dirty="0"/>
              <a:t>Frank Rosenblatt</a:t>
            </a:r>
            <a:r>
              <a:rPr lang="en-IN" dirty="0"/>
              <a:t> in </a:t>
            </a:r>
            <a:r>
              <a:rPr lang="en-IN" b="1" dirty="0"/>
              <a:t>1958</a:t>
            </a:r>
            <a:r>
              <a:rPr lang="en-IN" dirty="0"/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It is inspired by the working of a biological neuron and is considered the </a:t>
            </a:r>
            <a:r>
              <a:rPr lang="en-IN" b="1" dirty="0"/>
              <a:t>foundation of modern neural networks</a:t>
            </a:r>
            <a:r>
              <a:rPr lang="en-IN" dirty="0"/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3364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0047D-2567-96C4-CB16-C86E9998D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BE2C4-E7E7-3284-ED44-A32E391FD1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016" y="207963"/>
            <a:ext cx="12014984" cy="687776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/>
              <a:t>Rosenblatt's Perceptron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ED6E16-3F7A-0371-5276-8592406E0A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016" y="1138335"/>
            <a:ext cx="11831482" cy="5352661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Earlier computers followed fixed instructions.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Can a machine learn from experience instead of being explicitly programmed?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Rosenblatt introduced the Perceptron, which could: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dirty="0"/>
              <a:t>Learn from training data.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dirty="0"/>
              <a:t>Adjust its weights automatically.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dirty="0"/>
              <a:t>Perform binary classification.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6303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9E0E9-E9DA-83CD-95A0-24A311A9B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03D3C-B6B7-1316-8CF3-C8046DE7B9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016" y="207963"/>
            <a:ext cx="12014984" cy="687776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/>
              <a:t>Structure of Perceptron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21E17A36-1CCD-409C-B3E1-AE1C56E5746A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77016" y="1138335"/>
                <a:ext cx="11831482" cy="5352661"/>
              </a:xfrm>
            </p:spPr>
            <p:txBody>
              <a:bodyPr>
                <a:normAutofit/>
              </a:bodyPr>
              <a:lstStyle/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IN" dirty="0"/>
                  <a:t>Components:</a:t>
                </a:r>
              </a:p>
              <a:p>
                <a:pPr algn="l"/>
                <a:r>
                  <a:rPr lang="en-IN" dirty="0"/>
                  <a:t>              Inputs : Features of data (x₁, x₂, ..., xₙ)</a:t>
                </a:r>
              </a:p>
              <a:p>
                <a:pPr algn="l"/>
                <a:r>
                  <a:rPr lang="en-IN" dirty="0"/>
                  <a:t>              Weights : Importance assigned to each input (w₁, w₂, ..., wₙ)</a:t>
                </a:r>
              </a:p>
              <a:p>
                <a:pPr algn="l"/>
                <a:r>
                  <a:rPr lang="en-IN" dirty="0"/>
                  <a:t>              Bias (b) : Helps shift the decision boundary</a:t>
                </a:r>
              </a:p>
              <a:p>
                <a:pPr algn="l"/>
                <a:r>
                  <a:rPr lang="en-IN" dirty="0"/>
                  <a:t>              Summation Unit : Computes the weighted sum</a:t>
                </a:r>
              </a:p>
              <a:p>
                <a:pPr algn="l"/>
                <a:r>
                  <a:rPr lang="en-IN" dirty="0"/>
                  <a:t>              Activation Function : Decides whether the neuron is activated or not</a:t>
                </a:r>
              </a:p>
              <a:p>
                <a:pPr algn="l"/>
                <a:r>
                  <a:rPr lang="en-IN" dirty="0"/>
                  <a:t>              Output : Final prediction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IN" dirty="0"/>
                  <a:t>Decision Function:   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si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21E17A36-1CCD-409C-B3E1-AE1C56E574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77016" y="1138335"/>
                <a:ext cx="11831482" cy="5352661"/>
              </a:xfrm>
              <a:blipFill>
                <a:blip r:embed="rId3"/>
                <a:stretch>
                  <a:fillRect l="-773" t="-5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5984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21470D4-8D3C-79B4-4D4D-D35B20C77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524000"/>
            <a:ext cx="7620000" cy="3810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373768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F2B9A-EBF5-AC43-1468-6FBB1F34F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B6F5B-F531-3163-EF40-B0B088FB5F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016" y="207963"/>
            <a:ext cx="12014984" cy="687776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/>
              <a:t>Perceptron Algorithm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CCAD05-5BC3-9057-33E4-0A1BDC1711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016" y="1138335"/>
            <a:ext cx="11831482" cy="5352661"/>
          </a:xfrm>
        </p:spPr>
        <p:txBody>
          <a:bodyPr>
            <a:normAutofit/>
          </a:bodyPr>
          <a:lstStyle/>
          <a:p>
            <a:pPr algn="l"/>
            <a:r>
              <a:rPr lang="en-IN" sz="2600" b="1" dirty="0"/>
              <a:t>Step 1: </a:t>
            </a:r>
            <a:r>
              <a:rPr lang="en-IN" sz="2600" dirty="0"/>
              <a:t>Receive input values.</a:t>
            </a:r>
          </a:p>
          <a:p>
            <a:pPr algn="l"/>
            <a:r>
              <a:rPr lang="en-IN" sz="2600" b="1" dirty="0"/>
              <a:t>Step 2: </a:t>
            </a:r>
            <a:r>
              <a:rPr lang="en-IN" sz="2600" dirty="0"/>
              <a:t>Multiply each input by its corresponding weight.</a:t>
            </a:r>
          </a:p>
          <a:p>
            <a:pPr algn="l"/>
            <a:r>
              <a:rPr lang="en-IN" sz="2600" b="1" dirty="0"/>
              <a:t>Step 3: </a:t>
            </a:r>
            <a:r>
              <a:rPr lang="en-IN" sz="2600" dirty="0"/>
              <a:t>Add all weighted inputs.</a:t>
            </a:r>
          </a:p>
          <a:p>
            <a:pPr algn="l"/>
            <a:r>
              <a:rPr lang="en-IN" sz="2600" b="1" dirty="0"/>
              <a:t>Step 4:</a:t>
            </a:r>
            <a:r>
              <a:rPr lang="en-IN" sz="2600" dirty="0"/>
              <a:t>Add the bias.</a:t>
            </a:r>
          </a:p>
          <a:p>
            <a:pPr algn="l"/>
            <a:r>
              <a:rPr lang="en-IN" sz="2600" b="1" dirty="0"/>
              <a:t>Step 5: </a:t>
            </a:r>
            <a:r>
              <a:rPr lang="en-IN" sz="2600" dirty="0"/>
              <a:t>Apply the activation function.</a:t>
            </a:r>
          </a:p>
          <a:p>
            <a:pPr algn="l"/>
            <a:r>
              <a:rPr lang="en-IN" sz="2600" b="1" dirty="0"/>
              <a:t>Step 6:</a:t>
            </a:r>
            <a:r>
              <a:rPr lang="en-IN" sz="2600" dirty="0"/>
              <a:t>Generate the final output</a:t>
            </a:r>
          </a:p>
          <a:p>
            <a:pPr algn="l"/>
            <a:endParaRPr lang="en-IN" dirty="0"/>
          </a:p>
          <a:p>
            <a:pPr algn="l"/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7597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214FC3-B22D-4859-1E39-5CF3338953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405" y="343936"/>
            <a:ext cx="9255190" cy="617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790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813DC-813E-759A-1BF5-71F749601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5191E-E3B1-7F85-F2D1-F8416C87BA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016" y="207963"/>
            <a:ext cx="12014984" cy="687776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CED78A95-4AAA-7D32-FA8F-D6CBD17E4E43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77016" y="1138335"/>
                <a:ext cx="11831482" cy="5352661"/>
              </a:xfrm>
            </p:spPr>
            <p:txBody>
              <a:bodyPr>
                <a:normAutofit lnSpcReduction="10000"/>
              </a:bodyPr>
              <a:lstStyle/>
              <a:p>
                <a:pPr algn="l"/>
                <a:r>
                  <a:rPr lang="en-IN" dirty="0"/>
                  <a:t>Suppose:</a:t>
                </a:r>
              </a:p>
              <a:p>
                <a:pPr algn="l"/>
                <a:r>
                  <a:rPr lang="en-IN" dirty="0"/>
                  <a:t>x₁ = 1 </a:t>
                </a:r>
              </a:p>
              <a:p>
                <a:pPr algn="l"/>
                <a:r>
                  <a:rPr lang="en-IN" dirty="0"/>
                  <a:t>x₂ = 0 </a:t>
                </a:r>
              </a:p>
              <a:p>
                <a:pPr algn="l"/>
                <a:r>
                  <a:rPr lang="en-IN" dirty="0"/>
                  <a:t>w₁ = 2 </a:t>
                </a:r>
              </a:p>
              <a:p>
                <a:pPr algn="l"/>
                <a:r>
                  <a:rPr lang="en-IN" dirty="0"/>
                  <a:t>w₂ = 1 </a:t>
                </a:r>
              </a:p>
              <a:p>
                <a:pPr algn="l"/>
                <a:r>
                  <a:rPr lang="en-IN" dirty="0"/>
                  <a:t>b = -1 </a:t>
                </a:r>
              </a:p>
              <a:p>
                <a:pPr algn="l"/>
                <a:r>
                  <a:rPr lang="en-IN" dirty="0"/>
                  <a:t>Weighted sum: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2×1</m:t>
                          </m:r>
                        </m:e>
                      </m:d>
                      <m:r>
                        <a:rPr lang="en-IN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IN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1×0</m:t>
                          </m:r>
                        </m:e>
                      </m:d>
                      <m:r>
                        <a:rPr lang="en-IN">
                          <a:latin typeface="Cambria Math" panose="02040503050406030204" pitchFamily="18" charset="0"/>
                        </a:rPr>
                        <m:t>−1=1</m:t>
                      </m:r>
                    </m:oMath>
                  </m:oMathPara>
                </a14:m>
                <a:endParaRPr lang="en-IN" dirty="0"/>
              </a:p>
              <a:p>
                <a:pPr algn="l"/>
                <a:r>
                  <a:rPr lang="en-IN" dirty="0"/>
                  <a:t>Since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IN" dirty="0"/>
                  <a:t>,  (Threshold function) (binary classifier)</a:t>
                </a:r>
              </a:p>
              <a:p>
                <a:pPr algn="l"/>
                <a:r>
                  <a:rPr lang="en-IN" dirty="0"/>
                  <a:t>Output = </a:t>
                </a:r>
                <a:r>
                  <a:rPr lang="en-IN" b="1" dirty="0"/>
                  <a:t>1</a:t>
                </a:r>
                <a:endParaRPr lang="en-IN" dirty="0"/>
              </a:p>
              <a:p>
                <a:pPr algn="l"/>
                <a:endParaRPr lang="en-IN" dirty="0"/>
              </a:p>
              <a:p>
                <a:pPr algn="l"/>
                <a:endParaRPr lang="en-IN" dirty="0">
                  <a:solidFill>
                    <a:schemeClr val="tx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CED78A95-4AAA-7D32-FA8F-D6CBD17E4E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77016" y="1138335"/>
                <a:ext cx="11831482" cy="5352661"/>
              </a:xfrm>
              <a:blipFill>
                <a:blip r:embed="rId2"/>
                <a:stretch>
                  <a:fillRect l="-876" t="-10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2537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B177B-AF5F-A4F9-EC58-06C9A4D22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706" y="221036"/>
            <a:ext cx="11700588" cy="749348"/>
          </a:xfrm>
        </p:spPr>
        <p:txBody>
          <a:bodyPr>
            <a:normAutofit fontScale="90000"/>
          </a:bodyPr>
          <a:lstStyle/>
          <a:p>
            <a:r>
              <a:rPr lang="en-US" dirty="0"/>
              <a:t>NUMERICALS ON PERCEPTRON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CEEA3C-2BA2-A83B-1083-FC7E3B4197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8231" y="1288046"/>
            <a:ext cx="11075703" cy="5140746"/>
          </a:xfrm>
        </p:spPr>
        <p:txBody>
          <a:bodyPr/>
          <a:lstStyle/>
          <a:p>
            <a:pPr algn="l"/>
            <a:r>
              <a:rPr lang="en-US" dirty="0"/>
              <a:t>SOLVE THE FOLLOWING PROBLEMS</a:t>
            </a:r>
          </a:p>
          <a:p>
            <a:pPr algn="l"/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2C5A5631-00EA-9811-75EC-5846C5F948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9395636"/>
                  </p:ext>
                </p:extLst>
              </p:nvPr>
            </p:nvGraphicFramePr>
            <p:xfrm>
              <a:off x="1159032" y="2029619"/>
              <a:ext cx="10353672" cy="1828800"/>
            </p:xfrm>
            <a:graphic>
              <a:graphicData uri="http://schemas.openxmlformats.org/drawingml/2006/table">
                <a:tbl>
                  <a:tblPr/>
                  <a:tblGrid>
                    <a:gridCol w="1479096">
                      <a:extLst>
                        <a:ext uri="{9D8B030D-6E8A-4147-A177-3AD203B41FA5}">
                          <a16:colId xmlns:a16="http://schemas.microsoft.com/office/drawing/2014/main" val="2698775761"/>
                        </a:ext>
                      </a:extLst>
                    </a:gridCol>
                    <a:gridCol w="1479096">
                      <a:extLst>
                        <a:ext uri="{9D8B030D-6E8A-4147-A177-3AD203B41FA5}">
                          <a16:colId xmlns:a16="http://schemas.microsoft.com/office/drawing/2014/main" val="3908128294"/>
                        </a:ext>
                      </a:extLst>
                    </a:gridCol>
                    <a:gridCol w="1479096">
                      <a:extLst>
                        <a:ext uri="{9D8B030D-6E8A-4147-A177-3AD203B41FA5}">
                          <a16:colId xmlns:a16="http://schemas.microsoft.com/office/drawing/2014/main" val="3579688158"/>
                        </a:ext>
                      </a:extLst>
                    </a:gridCol>
                    <a:gridCol w="1479096">
                      <a:extLst>
                        <a:ext uri="{9D8B030D-6E8A-4147-A177-3AD203B41FA5}">
                          <a16:colId xmlns:a16="http://schemas.microsoft.com/office/drawing/2014/main" val="1188356451"/>
                        </a:ext>
                      </a:extLst>
                    </a:gridCol>
                    <a:gridCol w="1479096">
                      <a:extLst>
                        <a:ext uri="{9D8B030D-6E8A-4147-A177-3AD203B41FA5}">
                          <a16:colId xmlns:a16="http://schemas.microsoft.com/office/drawing/2014/main" val="2082522099"/>
                        </a:ext>
                      </a:extLst>
                    </a:gridCol>
                    <a:gridCol w="1479096">
                      <a:extLst>
                        <a:ext uri="{9D8B030D-6E8A-4147-A177-3AD203B41FA5}">
                          <a16:colId xmlns:a16="http://schemas.microsoft.com/office/drawing/2014/main" val="1433403013"/>
                        </a:ext>
                      </a:extLst>
                    </a:gridCol>
                    <a:gridCol w="1479096">
                      <a:extLst>
                        <a:ext uri="{9D8B030D-6E8A-4147-A177-3AD203B41FA5}">
                          <a16:colId xmlns:a16="http://schemas.microsoft.com/office/drawing/2014/main" val="3949753046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Bias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Net Input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Output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5314688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0.5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0.5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-0.7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?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?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509715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0.5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0.5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-0.7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?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?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2151018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0.5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0.5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-0.7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?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?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5389525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0.5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0.5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-0.7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?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?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58192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2C5A5631-00EA-9811-75EC-5846C5F948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9395636"/>
                  </p:ext>
                </p:extLst>
              </p:nvPr>
            </p:nvGraphicFramePr>
            <p:xfrm>
              <a:off x="1159032" y="2029619"/>
              <a:ext cx="10353672" cy="1828800"/>
            </p:xfrm>
            <a:graphic>
              <a:graphicData uri="http://schemas.openxmlformats.org/drawingml/2006/table">
                <a:tbl>
                  <a:tblPr/>
                  <a:tblGrid>
                    <a:gridCol w="1479096">
                      <a:extLst>
                        <a:ext uri="{9D8B030D-6E8A-4147-A177-3AD203B41FA5}">
                          <a16:colId xmlns:a16="http://schemas.microsoft.com/office/drawing/2014/main" val="2698775761"/>
                        </a:ext>
                      </a:extLst>
                    </a:gridCol>
                    <a:gridCol w="1479096">
                      <a:extLst>
                        <a:ext uri="{9D8B030D-6E8A-4147-A177-3AD203B41FA5}">
                          <a16:colId xmlns:a16="http://schemas.microsoft.com/office/drawing/2014/main" val="3908128294"/>
                        </a:ext>
                      </a:extLst>
                    </a:gridCol>
                    <a:gridCol w="1479096">
                      <a:extLst>
                        <a:ext uri="{9D8B030D-6E8A-4147-A177-3AD203B41FA5}">
                          <a16:colId xmlns:a16="http://schemas.microsoft.com/office/drawing/2014/main" val="3579688158"/>
                        </a:ext>
                      </a:extLst>
                    </a:gridCol>
                    <a:gridCol w="1479096">
                      <a:extLst>
                        <a:ext uri="{9D8B030D-6E8A-4147-A177-3AD203B41FA5}">
                          <a16:colId xmlns:a16="http://schemas.microsoft.com/office/drawing/2014/main" val="1188356451"/>
                        </a:ext>
                      </a:extLst>
                    </a:gridCol>
                    <a:gridCol w="1479096">
                      <a:extLst>
                        <a:ext uri="{9D8B030D-6E8A-4147-A177-3AD203B41FA5}">
                          <a16:colId xmlns:a16="http://schemas.microsoft.com/office/drawing/2014/main" val="2082522099"/>
                        </a:ext>
                      </a:extLst>
                    </a:gridCol>
                    <a:gridCol w="1479096">
                      <a:extLst>
                        <a:ext uri="{9D8B030D-6E8A-4147-A177-3AD203B41FA5}">
                          <a16:colId xmlns:a16="http://schemas.microsoft.com/office/drawing/2014/main" val="1433403013"/>
                        </a:ext>
                      </a:extLst>
                    </a:gridCol>
                    <a:gridCol w="1479096">
                      <a:extLst>
                        <a:ext uri="{9D8B030D-6E8A-4147-A177-3AD203B41FA5}">
                          <a16:colId xmlns:a16="http://schemas.microsoft.com/office/drawing/2014/main" val="394975304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8333" r="-599177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100413" t="-8333" r="-501653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199588" t="-8333" r="-399588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299588" t="-8333" r="-299588" b="-4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Bias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Net Input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Output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5314688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0.5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0.5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-0.7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?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?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5097153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0.5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0.5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-0.7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?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?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2151018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0.5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0.5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-0.7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?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?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5389525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0.5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0.5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-0.7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?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?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581926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F42108D-918C-189D-4668-1D2D7348DFBF}"/>
              </a:ext>
            </a:extLst>
          </p:cNvPr>
          <p:cNvSpPr txBox="1"/>
          <p:nvPr/>
        </p:nvSpPr>
        <p:spPr>
          <a:xfrm>
            <a:off x="466530" y="1631022"/>
            <a:ext cx="99930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Classroom Activity:</a:t>
            </a:r>
            <a:r>
              <a:rPr lang="en-IN" dirty="0"/>
              <a:t> find the output of the perceptron. (AND GATE USING PERCEPTRON)</a:t>
            </a: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F792AEA-6C87-1700-1E96-F4F906803EFA}"/>
                  </a:ext>
                </a:extLst>
              </p:cNvPr>
              <p:cNvSpPr txBox="1"/>
              <p:nvPr/>
            </p:nvSpPr>
            <p:spPr>
              <a:xfrm>
                <a:off x="1159032" y="4040884"/>
                <a:ext cx="9897744" cy="23721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A perceptron has the following parameters: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Inputs: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i="0">
                        <a:latin typeface="Cambria Math" panose="02040503050406030204" pitchFamily="18" charset="0"/>
                      </a:rPr>
                      <m:t>=1,</m:t>
                    </m:r>
                    <m:r>
                      <m:rPr>
                        <m:nor/>
                      </m:rPr>
                      <a:rPr lang="en-IN" b="0" i="0">
                        <a:latin typeface="Cambria Math" panose="02040503050406030204" pitchFamily="18" charset="0"/>
                      </a:rPr>
                      <m:t>  </m:t>
                    </m:r>
                    <m:sSub>
                      <m:sSubPr>
                        <m:ctrlPr>
                          <a:rPr lang="en-I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0">
                        <a:latin typeface="Cambria Math" panose="02040503050406030204" pitchFamily="18" charset="0"/>
                      </a:rPr>
                      <m:t>=1,</m:t>
                    </m:r>
                    <m:r>
                      <m:rPr>
                        <m:nor/>
                      </m:rPr>
                      <a:rPr lang="en-IN" b="0" i="0">
                        <a:latin typeface="Cambria Math" panose="02040503050406030204" pitchFamily="18" charset="0"/>
                      </a:rPr>
                      <m:t>  </m:t>
                    </m:r>
                    <m:sSub>
                      <m:sSubPr>
                        <m:ctrlPr>
                          <a:rPr lang="en-I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b="0" i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IN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Weights: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i="0">
                        <a:latin typeface="Cambria Math" panose="02040503050406030204" pitchFamily="18" charset="0"/>
                      </a:rPr>
                      <m:t>=0.4,</m:t>
                    </m:r>
                    <m:r>
                      <m:rPr>
                        <m:nor/>
                      </m:rPr>
                      <a:rPr lang="en-IN" b="0" i="0">
                        <a:latin typeface="Cambria Math" panose="02040503050406030204" pitchFamily="18" charset="0"/>
                      </a:rPr>
                      <m:t>  </m:t>
                    </m:r>
                    <m:sSub>
                      <m:sSubPr>
                        <m:ctrlPr>
                          <a:rPr lang="en-I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b="0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0">
                        <a:latin typeface="Cambria Math" panose="02040503050406030204" pitchFamily="18" charset="0"/>
                      </a:rPr>
                      <m:t>=0.3,</m:t>
                    </m:r>
                    <m:r>
                      <m:rPr>
                        <m:nor/>
                      </m:rPr>
                      <a:rPr lang="en-IN" b="0" i="0">
                        <a:latin typeface="Cambria Math" panose="02040503050406030204" pitchFamily="18" charset="0"/>
                      </a:rPr>
                      <m:t>  </m:t>
                    </m:r>
                    <m:sSub>
                      <m:sSubPr>
                        <m:ctrlPr>
                          <a:rPr lang="en-I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b="0" i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b="0" i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IN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Bias: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=−0.6</m:t>
                    </m:r>
                  </m:oMath>
                </a14:m>
                <a:endParaRPr lang="en-IN" dirty="0"/>
              </a:p>
              <a:p>
                <a:pPr>
                  <a:buNone/>
                </a:pPr>
                <a:r>
                  <a:rPr lang="en-IN" dirty="0"/>
                  <a:t>Using the threshold activation function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≥0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0,</m:t>
                                </m:r>
                              </m: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IN" i="0">
                                    <a:latin typeface="Cambria Math" panose="02040503050406030204" pitchFamily="18" charset="0"/>
                                  </a:rPr>
                                  <m:t>&lt;0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r>
                  <a:rPr lang="en-IN" dirty="0"/>
                  <a:t>find the output of the perceptron.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F792AEA-6C87-1700-1E96-F4F906803E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032" y="4040884"/>
                <a:ext cx="9897744" cy="2372188"/>
              </a:xfrm>
              <a:prstGeom prst="rect">
                <a:avLst/>
              </a:prstGeom>
              <a:blipFill>
                <a:blip r:embed="rId4"/>
                <a:stretch>
                  <a:fillRect l="-493" t="-1542" b="-33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704A32F1-1FB8-6FC8-BD5C-9CA58779A108}"/>
              </a:ext>
            </a:extLst>
          </p:cNvPr>
          <p:cNvSpPr txBox="1"/>
          <p:nvPr/>
        </p:nvSpPr>
        <p:spPr>
          <a:xfrm>
            <a:off x="597660" y="1958990"/>
            <a:ext cx="561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Q:1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80A219-3F54-DF89-19C8-5A8930D99C27}"/>
              </a:ext>
            </a:extLst>
          </p:cNvPr>
          <p:cNvSpPr txBox="1"/>
          <p:nvPr/>
        </p:nvSpPr>
        <p:spPr>
          <a:xfrm>
            <a:off x="597660" y="3991415"/>
            <a:ext cx="561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Q2: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5369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A0937-B81F-8D52-A15B-CABED69E5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5408645"/>
          </a:xfrm>
        </p:spPr>
        <p:txBody>
          <a:bodyPr>
            <a:normAutofit/>
          </a:bodyPr>
          <a:lstStyle/>
          <a:p>
            <a:pPr algn="l"/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r>
              <a:rPr lang="en-IN" sz="2000" dirty="0"/>
              <a:t>find the output of the perceptron.</a:t>
            </a:r>
            <a:br>
              <a:rPr lang="en-IN" sz="2000" dirty="0"/>
            </a:br>
            <a:endParaRPr lang="en-IN" sz="2000" b="0" dirty="0">
              <a:effectLst/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1C22E3E-E268-9F4A-C674-99241C8608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3094771"/>
                  </p:ext>
                </p:extLst>
              </p:nvPr>
            </p:nvGraphicFramePr>
            <p:xfrm>
              <a:off x="1959428" y="1082278"/>
              <a:ext cx="5505062" cy="2926080"/>
            </p:xfrm>
            <a:graphic>
              <a:graphicData uri="http://schemas.openxmlformats.org/drawingml/2006/table">
                <a:tbl>
                  <a:tblPr/>
                  <a:tblGrid>
                    <a:gridCol w="2752531">
                      <a:extLst>
                        <a:ext uri="{9D8B030D-6E8A-4147-A177-3AD203B41FA5}">
                          <a16:colId xmlns:a16="http://schemas.microsoft.com/office/drawing/2014/main" val="3266661114"/>
                        </a:ext>
                      </a:extLst>
                    </a:gridCol>
                    <a:gridCol w="2752531">
                      <a:extLst>
                        <a:ext uri="{9D8B030D-6E8A-4147-A177-3AD203B41FA5}">
                          <a16:colId xmlns:a16="http://schemas.microsoft.com/office/drawing/2014/main" val="279903633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800" dirty="0"/>
                            <a:t>Parameter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800"/>
                            <a:t>Value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4280285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I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IN" sz="180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8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800"/>
                            <a:t>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805602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I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IN" sz="180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800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800"/>
                            <a:t>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8998418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I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IN" sz="1800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8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800"/>
                            <a:t>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6478401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I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IN" sz="180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8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800"/>
                            <a:t>0.3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3101391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I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IN" sz="180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8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800"/>
                            <a:t>0.4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9670968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I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IN" sz="1800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8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800"/>
                            <a:t>0.5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961639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IN" sz="180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800" dirty="0"/>
                            <a:t>-0.4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03021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1C22E3E-E268-9F4A-C674-99241C8608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3094771"/>
                  </p:ext>
                </p:extLst>
              </p:nvPr>
            </p:nvGraphicFramePr>
            <p:xfrm>
              <a:off x="1959428" y="1082278"/>
              <a:ext cx="5505062" cy="2926080"/>
            </p:xfrm>
            <a:graphic>
              <a:graphicData uri="http://schemas.openxmlformats.org/drawingml/2006/table">
                <a:tbl>
                  <a:tblPr/>
                  <a:tblGrid>
                    <a:gridCol w="2752531">
                      <a:extLst>
                        <a:ext uri="{9D8B030D-6E8A-4147-A177-3AD203B41FA5}">
                          <a16:colId xmlns:a16="http://schemas.microsoft.com/office/drawing/2014/main" val="3266661114"/>
                        </a:ext>
                      </a:extLst>
                    </a:gridCol>
                    <a:gridCol w="2752531">
                      <a:extLst>
                        <a:ext uri="{9D8B030D-6E8A-4147-A177-3AD203B41FA5}">
                          <a16:colId xmlns:a16="http://schemas.microsoft.com/office/drawing/2014/main" val="279903633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800" dirty="0"/>
                            <a:t>Parameter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800"/>
                            <a:t>Value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4280285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108333" r="-100000" b="-6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800"/>
                            <a:t>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805602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208333" r="-100000" b="-5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800"/>
                            <a:t>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8998418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303279" r="-100000" b="-4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800"/>
                            <a:t>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6478401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410000" r="-100000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800"/>
                            <a:t>0.3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3101391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510000" r="-100000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800"/>
                            <a:t>0.4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9670968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610000" r="-10000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800"/>
                            <a:t>0.5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961639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710000" r="-100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800" dirty="0"/>
                            <a:t>-0.4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03021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9995852-2ECE-06D5-7D20-25E337A9CA39}"/>
              </a:ext>
            </a:extLst>
          </p:cNvPr>
          <p:cNvSpPr txBox="1"/>
          <p:nvPr/>
        </p:nvSpPr>
        <p:spPr>
          <a:xfrm>
            <a:off x="1089349" y="108227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Given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097A72-6E18-BD1F-0B0D-38D0D88BE37D}"/>
              </a:ext>
            </a:extLst>
          </p:cNvPr>
          <p:cNvSpPr txBox="1"/>
          <p:nvPr/>
        </p:nvSpPr>
        <p:spPr>
          <a:xfrm>
            <a:off x="1030343" y="712946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2684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225CD-6143-5886-5755-4E6F63C84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976" y="68004"/>
            <a:ext cx="12108024" cy="669114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PERCEPTRON LEARNING ALGORITHM</a:t>
            </a:r>
            <a:endParaRPr lang="en-IN" sz="32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E25D581A-3370-D93F-1BAF-9030AC83BF1E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559572" y="844743"/>
                <a:ext cx="10898420" cy="5613918"/>
              </a:xfrm>
            </p:spPr>
            <p:txBody>
              <a:bodyPr>
                <a:normAutofit fontScale="92500"/>
              </a:bodyPr>
              <a:lstStyle/>
              <a:p>
                <a:pPr marL="457200" indent="-457200" algn="l">
                  <a:buFont typeface="+mj-lt"/>
                  <a:buAutoNum type="arabicPeriod"/>
                </a:pPr>
                <a:r>
                  <a:rPr lang="en-IN" dirty="0"/>
                  <a:t>Initialize weights randomly (or to zero). </a:t>
                </a:r>
              </a:p>
              <a:p>
                <a:pPr marL="457200" indent="-457200" algn="l">
                  <a:buFont typeface="+mj-lt"/>
                  <a:buAutoNum type="arabicPeriod"/>
                </a:pPr>
                <a:r>
                  <a:rPr lang="en-IN" dirty="0"/>
                  <a:t>Select a training example.</a:t>
                </a:r>
              </a:p>
              <a:p>
                <a:pPr marL="457200" indent="-457200" algn="l">
                  <a:buFont typeface="+mj-lt"/>
                  <a:buAutoNum type="arabicPeriod"/>
                </a:pPr>
                <a:r>
                  <a:rPr lang="en-IN" dirty="0"/>
                  <a:t>Compute 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pPr algn="l"/>
                <a:r>
                  <a:rPr lang="en-IN" dirty="0"/>
                  <a:t>4.    If classification is wrong,  (ERROR)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𝑜𝑙𝑑</m:t>
                          </m:r>
                        </m:sub>
                      </m:sSub>
                      <m:r>
                        <a:rPr lang="en-IN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dirty="0"/>
              </a:p>
              <a:p>
                <a:pPr algn="l"/>
                <a:r>
                  <a:rPr lang="en-IN" dirty="0"/>
                  <a:t>                                                                                  where</a:t>
                </a:r>
              </a:p>
              <a:p>
                <a:pPr algn="l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                                                                                     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IN" dirty="0"/>
                  <a:t>= target output  y = Predicted output</a:t>
                </a:r>
              </a:p>
              <a:p>
                <a:pPr algn="l"/>
                <a:r>
                  <a:rPr lang="en-IN" dirty="0"/>
                  <a:t>                                                                                 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IN" dirty="0"/>
                  <a:t>= learning rate </a:t>
                </a:r>
              </a:p>
              <a:p>
                <a:pPr algn="l"/>
                <a:r>
                  <a:rPr lang="en-IN" dirty="0"/>
                  <a:t>5. Repeat until no errors remain. </a:t>
                </a:r>
              </a:p>
              <a:p>
                <a:pPr algn="l"/>
                <a:r>
                  <a:rPr lang="en-IN" dirty="0"/>
                  <a:t>6. Also we can update bias value (if required)</a:t>
                </a:r>
              </a:p>
              <a:p>
                <a:pPr algn="l"/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E25D581A-3370-D93F-1BAF-9030AC83BF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559572" y="844743"/>
                <a:ext cx="10898420" cy="5613918"/>
              </a:xfrm>
              <a:blipFill>
                <a:blip r:embed="rId3"/>
                <a:stretch>
                  <a:fillRect l="-839" t="-326" b="-8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1C4B2B7-314E-FCD5-DFFE-7BAD392E5C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408" y="6301499"/>
            <a:ext cx="2190750" cy="31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591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01542-47A0-D1C9-11AB-00A64756B4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282" y="142649"/>
            <a:ext cx="11775231" cy="911710"/>
          </a:xfrm>
        </p:spPr>
        <p:txBody>
          <a:bodyPr>
            <a:normAutofit fontScale="90000"/>
          </a:bodyPr>
          <a:lstStyle/>
          <a:p>
            <a:r>
              <a:rPr lang="en-IN" sz="3200" dirty="0">
                <a:latin typeface="+mn-lt"/>
              </a:rPr>
              <a:t>What is Learning Rate in a Perceptron/Neural Network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0A85A1-E3D5-6D9A-15EC-C74CA5454F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281" y="1176079"/>
            <a:ext cx="11905861" cy="5539272"/>
          </a:xfrm>
        </p:spPr>
        <p:txBody>
          <a:bodyPr>
            <a:normAutofit/>
          </a:bodyPr>
          <a:lstStyle/>
          <a:p>
            <a:pPr algn="l"/>
            <a:r>
              <a:rPr lang="en-IN" sz="2600" dirty="0">
                <a:effectLst/>
              </a:rPr>
              <a:t>The learning rate (denoted by η (eta) or α (alpha)) is a hyperparameter that determines how much the weights are adjusted during each learning step.</a:t>
            </a:r>
          </a:p>
          <a:p>
            <a:pPr algn="l"/>
            <a:r>
              <a:rPr lang="en-IN" sz="2600" b="1" dirty="0">
                <a:effectLst/>
              </a:rPr>
              <a:t>Definition:</a:t>
            </a:r>
          </a:p>
          <a:p>
            <a:pPr algn="l"/>
            <a:r>
              <a:rPr lang="en-IN" sz="2600" dirty="0">
                <a:effectLst/>
              </a:rPr>
              <a:t>Learning rate is the step size used to update the weights of a neural network during training.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3198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54A37-7582-37E0-3624-8753C9C960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8698" y="216370"/>
            <a:ext cx="9001462" cy="567401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WHY LEARNING RATE REQUIRED?</a:t>
            </a:r>
            <a:endParaRPr lang="en-IN" sz="3200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54A345-5AE0-EE74-6B32-B17025C5E2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258" y="1092102"/>
            <a:ext cx="11467322" cy="5549527"/>
          </a:xfrm>
        </p:spPr>
        <p:txBody>
          <a:bodyPr/>
          <a:lstStyle/>
          <a:p>
            <a:pPr algn="l"/>
            <a:r>
              <a:rPr lang="en-IN" dirty="0"/>
              <a:t>The learning rate controls </a:t>
            </a:r>
            <a:r>
              <a:rPr lang="en-IN" b="1" dirty="0"/>
              <a:t>how fast or slow the model learns</a:t>
            </a:r>
            <a:r>
              <a:rPr lang="en-IN" dirty="0"/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/>
              <a:t>Small learning rate (η = 0.01):</a:t>
            </a:r>
            <a:r>
              <a:rPr lang="en-IN" dirty="0"/>
              <a:t> </a:t>
            </a:r>
          </a:p>
          <a:p>
            <a:pPr lvl="1" algn="l"/>
            <a:r>
              <a:rPr lang="en-IN" dirty="0"/>
              <a:t>Small weight updates </a:t>
            </a:r>
          </a:p>
          <a:p>
            <a:pPr lvl="1" algn="l"/>
            <a:r>
              <a:rPr lang="en-IN" dirty="0"/>
              <a:t>Slow learning </a:t>
            </a:r>
          </a:p>
          <a:p>
            <a:pPr lvl="1" algn="l"/>
            <a:r>
              <a:rPr lang="en-IN" dirty="0"/>
              <a:t>More stable </a:t>
            </a:r>
          </a:p>
          <a:p>
            <a:pPr lvl="1" algn="l"/>
            <a:r>
              <a:rPr lang="en-IN" dirty="0"/>
              <a:t>May require many iterations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/>
              <a:t>Large learning rate (η = 1 or more):</a:t>
            </a:r>
            <a:r>
              <a:rPr lang="en-IN" dirty="0"/>
              <a:t> </a:t>
            </a:r>
          </a:p>
          <a:p>
            <a:pPr lvl="1" algn="l"/>
            <a:r>
              <a:rPr lang="en-IN" dirty="0"/>
              <a:t>Large weight updates </a:t>
            </a:r>
          </a:p>
          <a:p>
            <a:pPr lvl="1" algn="l"/>
            <a:r>
              <a:rPr lang="en-IN" dirty="0"/>
              <a:t>Faster learning </a:t>
            </a:r>
          </a:p>
          <a:p>
            <a:pPr lvl="1" algn="l"/>
            <a:r>
              <a:rPr lang="en-IN" dirty="0"/>
              <a:t>May overshoot the optimal solution </a:t>
            </a:r>
          </a:p>
          <a:p>
            <a:pPr lvl="1" algn="l"/>
            <a:r>
              <a:rPr lang="en-IN" dirty="0"/>
              <a:t>Can make training unstable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5583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CE36D-AA96-2B02-A6CD-9DF0462E8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80865"/>
            <a:ext cx="10353761" cy="98593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HOW TO SOLVE ANY PERCEPTRON PROBLEM</a:t>
            </a:r>
            <a:endParaRPr lang="en-IN" sz="32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A5BD67-04AD-E997-9ACF-8AAC68BBE6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8440" y="1066799"/>
                <a:ext cx="10353762" cy="4895461"/>
              </a:xfrm>
            </p:spPr>
            <p:txBody>
              <a:bodyPr>
                <a:noAutofit/>
              </a:bodyPr>
              <a:lstStyle/>
              <a:p>
                <a:r>
                  <a:rPr lang="en-IN" b="1" dirty="0"/>
                  <a:t>Write the net input equation</a:t>
                </a:r>
                <a:r>
                  <a:rPr lang="en-IN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𝑛𝑒𝑡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IN" dirty="0"/>
              </a:p>
              <a:p>
                <a:r>
                  <a:rPr lang="en-IN" b="1" dirty="0"/>
                  <a:t>Apply the activation function</a:t>
                </a:r>
                <a:r>
                  <a:rPr lang="en-IN" dirty="0"/>
                  <a:t> to obtain the output. </a:t>
                </a:r>
                <a:r>
                  <a:rPr lang="en-IN" b="1" dirty="0"/>
                  <a:t>Compare the output with the target</a:t>
                </a:r>
                <a:r>
                  <a:rPr lang="en-IN" dirty="0"/>
                  <a:t>. </a:t>
                </a:r>
              </a:p>
              <a:p>
                <a:r>
                  <a:rPr lang="en-IN" b="1" dirty="0"/>
                  <a:t>If there is an error, update the weights</a:t>
                </a:r>
                <a:r>
                  <a:rPr lang="en-IN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IN" i="0"/>
                            <m:t>new</m:t>
                          </m:r>
                        </m:sub>
                      </m:sSub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IN" i="0"/>
                            <m:t>old</m:t>
                          </m:r>
                        </m:sub>
                      </m:sSub>
                      <m:r>
                        <a:rPr lang="en-IN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𝜂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b="0" dirty="0"/>
              </a:p>
              <a:p>
                <a:r>
                  <a:rPr lang="en-IN" b="1" dirty="0"/>
                  <a:t>Update the bias</a:t>
                </a:r>
                <a:r>
                  <a:rPr lang="en-IN" dirty="0"/>
                  <a:t> (if required):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IN" i="0"/>
                            <m:t>new</m:t>
                          </m:r>
                        </m:sub>
                      </m:sSub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𝜂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IN" b="0" dirty="0"/>
              </a:p>
              <a:p>
                <a:r>
                  <a:rPr lang="en-IN" dirty="0"/>
                  <a:t>Repeat for all training samples until all are classified correctly or the specified number of epochs is completed.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A5BD67-04AD-E997-9ACF-8AAC68BBE6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8440" y="1066799"/>
                <a:ext cx="10353762" cy="4895461"/>
              </a:xfrm>
              <a:blipFill>
                <a:blip r:embed="rId2"/>
                <a:stretch>
                  <a:fillRect l="-589" t="-249" b="-2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1453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6C1D7-2651-D925-E6D6-EF0D69BBDA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2673" y="107724"/>
            <a:ext cx="9001462" cy="641123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+mn-lt"/>
              </a:rPr>
              <a:t>EXAMPLE</a:t>
            </a:r>
            <a:endParaRPr lang="en-IN" sz="28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1B08707C-3501-750E-F0A6-899B1078C870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876811" y="1129424"/>
                <a:ext cx="10963735" cy="4991457"/>
              </a:xfrm>
            </p:spPr>
            <p:txBody>
              <a:bodyPr>
                <a:normAutofit fontScale="92500" lnSpcReduction="10000"/>
              </a:bodyPr>
              <a:lstStyle/>
              <a:p>
                <a:pPr algn="l"/>
                <a:r>
                  <a:rPr lang="en-IN" dirty="0"/>
                  <a:t>Suppose:</a:t>
                </a:r>
              </a:p>
              <a:p>
                <a:pPr algn="l"/>
                <a:r>
                  <a:rPr lang="en-IN" dirty="0"/>
                  <a:t>Weight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IN" dirty="0"/>
              </a:p>
              <a:p>
                <a:pPr algn="l"/>
                <a:r>
                  <a:rPr lang="en-IN" dirty="0"/>
                  <a:t>Learning rate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endParaRPr lang="en-IN" dirty="0"/>
              </a:p>
              <a:p>
                <a:pPr algn="l"/>
                <a:r>
                  <a:rPr lang="en-IN" dirty="0"/>
                  <a:t>Error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IN" dirty="0"/>
              </a:p>
              <a:p>
                <a:pPr algn="l"/>
                <a:r>
                  <a:rPr lang="en-IN" dirty="0"/>
                  <a:t>Input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IN" dirty="0"/>
              </a:p>
              <a:p>
                <a:pPr algn="l"/>
                <a:r>
                  <a:rPr lang="en-IN" dirty="0"/>
                  <a:t>Weight update: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IN" i="0"/>
                            <m:t>new</m:t>
                          </m:r>
                        </m:sub>
                      </m:sSub>
                      <m:r>
                        <a:rPr lang="en-IN">
                          <a:latin typeface="Cambria Math" panose="02040503050406030204" pitchFamily="18" charset="0"/>
                        </a:rPr>
                        <m:t>=2+</m:t>
                      </m:r>
                      <m:d>
                        <m:dPr>
                          <m:ctrlPr>
                            <a:rPr lang="en-IN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0.1×1×5</m:t>
                          </m:r>
                        </m:e>
                      </m:d>
                      <m:r>
                        <a:rPr lang="en-IN">
                          <a:latin typeface="Cambria Math" panose="02040503050406030204" pitchFamily="18" charset="0"/>
                        </a:rPr>
                        <m:t>=2+0.5=2.5</m:t>
                      </m:r>
                    </m:oMath>
                  </m:oMathPara>
                </a14:m>
                <a:endParaRPr lang="en-IN" b="0" dirty="0"/>
              </a:p>
              <a:p>
                <a:pPr algn="l"/>
                <a:r>
                  <a:rPr lang="en-IN" dirty="0"/>
                  <a:t>If the learning rate were </a:t>
                </a:r>
                <a:r>
                  <a:rPr lang="en-IN" b="1" dirty="0"/>
                  <a:t>0.5</a:t>
                </a:r>
                <a:r>
                  <a:rPr lang="en-IN" dirty="0"/>
                  <a:t>: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IN" i="0"/>
                            <m:t>new</m:t>
                          </m:r>
                        </m:sub>
                      </m:sSub>
                      <m:r>
                        <a:rPr lang="en-IN">
                          <a:latin typeface="Cambria Math" panose="02040503050406030204" pitchFamily="18" charset="0"/>
                        </a:rPr>
                        <m:t>=2+</m:t>
                      </m:r>
                      <m:d>
                        <m:dPr>
                          <m:ctrlPr>
                            <a:rPr lang="en-IN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0.5×1×5</m:t>
                          </m:r>
                        </m:e>
                      </m:d>
                      <m:r>
                        <a:rPr lang="en-IN">
                          <a:latin typeface="Cambria Math" panose="02040503050406030204" pitchFamily="18" charset="0"/>
                        </a:rPr>
                        <m:t>=4.5</m:t>
                      </m:r>
                    </m:oMath>
                  </m:oMathPara>
                </a14:m>
                <a:endParaRPr lang="en-IN" b="0" dirty="0"/>
              </a:p>
              <a:p>
                <a:pPr algn="l"/>
                <a:r>
                  <a:rPr lang="en-IN" dirty="0"/>
                  <a:t>The weight changes much more because the learning rate is larger.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1B08707C-3501-750E-F0A6-899B1078C8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876811" y="1129424"/>
                <a:ext cx="10963735" cy="4991457"/>
              </a:xfrm>
              <a:blipFill>
                <a:blip r:embed="rId2"/>
                <a:stretch>
                  <a:fillRect l="-834" t="-8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6152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6431854-EE7F-7ABF-9524-6E1EC89DE4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992" y="221057"/>
            <a:ext cx="4777539" cy="605871"/>
          </a:xfrm>
        </p:spPr>
        <p:txBody>
          <a:bodyPr>
            <a:normAutofit/>
          </a:bodyPr>
          <a:lstStyle/>
          <a:p>
            <a:r>
              <a:rPr lang="en-US"/>
              <a:t>	PROBLEMS TO SOLVE: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5143447-3A40-AA37-69C6-4637A60910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690402"/>
              </p:ext>
            </p:extLst>
          </p:nvPr>
        </p:nvGraphicFramePr>
        <p:xfrm>
          <a:off x="535770" y="2267701"/>
          <a:ext cx="10353675" cy="1255318"/>
        </p:xfrm>
        <a:graphic>
          <a:graphicData uri="http://schemas.openxmlformats.org/drawingml/2006/table">
            <a:tbl>
              <a:tblPr/>
              <a:tblGrid>
                <a:gridCol w="3451225">
                  <a:extLst>
                    <a:ext uri="{9D8B030D-6E8A-4147-A177-3AD203B41FA5}">
                      <a16:colId xmlns:a16="http://schemas.microsoft.com/office/drawing/2014/main" val="660631472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566143140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364072090"/>
                    </a:ext>
                  </a:extLst>
                </a:gridCol>
              </a:tblGrid>
              <a:tr h="5237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x1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x2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Target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526059"/>
                  </a:ext>
                </a:extLst>
              </a:tr>
              <a:tr h="2707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0944556"/>
                  </a:ext>
                </a:extLst>
              </a:tr>
              <a:tr h="2707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-1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-1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-1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845388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386C8A4-A6CE-5413-4A0B-D522A8D5E5F9}"/>
                  </a:ext>
                </a:extLst>
              </p:cNvPr>
              <p:cNvSpPr txBox="1"/>
              <p:nvPr/>
            </p:nvSpPr>
            <p:spPr>
              <a:xfrm>
                <a:off x="535770" y="826928"/>
                <a:ext cx="6097554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Initial weights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en-IN" i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r>
                  <a:rPr lang="en-IN" dirty="0"/>
                  <a:t>Learning rate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r>
                  <a:rPr lang="en-IN" dirty="0"/>
                  <a:t>Training data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386C8A4-A6CE-5413-4A0B-D522A8D5E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770" y="826928"/>
                <a:ext cx="6097554" cy="1477328"/>
              </a:xfrm>
              <a:prstGeom prst="rect">
                <a:avLst/>
              </a:prstGeom>
              <a:blipFill>
                <a:blip r:embed="rId2"/>
                <a:stretch>
                  <a:fillRect l="-900" t="-2479" b="-57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CBE39A0-80CD-9648-DC39-00F2F4ED9E33}"/>
              </a:ext>
            </a:extLst>
          </p:cNvPr>
          <p:cNvSpPr txBox="1"/>
          <p:nvPr/>
        </p:nvSpPr>
        <p:spPr>
          <a:xfrm>
            <a:off x="184792" y="826928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Q4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9A9CD6-B99D-BFEC-EB18-44E0C722CB42}"/>
              </a:ext>
            </a:extLst>
          </p:cNvPr>
          <p:cNvSpPr txBox="1"/>
          <p:nvPr/>
        </p:nvSpPr>
        <p:spPr>
          <a:xfrm>
            <a:off x="4440913" y="953087"/>
            <a:ext cx="64485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CHECK IF THE TARGET VALUE OBTAINED IS CORRECT, IF NOT UPDATE WITH NEW WEIGHTS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0AC3101-3E1A-FE6D-B771-4764977B501F}"/>
                  </a:ext>
                </a:extLst>
              </p:cNvPr>
              <p:cNvSpPr txBox="1"/>
              <p:nvPr/>
            </p:nvSpPr>
            <p:spPr>
              <a:xfrm>
                <a:off x="233488" y="4100351"/>
                <a:ext cx="8496172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Q5</a:t>
                </a:r>
                <a:r>
                  <a:rPr lang="en-US" dirty="0"/>
                  <a:t>    REPRESENT OR GATE WITH PERCEPTRON ALGORITHM FOR THE GIVEN </a:t>
                </a:r>
              </a:p>
              <a:p>
                <a:r>
                  <a:rPr lang="en-IN" dirty="0"/>
                  <a:t>          </a:t>
                </a:r>
              </a:p>
              <a:p>
                <a:r>
                  <a:rPr lang="en-IN" dirty="0"/>
                  <a:t>Weights: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   </m:t>
                    </m:r>
                  </m:oMath>
                </a14:m>
                <a:r>
                  <a:rPr lang="en-IN" dirty="0"/>
                  <a:t>Bias: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−0.5</m:t>
                    </m:r>
                  </m:oMath>
                </a14:m>
                <a:endParaRPr lang="en-IN" dirty="0"/>
              </a:p>
              <a:p>
                <a:r>
                  <a:rPr lang="en-US" dirty="0"/>
                  <a:t> </a:t>
                </a:r>
                <a:endParaRPr lang="en-IN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0AC3101-3E1A-FE6D-B771-4764977B50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488" y="4100351"/>
                <a:ext cx="8496172" cy="1200329"/>
              </a:xfrm>
              <a:prstGeom prst="rect">
                <a:avLst/>
              </a:prstGeom>
              <a:blipFill>
                <a:blip r:embed="rId3"/>
                <a:stretch>
                  <a:fillRect l="-574" t="-30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4EF9F5B-2930-25C9-E4E7-C2C3FEC996CA}"/>
                  </a:ext>
                </a:extLst>
              </p:cNvPr>
              <p:cNvSpPr txBox="1"/>
              <p:nvPr/>
            </p:nvSpPr>
            <p:spPr>
              <a:xfrm>
                <a:off x="233488" y="5319114"/>
                <a:ext cx="1117833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Q6</a:t>
                </a:r>
                <a:r>
                  <a:rPr lang="en-US" dirty="0"/>
                  <a:t>  TRAIN A PERCEPTRON FOR GIVEN</a:t>
                </a:r>
              </a:p>
              <a:p>
                <a:r>
                  <a:rPr lang="en-IN" dirty="0"/>
                  <a:t>Initial 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</m:t>
                    </m:r>
                  </m:oMath>
                </a14:m>
                <a:r>
                  <a:rPr lang="en-IN" dirty="0"/>
                  <a:t>Learning rate: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      </m:t>
                    </m:r>
                  </m:oMath>
                </a14:m>
                <a:r>
                  <a:rPr lang="en-IN" dirty="0"/>
                  <a:t>Training sample  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</m:t>
                    </m:r>
                  </m:oMath>
                </a14:m>
                <a:r>
                  <a:rPr lang="en-IN" dirty="0"/>
                  <a:t>Target: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4EF9F5B-2930-25C9-E4E7-C2C3FEC99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488" y="5319114"/>
                <a:ext cx="11178339" cy="923330"/>
              </a:xfrm>
              <a:prstGeom prst="rect">
                <a:avLst/>
              </a:prstGeom>
              <a:blipFill>
                <a:blip r:embed="rId4"/>
                <a:stretch>
                  <a:fillRect l="-436" t="-39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4352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D7C8D6A-D740-4F28-D12E-7438865BF6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8819" y="233686"/>
            <a:ext cx="10926413" cy="6316403"/>
          </a:xfrm>
        </p:spPr>
        <p:txBody>
          <a:bodyPr/>
          <a:lstStyle/>
          <a:p>
            <a:pPr algn="l"/>
            <a:r>
              <a:rPr lang="en-US" sz="2800" b="1" dirty="0"/>
              <a:t>AT ONE POINT PERCEPTRON STOPS. WHY?</a:t>
            </a:r>
          </a:p>
          <a:p>
            <a:pPr algn="l"/>
            <a:r>
              <a:rPr lang="en-IN" dirty="0"/>
              <a:t>Every time the perceptron makes a mistake: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the weight vector moves </a:t>
            </a:r>
            <a:r>
              <a:rPr lang="en-IN" b="1" dirty="0"/>
              <a:t>closer to the correct separating hyperplane</a:t>
            </a:r>
            <a:r>
              <a:rPr lang="en-IN" dirty="0"/>
              <a:t>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after a finite number of corrections, no mistakes remain. </a:t>
            </a:r>
          </a:p>
          <a:p>
            <a:pPr algn="l"/>
            <a:r>
              <a:rPr lang="en-IN" dirty="0"/>
              <a:t>The proof shows: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the weight vector's projection toward the optimal solution keeps increasing,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while its length cannot grow too quickly,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therefore only a finite number of mistakes are possible. 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0450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18F07F3-41A4-42F5-10CB-889FA7D75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249" y="233032"/>
            <a:ext cx="11541967" cy="5309118"/>
          </a:xfrm>
        </p:spPr>
        <p:txBody>
          <a:bodyPr>
            <a:normAutofit/>
          </a:bodyPr>
          <a:lstStyle/>
          <a:p>
            <a:pPr algn="l"/>
            <a:r>
              <a:rPr lang="en-IN" b="1" dirty="0"/>
              <a:t>A perceptron is itself a Machine Learning (ML) algorithm.</a:t>
            </a:r>
            <a:r>
              <a:rPr lang="en-IN" dirty="0"/>
              <a:t>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1800" dirty="0"/>
              <a:t>We use the perceptron specifically because it was the </a:t>
            </a:r>
            <a:r>
              <a:rPr lang="en-IN" sz="1800" b="1" dirty="0"/>
              <a:t>first neural network model</a:t>
            </a:r>
            <a:r>
              <a:rPr lang="en-IN" sz="1800" dirty="0"/>
              <a:t> designed to mimic the way a biological neuron makes decisions.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1800" dirty="0"/>
              <a:t>While many ML algorithms can perform classification, the perceptron introduces the fundamental concepts on which modern neural networks and deep learning are built.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7E61FBE-C6C9-53F5-A09D-8518D9E270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4515091"/>
              </p:ext>
            </p:extLst>
          </p:nvPr>
        </p:nvGraphicFramePr>
        <p:xfrm>
          <a:off x="360784" y="3151367"/>
          <a:ext cx="10353675" cy="3291840"/>
        </p:xfrm>
        <a:graphic>
          <a:graphicData uri="http://schemas.openxmlformats.org/drawingml/2006/table">
            <a:tbl>
              <a:tblPr/>
              <a:tblGrid>
                <a:gridCol w="3451225">
                  <a:extLst>
                    <a:ext uri="{9D8B030D-6E8A-4147-A177-3AD203B41FA5}">
                      <a16:colId xmlns:a16="http://schemas.microsoft.com/office/drawing/2014/main" val="3217829610"/>
                    </a:ext>
                  </a:extLst>
                </a:gridCol>
                <a:gridCol w="3260595">
                  <a:extLst>
                    <a:ext uri="{9D8B030D-6E8A-4147-A177-3AD203B41FA5}">
                      <a16:colId xmlns:a16="http://schemas.microsoft.com/office/drawing/2014/main" val="563886759"/>
                    </a:ext>
                  </a:extLst>
                </a:gridCol>
                <a:gridCol w="3641855">
                  <a:extLst>
                    <a:ext uri="{9D8B030D-6E8A-4147-A177-3AD203B41FA5}">
                      <a16:colId xmlns:a16="http://schemas.microsoft.com/office/drawing/2014/main" val="9412903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ML Algorithm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Why not always use it?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616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Perceptron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Linearly separable binary classification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Simple and forms the foundation of neural networks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11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Decision Tree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Linear and non-linear classification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More complex; doesn't explain neuron learning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42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SVM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Linear and non-linear classification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Computationally more expensive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3792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KNN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Classification based on nearest neighbors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learning of weights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9207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Naïve Bayes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Probabilistic classification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Assumes feature independence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502266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B924E41-166D-9FD1-DF7E-2B9984003DC0}"/>
              </a:ext>
            </a:extLst>
          </p:cNvPr>
          <p:cNvSpPr txBox="1"/>
          <p:nvPr/>
        </p:nvSpPr>
        <p:spPr>
          <a:xfrm>
            <a:off x="289249" y="2393068"/>
            <a:ext cx="90880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Why not use any ML algorithm?</a:t>
            </a:r>
          </a:p>
          <a:p>
            <a:pPr>
              <a:buNone/>
            </a:pPr>
            <a:r>
              <a:rPr lang="en-IN" dirty="0"/>
              <a:t>Different ML algorithms are designed for different purposes.</a:t>
            </a:r>
          </a:p>
        </p:txBody>
      </p:sp>
    </p:spTree>
    <p:extLst>
      <p:ext uri="{BB962C8B-B14F-4D97-AF65-F5344CB8AC3E}">
        <p14:creationId xmlns:p14="http://schemas.microsoft.com/office/powerpoint/2010/main" val="159172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997E5-72AD-1499-6501-9E1FFCA3A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C9EEF-DD13-5043-9798-E0B03ACB9D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016" y="207963"/>
            <a:ext cx="12014984" cy="687776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/>
              <a:t>Perceptron Convergence Theorem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0B691D-18DF-2DCF-2C9A-CE14886B0D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016" y="1138335"/>
            <a:ext cx="11831482" cy="5352661"/>
          </a:xfrm>
        </p:spPr>
        <p:txBody>
          <a:bodyPr>
            <a:normAutofit fontScale="92500"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/>
              <a:t>Statement:</a:t>
            </a:r>
          </a:p>
          <a:p>
            <a:pPr algn="l"/>
            <a:r>
              <a:rPr lang="en-IN" dirty="0"/>
              <a:t>If training data are linearly separable, the perceptron learning algorithm converges to a solution in a finite number of steps.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/>
              <a:t>Significance:</a:t>
            </a:r>
          </a:p>
          <a:p>
            <a:pPr algn="l"/>
            <a:r>
              <a:rPr lang="en-IN" dirty="0"/>
              <a:t>Guaranteed learning </a:t>
            </a:r>
          </a:p>
          <a:p>
            <a:pPr algn="l"/>
            <a:r>
              <a:rPr lang="en-IN" dirty="0"/>
              <a:t>Theoretical foundation of neural networks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/>
              <a:t>Limitation:</a:t>
            </a:r>
          </a:p>
          <a:p>
            <a:pPr algn="l"/>
            <a:r>
              <a:rPr lang="en-IN" dirty="0"/>
              <a:t>Fails for non-linearly separable problems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b="1" dirty="0"/>
              <a:t>Motivation:</a:t>
            </a:r>
          </a:p>
          <a:p>
            <a:pPr algn="l"/>
            <a:r>
              <a:rPr lang="en-IN" dirty="0"/>
              <a:t>This limitation motivated the development of </a:t>
            </a:r>
            <a:r>
              <a:rPr lang="en-IN" b="1" dirty="0"/>
              <a:t>multi-layer neural networks</a:t>
            </a:r>
            <a:r>
              <a:rPr lang="en-IN" dirty="0"/>
              <a:t> with nonlinear activation functions.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856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AEB1D-7547-26B4-9D2E-A386F9543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314" y="264367"/>
            <a:ext cx="10353761" cy="1325563"/>
          </a:xfrm>
        </p:spPr>
        <p:txBody>
          <a:bodyPr/>
          <a:lstStyle/>
          <a:p>
            <a:pPr algn="l"/>
            <a:r>
              <a:rPr lang="en-IN" dirty="0"/>
              <a:t>Example – XOR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EE148-AF79-D885-7216-7F84E6A28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9314" y="1264408"/>
            <a:ext cx="4879199" cy="564392"/>
          </a:xfrm>
        </p:spPr>
        <p:txBody>
          <a:bodyPr/>
          <a:lstStyle/>
          <a:p>
            <a:r>
              <a:rPr lang="en-IN" dirty="0"/>
              <a:t>Truth Table: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DE7D8FB-3F6F-B2A0-426B-8D99393C472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31142310"/>
              </p:ext>
            </p:extLst>
          </p:nvPr>
        </p:nvGraphicFramePr>
        <p:xfrm>
          <a:off x="2295331" y="1264408"/>
          <a:ext cx="5106987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02329">
                  <a:extLst>
                    <a:ext uri="{9D8B030D-6E8A-4147-A177-3AD203B41FA5}">
                      <a16:colId xmlns:a16="http://schemas.microsoft.com/office/drawing/2014/main" val="3610272391"/>
                    </a:ext>
                  </a:extLst>
                </a:gridCol>
                <a:gridCol w="1702329">
                  <a:extLst>
                    <a:ext uri="{9D8B030D-6E8A-4147-A177-3AD203B41FA5}">
                      <a16:colId xmlns:a16="http://schemas.microsoft.com/office/drawing/2014/main" val="1160961249"/>
                    </a:ext>
                  </a:extLst>
                </a:gridCol>
                <a:gridCol w="1702329">
                  <a:extLst>
                    <a:ext uri="{9D8B030D-6E8A-4147-A177-3AD203B41FA5}">
                      <a16:colId xmlns:a16="http://schemas.microsoft.com/office/drawing/2014/main" val="39234490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4686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7884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6136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114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97040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C78703F-626F-6F04-82E3-485ABD835E71}"/>
              </a:ext>
            </a:extLst>
          </p:cNvPr>
          <p:cNvSpPr txBox="1"/>
          <p:nvPr/>
        </p:nvSpPr>
        <p:spPr>
          <a:xfrm>
            <a:off x="398884" y="3429000"/>
            <a:ext cx="1133902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XOR outputs </a:t>
            </a:r>
            <a:r>
              <a:rPr lang="en-IN" b="1" dirty="0"/>
              <a:t>1</a:t>
            </a:r>
            <a:r>
              <a:rPr lang="en-IN" dirty="0"/>
              <a:t> when the inputs are different. </a:t>
            </a:r>
          </a:p>
          <a:p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XOR is </a:t>
            </a:r>
            <a:r>
              <a:rPr lang="en-IN" b="1" dirty="0"/>
              <a:t>not linearly separable</a:t>
            </a:r>
            <a:r>
              <a:rPr lang="en-IN" dirty="0"/>
              <a:t>. </a:t>
            </a:r>
          </a:p>
          <a:p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 </a:t>
            </a:r>
            <a:r>
              <a:rPr lang="en-IN" b="1" dirty="0"/>
              <a:t>single-layer perceptron fails</a:t>
            </a:r>
            <a:r>
              <a:rPr lang="en-IN" dirty="0"/>
              <a:t> because it can only learn a linear decision boundary. </a:t>
            </a:r>
          </a:p>
          <a:p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 </a:t>
            </a:r>
            <a:r>
              <a:rPr lang="en-IN" b="1" dirty="0"/>
              <a:t>multi-layer neural network with activation functions</a:t>
            </a:r>
            <a:r>
              <a:rPr lang="en-IN" dirty="0"/>
              <a:t> can learn a non-linear decision boundary and correctly classify XOR. </a:t>
            </a:r>
          </a:p>
          <a:p>
            <a:endParaRPr lang="en-IN" dirty="0"/>
          </a:p>
          <a:p>
            <a:pPr>
              <a:buNone/>
            </a:pPr>
            <a:r>
              <a:rPr lang="en-IN" dirty="0"/>
              <a:t>This is one of the most important examples in Deep Learning because it clearly shows </a:t>
            </a:r>
            <a:r>
              <a:rPr lang="en-IN" b="1" dirty="0"/>
              <a:t>why hidden layers and activation functions are essential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4940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9EE15-0726-FB74-9488-49F305995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866BC-4646-0D4E-A2C9-FA95AF43D1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016" y="207963"/>
            <a:ext cx="12014984" cy="687776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Advantages &amp; Limitations of PLA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BF6195-3A9D-5555-7CDD-483DE6CF28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016" y="1138335"/>
            <a:ext cx="11831482" cy="5352661"/>
          </a:xfrm>
        </p:spPr>
        <p:txBody>
          <a:bodyPr>
            <a:normAutofit/>
          </a:bodyPr>
          <a:lstStyle/>
          <a:p>
            <a:pPr algn="l"/>
            <a:endParaRPr lang="en-IN" dirty="0"/>
          </a:p>
          <a:p>
            <a:pPr algn="l"/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7ACFDE5-A0E2-E880-AF2C-D7493481A7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87105"/>
              </p:ext>
            </p:extLst>
          </p:nvPr>
        </p:nvGraphicFramePr>
        <p:xfrm>
          <a:off x="716547" y="1409477"/>
          <a:ext cx="3454400" cy="22250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454400">
                  <a:extLst>
                    <a:ext uri="{9D8B030D-6E8A-4147-A177-3AD203B41FA5}">
                      <a16:colId xmlns:a16="http://schemas.microsoft.com/office/drawing/2014/main" val="22864608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0309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Simple architecture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302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Easy to implement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582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Fast Learning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936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Good for binary classification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086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Foundation for DL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75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3DC9FDC-1452-9FC5-E303-243CBA92C7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631398"/>
              </p:ext>
            </p:extLst>
          </p:nvPr>
        </p:nvGraphicFramePr>
        <p:xfrm>
          <a:off x="6849979" y="1409477"/>
          <a:ext cx="3454400" cy="2118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454400">
                  <a:extLst>
                    <a:ext uri="{9D8B030D-6E8A-4147-A177-3AD203B41FA5}">
                      <a16:colId xmlns:a16="http://schemas.microsoft.com/office/drawing/2014/main" val="498182154"/>
                    </a:ext>
                  </a:extLst>
                </a:gridCol>
              </a:tblGrid>
              <a:tr h="364824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LIMATIONS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599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Solves Linearly separable problems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8902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Cannot solve XOR problem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629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Uses only one layer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117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Limited learning capability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7364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7457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ACD48-11C7-2DF7-0657-21731DDFA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237" y="360947"/>
            <a:ext cx="5775763" cy="705853"/>
          </a:xfrm>
        </p:spPr>
        <p:txBody>
          <a:bodyPr/>
          <a:lstStyle/>
          <a:p>
            <a:r>
              <a:rPr lang="en-IN" dirty="0"/>
              <a:t>REAL-LIFE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A3414-1FB1-9106-23BE-945900684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236" y="1229789"/>
            <a:ext cx="11230079" cy="5042673"/>
          </a:xfrm>
        </p:spPr>
        <p:txBody>
          <a:bodyPr>
            <a:normAutofit/>
          </a:bodyPr>
          <a:lstStyle/>
          <a:p>
            <a:r>
              <a:rPr lang="en-US" b="1" dirty="0"/>
              <a:t>CLASSIFY EMAIL IS SPAM / NOT SPAM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dirty="0">
              <a:effectLst/>
            </a:endParaRPr>
          </a:p>
          <a:p>
            <a:endParaRPr lang="en-IN" dirty="0">
              <a:effectLst/>
            </a:endParaRPr>
          </a:p>
          <a:p>
            <a:pPr marL="0" indent="0">
              <a:buNone/>
            </a:pPr>
            <a:endParaRPr lang="en-IN" dirty="0">
              <a:effectLst/>
            </a:endParaRPr>
          </a:p>
          <a:p>
            <a:pPr marL="0" indent="0">
              <a:buNone/>
            </a:pPr>
            <a:endParaRPr lang="en-IN" dirty="0">
              <a:effectLst/>
            </a:endParaRPr>
          </a:p>
          <a:p>
            <a:r>
              <a:rPr lang="en-IN" dirty="0">
                <a:effectLst/>
              </a:rPr>
              <a:t>Which one is making more informed decision</a:t>
            </a:r>
            <a:endParaRPr lang="en-US" dirty="0">
              <a:effectLst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B4F21B8-AE38-D809-A76F-7368307009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48114"/>
              </p:ext>
            </p:extLst>
          </p:nvPr>
        </p:nvGraphicFramePr>
        <p:xfrm>
          <a:off x="1211895" y="2316480"/>
          <a:ext cx="8491942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257468">
                  <a:extLst>
                    <a:ext uri="{9D8B030D-6E8A-4147-A177-3AD203B41FA5}">
                      <a16:colId xmlns:a16="http://schemas.microsoft.com/office/drawing/2014/main" val="175936855"/>
                    </a:ext>
                  </a:extLst>
                </a:gridCol>
                <a:gridCol w="5234474">
                  <a:extLst>
                    <a:ext uri="{9D8B030D-6E8A-4147-A177-3AD203B41FA5}">
                      <a16:colId xmlns:a16="http://schemas.microsoft.com/office/drawing/2014/main" val="37213691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CLASSIFIER 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CLASSIFIER 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33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Uses one </a:t>
                      </a:r>
                      <a:r>
                        <a:rPr lang="en-US" dirty="0" err="1"/>
                        <a:t>i</a:t>
                      </a:r>
                      <a:r>
                        <a:rPr lang="en-US" dirty="0"/>
                        <a:t>/p Feature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consider probability of belonging to each class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Learns by updating weights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Sample is assigned to Higher probability  class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0812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6318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6C465-F76F-977D-353F-7B5C4577E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443EE-05CE-C062-E4E7-781506F421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016" y="207963"/>
            <a:ext cx="12014984" cy="687776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BAYES CLASSIFIER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F4213E-D5B8-8614-C645-D79BA536BB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016" y="1138335"/>
            <a:ext cx="11831482" cy="5352661"/>
          </a:xfrm>
        </p:spPr>
        <p:txBody>
          <a:bodyPr>
            <a:normAutofit fontScale="85000"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Definition:</a:t>
            </a:r>
            <a:br>
              <a:rPr lang="en-IN" dirty="0"/>
            </a:br>
            <a:r>
              <a:rPr lang="en-IN" dirty="0"/>
              <a:t>A </a:t>
            </a:r>
            <a:r>
              <a:rPr lang="en-IN" b="1" dirty="0"/>
              <a:t>Bayes Classifier</a:t>
            </a:r>
            <a:r>
              <a:rPr lang="en-IN" dirty="0"/>
              <a:t> is a statistical classification algorithm that assigns an input sample to the class with the </a:t>
            </a:r>
            <a:r>
              <a:rPr lang="en-IN" b="1" dirty="0"/>
              <a:t>highest posterior probability</a:t>
            </a:r>
            <a:r>
              <a:rPr lang="en-IN" dirty="0"/>
              <a:t>. (Posterior = useful evidence / total evidence)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Decision Rule:</a:t>
            </a:r>
          </a:p>
          <a:p>
            <a:pPr algn="l"/>
            <a:r>
              <a:rPr lang="en-IN" dirty="0"/>
              <a:t>        P(A∣B)=P(B∣A) P(A)​ / P(B)   </a:t>
            </a:r>
          </a:p>
          <a:p>
            <a:pPr algn="l"/>
            <a:r>
              <a:rPr lang="en-IN" b="1" dirty="0"/>
              <a:t>               </a:t>
            </a:r>
            <a:r>
              <a:rPr lang="en-IN" dirty="0"/>
              <a:t>P(A|B) = Posterior Probability </a:t>
            </a:r>
          </a:p>
          <a:p>
            <a:pPr algn="l"/>
            <a:r>
              <a:rPr lang="en-IN" dirty="0"/>
              <a:t>               P(B|A) = Likelihood </a:t>
            </a:r>
          </a:p>
          <a:p>
            <a:pPr algn="l"/>
            <a:r>
              <a:rPr lang="en-IN" dirty="0"/>
              <a:t>               P(A) = Prior Probability</a:t>
            </a:r>
          </a:p>
          <a:p>
            <a:pPr algn="l"/>
            <a:r>
              <a:rPr lang="en-IN" dirty="0"/>
              <a:t>               P(B) = Evidence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Advantages:</a:t>
            </a:r>
          </a:p>
          <a:p>
            <a:pPr algn="l"/>
            <a:r>
              <a:rPr lang="en-IN" dirty="0"/>
              <a:t>     Optimal classification </a:t>
            </a:r>
          </a:p>
          <a:p>
            <a:pPr algn="l"/>
            <a:r>
              <a:rPr lang="en-IN" dirty="0"/>
              <a:t>     Minimum probability of error</a:t>
            </a:r>
          </a:p>
          <a:p>
            <a:pPr algn="l"/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649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31E32BB-28D5-E12E-C64B-D6CF28680E52}"/>
                  </a:ext>
                </a:extLst>
              </p:cNvPr>
              <p:cNvSpPr txBox="1"/>
              <p:nvPr/>
            </p:nvSpPr>
            <p:spPr>
              <a:xfrm>
                <a:off x="261257" y="179830"/>
                <a:ext cx="8763777" cy="36933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If</a:t>
                </a:r>
              </a:p>
              <a:p>
                <a:pPr>
                  <a:buNone/>
                </a:pPr>
                <a:endParaRPr lang="en-IN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dirty="0"/>
                  <a:t>Classes follow Gaussian distribution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dirty="0"/>
                  <a:t>Equal covariance matrices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IN" dirty="0"/>
                  <a:t>Equal variance </a:t>
                </a:r>
              </a:p>
              <a:p>
                <a:pPr>
                  <a:buNone/>
                </a:pPr>
                <a:r>
                  <a:rPr lang="en-IN" dirty="0"/>
                  <a:t>Then</a:t>
                </a:r>
              </a:p>
              <a:p>
                <a:pPr>
                  <a:buNone/>
                </a:pPr>
                <a:endParaRPr lang="en-IN" dirty="0"/>
              </a:p>
              <a:p>
                <a:pPr>
                  <a:buNone/>
                </a:pPr>
                <a:r>
                  <a:rPr lang="en-IN" dirty="0"/>
                  <a:t>Bayesian classifier produces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𝑤𝑥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r>
                  <a:rPr lang="en-IN" dirty="0"/>
                  <a:t>Perceptron also classifies using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𝑁𝑒𝑡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𝑤𝑥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r>
                  <a:rPr lang="en-IN" dirty="0"/>
                  <a:t>Hence,</a:t>
                </a:r>
              </a:p>
              <a:p>
                <a:pPr>
                  <a:buNone/>
                </a:pPr>
                <a:r>
                  <a:rPr lang="en-IN" b="1" dirty="0"/>
                  <a:t>Both generate the same linear decision boundary.</a:t>
                </a:r>
                <a:endParaRPr lang="en-I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31E32BB-28D5-E12E-C64B-D6CF28680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57" y="179830"/>
                <a:ext cx="8763777" cy="3693319"/>
              </a:xfrm>
              <a:prstGeom prst="rect">
                <a:avLst/>
              </a:prstGeom>
              <a:blipFill>
                <a:blip r:embed="rId2"/>
                <a:stretch>
                  <a:fillRect l="-626" t="-825" b="-16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1455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C6CB3-A08C-1649-BFF7-45AF7D108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683EF-7936-3B70-A782-47174171D9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016" y="217714"/>
            <a:ext cx="12014984" cy="687776"/>
          </a:xfrm>
        </p:spPr>
        <p:txBody>
          <a:bodyPr>
            <a:noAutofit/>
          </a:bodyPr>
          <a:lstStyle/>
          <a:p>
            <a:pPr algn="l"/>
            <a:r>
              <a:rPr lang="en-IN" sz="2800" dirty="0"/>
              <a:t>Perceptron vs Bayes Classifier in Gaussian Environment</a:t>
            </a:r>
            <a:endParaRPr lang="en-IN" sz="280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5242DE-106C-E52E-A0FD-91493B6E08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4427" y="905490"/>
            <a:ext cx="11831482" cy="5352661"/>
          </a:xfrm>
        </p:spPr>
        <p:txBody>
          <a:bodyPr>
            <a:normAutofit/>
          </a:bodyPr>
          <a:lstStyle/>
          <a:p>
            <a:pPr algn="l"/>
            <a:r>
              <a:rPr lang="en-IN" sz="2000" dirty="0"/>
              <a:t>When classes follow Gaussian (Normal) distributions: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b="1" dirty="0"/>
              <a:t>Bayes Classifier:</a:t>
            </a:r>
            <a:r>
              <a:rPr lang="en-IN" sz="2000" dirty="0"/>
              <a:t> Classifies using </a:t>
            </a:r>
            <a:r>
              <a:rPr lang="en-IN" sz="2000" b="1" dirty="0"/>
              <a:t>probability</a:t>
            </a:r>
            <a:r>
              <a:rPr lang="en-IN" sz="2000" dirty="0"/>
              <a:t>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b="1" dirty="0"/>
              <a:t>Perceptron:</a:t>
            </a:r>
            <a:r>
              <a:rPr lang="en-IN" sz="2000" dirty="0"/>
              <a:t> Classifies using a </a:t>
            </a:r>
            <a:r>
              <a:rPr lang="en-IN" sz="2000" b="1" dirty="0"/>
              <a:t>learned decision boundary</a:t>
            </a:r>
            <a:r>
              <a:rPr lang="en-IN" sz="2000" dirty="0"/>
              <a:t>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In a </a:t>
            </a:r>
            <a:r>
              <a:rPr lang="en-IN" sz="2000" b="1" dirty="0"/>
              <a:t>Gaussian environment with linearly separable classes</a:t>
            </a:r>
            <a:r>
              <a:rPr lang="en-IN" sz="2000" dirty="0"/>
              <a:t>, both can produce similar linear decision boundaries, but the Bayes classifier represents the optimal probabilistic decision rule under its assumptions.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b="1" dirty="0"/>
              <a:t>Similarities:</a:t>
            </a:r>
          </a:p>
          <a:p>
            <a:pPr algn="l"/>
            <a:r>
              <a:rPr lang="en-IN" sz="2000" dirty="0"/>
              <a:t>        Both perform classification </a:t>
            </a:r>
          </a:p>
          <a:p>
            <a:pPr algn="l"/>
            <a:r>
              <a:rPr lang="en-IN" sz="2000" dirty="0"/>
              <a:t>        Produce decision boundaries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b="1" dirty="0"/>
              <a:t>Differences:</a:t>
            </a:r>
          </a:p>
          <a:p>
            <a:pPr algn="l"/>
            <a:endParaRPr lang="en-IN" dirty="0"/>
          </a:p>
          <a:p>
            <a:pPr algn="l"/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18D12C-E36E-87BA-A7A5-6CDAEF8253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458388"/>
              </p:ext>
            </p:extLst>
          </p:nvPr>
        </p:nvGraphicFramePr>
        <p:xfrm>
          <a:off x="2431794" y="5213370"/>
          <a:ext cx="8128000" cy="14782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812695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25808723"/>
                    </a:ext>
                  </a:extLst>
                </a:gridCol>
              </a:tblGrid>
              <a:tr h="338819">
                <a:tc>
                  <a:txBody>
                    <a:bodyPr/>
                    <a:lstStyle/>
                    <a:p>
                      <a:r>
                        <a:rPr lang="en-IN" dirty="0"/>
                        <a:t>PERCEPTRON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BAYES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0683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Learns from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Uses Probability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609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Iterative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Statistical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923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Liner separator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Optimal classifier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3116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4585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6A62CC-2ECF-9211-591F-F0A4C23BBAEF}"/>
              </a:ext>
            </a:extLst>
          </p:cNvPr>
          <p:cNvSpPr txBox="1"/>
          <p:nvPr/>
        </p:nvSpPr>
        <p:spPr>
          <a:xfrm>
            <a:off x="625151" y="1440443"/>
            <a:ext cx="10963469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sz="2400" dirty="0"/>
              <a:t>When two classes are Gaussian distributed with equal covariance, the Bayesian classifier gives a linear decision boundary. </a:t>
            </a:r>
          </a:p>
          <a:p>
            <a:endParaRPr lang="en-IN" sz="2400" dirty="0"/>
          </a:p>
          <a:p>
            <a:r>
              <a:rPr lang="en-IN" sz="2400" dirty="0"/>
              <a:t>The perceptron also learns a linear decision boundary. </a:t>
            </a:r>
          </a:p>
          <a:p>
            <a:endParaRPr lang="en-IN" sz="2400" dirty="0"/>
          </a:p>
          <a:p>
            <a:r>
              <a:rPr lang="en-IN" sz="2400" dirty="0"/>
              <a:t>Hence, both classifiers can produce similar classification boundaries under these conditions.</a:t>
            </a:r>
            <a:endParaRPr lang="en-IN" sz="2400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7439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9C47A-C2F6-C41D-9E75-FCA5E859D4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3000" y="254616"/>
            <a:ext cx="9001462" cy="837066"/>
          </a:xfrm>
        </p:spPr>
        <p:txBody>
          <a:bodyPr/>
          <a:lstStyle/>
          <a:p>
            <a:pPr algn="l"/>
            <a:r>
              <a:rPr lang="en-IN" dirty="0"/>
              <a:t>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0CD3B-0680-49E2-E83A-1CECF31E72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7645" y="1306706"/>
            <a:ext cx="9001462" cy="5038109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Neural Networks mimic the human brain.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Artificial neurons are basic building blocks.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Networks can be represented as directed graphs.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 Feedforward and feedback architectures exist.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Rosenblatt introduced the Perceptron.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Perceptron converges for linearly separable data.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Bayes classifier provides optimal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2056631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1690</TotalTime>
  <Words>2875</Words>
  <Application>Microsoft Office PowerPoint</Application>
  <PresentationFormat>Widescreen</PresentationFormat>
  <Paragraphs>532</Paragraphs>
  <Slides>49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6" baseType="lpstr">
      <vt:lpstr>Yu Gothic Medium</vt:lpstr>
      <vt:lpstr>Arial</vt:lpstr>
      <vt:lpstr>Bookman Old Style</vt:lpstr>
      <vt:lpstr>Calibri</vt:lpstr>
      <vt:lpstr>Cambria Math</vt:lpstr>
      <vt:lpstr>Rockwell</vt:lpstr>
      <vt:lpstr>Damask</vt:lpstr>
      <vt:lpstr>DEEP LEARNING MODULE:1</vt:lpstr>
      <vt:lpstr>LEARNING OBJECTIVES</vt:lpstr>
      <vt:lpstr>AI VS ML VS DL</vt:lpstr>
      <vt:lpstr>What is DL?</vt:lpstr>
      <vt:lpstr>What is Neural Network?</vt:lpstr>
      <vt:lpstr>HUMAN BRAIN as INSPIRATION</vt:lpstr>
      <vt:lpstr>BIOLOGICAL NEURON</vt:lpstr>
      <vt:lpstr>BENEFITS OF nn</vt:lpstr>
      <vt:lpstr>ARTIFICIAL NEURON MODEL</vt:lpstr>
      <vt:lpstr>PowerPoint Presentation</vt:lpstr>
      <vt:lpstr>types of activation model</vt:lpstr>
      <vt:lpstr>PowerPoint Presentation</vt:lpstr>
      <vt:lpstr>Why activation function needed?</vt:lpstr>
      <vt:lpstr>"If a deep neural network has 100 hidden layers but no activation function, will it be more powerful than a single-layer linear model?" </vt:lpstr>
      <vt:lpstr>Neural Networks as Directed Graphs</vt:lpstr>
      <vt:lpstr>PowerPoint Presentation</vt:lpstr>
      <vt:lpstr>Directed Graph Example</vt:lpstr>
      <vt:lpstr>WHY BIAS IS required?</vt:lpstr>
      <vt:lpstr>Feedback in Neural Networks</vt:lpstr>
      <vt:lpstr>Feedforward Network</vt:lpstr>
      <vt:lpstr>Feedback Network</vt:lpstr>
      <vt:lpstr>Network Architectures</vt:lpstr>
      <vt:lpstr>Types of Network Architecture</vt:lpstr>
      <vt:lpstr>Perceptron</vt:lpstr>
      <vt:lpstr>Rosenblatt's Perceptron</vt:lpstr>
      <vt:lpstr>Structure of Perceptron</vt:lpstr>
      <vt:lpstr>PowerPoint Presentation</vt:lpstr>
      <vt:lpstr>Perceptron Algorithm</vt:lpstr>
      <vt:lpstr>PowerPoint Presentation</vt:lpstr>
      <vt:lpstr>Example</vt:lpstr>
      <vt:lpstr>NUMERICALS ON PERCEPTRON </vt:lpstr>
      <vt:lpstr>         find the output of the perceptron. </vt:lpstr>
      <vt:lpstr>PERCEPTRON LEARNING ALGORITHM</vt:lpstr>
      <vt:lpstr>What is Learning Rate in a Perceptron/Neural Network</vt:lpstr>
      <vt:lpstr>WHY LEARNING RATE REQUIRED?</vt:lpstr>
      <vt:lpstr>HOW TO SOLVE ANY PERCEPTRON PROBLEM</vt:lpstr>
      <vt:lpstr>EXAMPLE</vt:lpstr>
      <vt:lpstr>PowerPoint Presentation</vt:lpstr>
      <vt:lpstr>PowerPoint Presentation</vt:lpstr>
      <vt:lpstr>PowerPoint Presentation</vt:lpstr>
      <vt:lpstr>Perceptron Convergence Theorem</vt:lpstr>
      <vt:lpstr>Example – XOR Problem</vt:lpstr>
      <vt:lpstr>Advantages &amp; Limitations of PLA</vt:lpstr>
      <vt:lpstr>REAL-LIFE EXAMPLE</vt:lpstr>
      <vt:lpstr>BAYES CLASSIFIER</vt:lpstr>
      <vt:lpstr>PowerPoint Presentation</vt:lpstr>
      <vt:lpstr>Perceptron vs Bayes Classifier in Gaussian Environment</vt:lpstr>
      <vt:lpstr>PowerPoint Presentation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Ranjani Pradeep</dc:creator>
  <cp:lastModifiedBy>Ranjani Pradeep</cp:lastModifiedBy>
  <cp:revision>130</cp:revision>
  <dcterms:created xsi:type="dcterms:W3CDTF">2026-06-12T03:57:05Z</dcterms:created>
  <dcterms:modified xsi:type="dcterms:W3CDTF">2026-07-30T03:32:03Z</dcterms:modified>
</cp:coreProperties>
</file>