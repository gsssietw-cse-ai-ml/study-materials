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67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58" r:id="rId14"/>
    <p:sldId id="259" r:id="rId15"/>
    <p:sldId id="260" r:id="rId16"/>
    <p:sldId id="272" r:id="rId17"/>
    <p:sldId id="273" r:id="rId18"/>
    <p:sldId id="274" r:id="rId19"/>
    <p:sldId id="275" r:id="rId20"/>
    <p:sldId id="278" r:id="rId21"/>
    <p:sldId id="279" r:id="rId22"/>
    <p:sldId id="276" r:id="rId23"/>
    <p:sldId id="277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5" r:id="rId49"/>
    <p:sldId id="304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#1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#2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#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CF4D3-179F-433B-A2BD-C747E1428A11}" type="doc">
      <dgm:prSet loTypeId="urn:microsoft.com/office/officeart/2008/layout/HexagonCluster" loCatId="relationship" qsTypeId="urn:microsoft.com/office/officeart/2005/8/quickstyle/simple1#1" qsCatId="simple" csTypeId="urn:microsoft.com/office/officeart/2005/8/colors/accent6_3#1" csCatId="accent6" phldr="1"/>
      <dgm:spPr/>
      <dgm:t>
        <a:bodyPr/>
        <a:lstStyle/>
        <a:p>
          <a:endParaRPr lang="en-IN"/>
        </a:p>
      </dgm:t>
    </dgm:pt>
    <dgm:pt modelId="{BD2703D5-86D6-49FE-A656-60BC1070289E}">
      <dgm:prSet phldrT="[Text]" phldr="0"/>
      <dgm:spPr/>
      <dgm:t>
        <a:bodyPr/>
        <a:lstStyle/>
        <a:p>
          <a:r>
            <a:rPr lang="en-US" dirty="0">
              <a:latin typeface="Agency FB" panose="020B0503020202020204" pitchFamily="34" charset="0"/>
            </a:rPr>
            <a:t>ERROR WHILE TESTING MODEL</a:t>
          </a:r>
          <a:endParaRPr lang="en-IN" dirty="0">
            <a:latin typeface="Agency FB" panose="020B0503020202020204" pitchFamily="34" charset="0"/>
          </a:endParaRPr>
        </a:p>
      </dgm:t>
    </dgm:pt>
    <dgm:pt modelId="{1F503D03-13CD-436A-9115-2365F0B61100}" type="parTrans" cxnId="{8479EA85-CEDE-41AA-90CF-2BA71AFDF2ED}">
      <dgm:prSet/>
      <dgm:spPr/>
      <dgm:t>
        <a:bodyPr/>
        <a:lstStyle/>
        <a:p>
          <a:endParaRPr lang="en-IN"/>
        </a:p>
      </dgm:t>
    </dgm:pt>
    <dgm:pt modelId="{48ED5973-A4E3-4D56-980D-781A0481838C}" type="sibTrans" cxnId="{8479EA85-CEDE-41AA-90CF-2BA71AFDF2E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Clockwise curve"/>
        </a:ext>
      </dgm:extLst>
    </dgm:pt>
    <dgm:pt modelId="{DE7DBCCC-1DD7-487E-BAE2-420687DF00AC}">
      <dgm:prSet phldrT="[Text]" phldr="0" custT="1"/>
      <dgm:spPr/>
      <dgm:t>
        <a:bodyPr/>
        <a:lstStyle/>
        <a:p>
          <a:r>
            <a:rPr lang="en-US" sz="4000" dirty="0">
              <a:latin typeface="Agency FB" panose="020B0503020202020204" pitchFamily="34" charset="0"/>
            </a:rPr>
            <a:t>ERROR WHILE TRAINING MODEL</a:t>
          </a:r>
          <a:endParaRPr lang="en-IN" sz="4000" dirty="0">
            <a:latin typeface="Agency FB" panose="020B0503020202020204" pitchFamily="34" charset="0"/>
          </a:endParaRPr>
        </a:p>
      </dgm:t>
    </dgm:pt>
    <dgm:pt modelId="{4A81D7A9-A508-4C87-B447-F70D0C31FA89}" type="parTrans" cxnId="{BCB0D422-AF16-4409-8C49-61501EC69E7D}">
      <dgm:prSet/>
      <dgm:spPr/>
      <dgm:t>
        <a:bodyPr/>
        <a:lstStyle/>
        <a:p>
          <a:endParaRPr lang="en-IN"/>
        </a:p>
      </dgm:t>
    </dgm:pt>
    <dgm:pt modelId="{1FB81B79-109B-47AF-9D9F-A212051645C7}" type="sibTrans" cxnId="{BCB0D422-AF16-4409-8C49-61501EC69E7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Rotate left"/>
        </a:ext>
      </dgm:extLst>
    </dgm:pt>
    <dgm:pt modelId="{901F7225-C847-488A-92C4-6F7FFA027F4B}" type="pres">
      <dgm:prSet presAssocID="{17CCF4D3-179F-433B-A2BD-C747E1428A11}" presName="Name0" presStyleCnt="0">
        <dgm:presLayoutVars>
          <dgm:chMax val="21"/>
          <dgm:chPref val="21"/>
        </dgm:presLayoutVars>
      </dgm:prSet>
      <dgm:spPr/>
    </dgm:pt>
    <dgm:pt modelId="{F557C439-2DD9-4DDC-B10F-F70DE4207380}" type="pres">
      <dgm:prSet presAssocID="{BD2703D5-86D6-49FE-A656-60BC1070289E}" presName="text1" presStyleCnt="0"/>
      <dgm:spPr/>
    </dgm:pt>
    <dgm:pt modelId="{D493A212-4395-44A5-8170-029DAD6246AB}" type="pres">
      <dgm:prSet presAssocID="{BD2703D5-86D6-49FE-A656-60BC1070289E}" presName="textRepeatNode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6924088-B053-4393-9AEC-88856D874AE1}" type="pres">
      <dgm:prSet presAssocID="{BD2703D5-86D6-49FE-A656-60BC1070289E}" presName="textaccent1" presStyleCnt="0"/>
      <dgm:spPr/>
    </dgm:pt>
    <dgm:pt modelId="{8E1A6B25-EDBA-4A23-9422-6CD2EC8EF42A}" type="pres">
      <dgm:prSet presAssocID="{BD2703D5-86D6-49FE-A656-60BC1070289E}" presName="accentRepeatNode" presStyleLbl="solidAlignAcc1" presStyleIdx="0" presStyleCnt="4"/>
      <dgm:spPr>
        <a:solidFill>
          <a:srgbClr val="FF0000"/>
        </a:solidFill>
      </dgm:spPr>
    </dgm:pt>
    <dgm:pt modelId="{776387CF-8BB8-4243-955F-0D9882911D73}" type="pres">
      <dgm:prSet presAssocID="{48ED5973-A4E3-4D56-980D-781A0481838C}" presName="image1" presStyleCnt="0"/>
      <dgm:spPr/>
    </dgm:pt>
    <dgm:pt modelId="{C56F15A7-BFEF-44FE-981D-BFA813CED6FE}" type="pres">
      <dgm:prSet presAssocID="{48ED5973-A4E3-4D56-980D-781A0481838C}" presName="imageRepeatNode" presStyleLbl="alignAcc1" presStyleIdx="0" presStyleCnt="2"/>
      <dgm:spPr/>
    </dgm:pt>
    <dgm:pt modelId="{F71A3582-E7AB-490B-AF3A-2E4BA66EBD54}" type="pres">
      <dgm:prSet presAssocID="{48ED5973-A4E3-4D56-980D-781A0481838C}" presName="imageaccent1" presStyleCnt="0"/>
      <dgm:spPr/>
    </dgm:pt>
    <dgm:pt modelId="{D075398D-B6E3-4F98-8CEB-7C0F7A2FE1E6}" type="pres">
      <dgm:prSet presAssocID="{48ED5973-A4E3-4D56-980D-781A0481838C}" presName="accentRepeatNode" presStyleLbl="solidAlignAcc1" presStyleIdx="1" presStyleCnt="4"/>
      <dgm:spPr>
        <a:solidFill>
          <a:srgbClr val="FF0000"/>
        </a:solidFill>
      </dgm:spPr>
    </dgm:pt>
    <dgm:pt modelId="{33E4CDDD-58A2-4779-9ACC-28B0B2464451}" type="pres">
      <dgm:prSet presAssocID="{DE7DBCCC-1DD7-487E-BAE2-420687DF00AC}" presName="text2" presStyleCnt="0"/>
      <dgm:spPr/>
    </dgm:pt>
    <dgm:pt modelId="{D87EF976-65B4-4404-B52A-2B79BCA1DE7D}" type="pres">
      <dgm:prSet presAssocID="{DE7DBCCC-1DD7-487E-BAE2-420687DF00AC}" presName="textRepeatNode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A0BC56D-06E1-4479-996D-B1F3D500ED3B}" type="pres">
      <dgm:prSet presAssocID="{DE7DBCCC-1DD7-487E-BAE2-420687DF00AC}" presName="textaccent2" presStyleCnt="0"/>
      <dgm:spPr/>
    </dgm:pt>
    <dgm:pt modelId="{E93D8D3B-DD6D-4F5D-8B05-ED9DE8F6B02A}" type="pres">
      <dgm:prSet presAssocID="{DE7DBCCC-1DD7-487E-BAE2-420687DF00AC}" presName="accentRepeatNode" presStyleLbl="solidAlignAcc1" presStyleIdx="2" presStyleCnt="4"/>
      <dgm:spPr>
        <a:solidFill>
          <a:srgbClr val="00B0F0"/>
        </a:solidFill>
      </dgm:spPr>
    </dgm:pt>
    <dgm:pt modelId="{2A42D7AE-9D38-4ADA-AB31-257846EC8530}" type="pres">
      <dgm:prSet presAssocID="{1FB81B79-109B-47AF-9D9F-A212051645C7}" presName="image2" presStyleCnt="0"/>
      <dgm:spPr/>
    </dgm:pt>
    <dgm:pt modelId="{D7696477-8562-4B7B-9A83-2226D1B67A7A}" type="pres">
      <dgm:prSet presAssocID="{1FB81B79-109B-47AF-9D9F-A212051645C7}" presName="imageRepeatNode" presStyleLbl="alignAcc1" presStyleIdx="1" presStyleCnt="2"/>
      <dgm:spPr/>
    </dgm:pt>
    <dgm:pt modelId="{4E89489F-4507-4ED6-A8F5-07DE3BD214F9}" type="pres">
      <dgm:prSet presAssocID="{1FB81B79-109B-47AF-9D9F-A212051645C7}" presName="imageaccent2" presStyleCnt="0"/>
      <dgm:spPr/>
    </dgm:pt>
    <dgm:pt modelId="{27951001-573B-46A9-9635-33786B86F1D3}" type="pres">
      <dgm:prSet presAssocID="{1FB81B79-109B-47AF-9D9F-A212051645C7}" presName="accentRepeatNode" presStyleLbl="solidAlignAcc1" presStyleIdx="3" presStyleCnt="4"/>
      <dgm:spPr>
        <a:solidFill>
          <a:srgbClr val="00B0F0"/>
        </a:solidFill>
      </dgm:spPr>
    </dgm:pt>
  </dgm:ptLst>
  <dgm:cxnLst>
    <dgm:cxn modelId="{BCB0D422-AF16-4409-8C49-61501EC69E7D}" srcId="{17CCF4D3-179F-433B-A2BD-C747E1428A11}" destId="{DE7DBCCC-1DD7-487E-BAE2-420687DF00AC}" srcOrd="1" destOrd="0" parTransId="{4A81D7A9-A508-4C87-B447-F70D0C31FA89}" sibTransId="{1FB81B79-109B-47AF-9D9F-A212051645C7}"/>
    <dgm:cxn modelId="{390E5B32-5B6D-48E6-9450-FF0663F1C2AF}" type="presOf" srcId="{48ED5973-A4E3-4D56-980D-781A0481838C}" destId="{C56F15A7-BFEF-44FE-981D-BFA813CED6FE}" srcOrd="0" destOrd="0" presId="urn:microsoft.com/office/officeart/2008/layout/HexagonCluster"/>
    <dgm:cxn modelId="{597E6736-FE73-4580-907B-2160085F5D0E}" type="presOf" srcId="{DE7DBCCC-1DD7-487E-BAE2-420687DF00AC}" destId="{D87EF976-65B4-4404-B52A-2B79BCA1DE7D}" srcOrd="0" destOrd="0" presId="urn:microsoft.com/office/officeart/2008/layout/HexagonCluster"/>
    <dgm:cxn modelId="{D4D70655-126C-47C9-983B-2B32BA4A8658}" type="presOf" srcId="{BD2703D5-86D6-49FE-A656-60BC1070289E}" destId="{D493A212-4395-44A5-8170-029DAD6246AB}" srcOrd="0" destOrd="0" presId="urn:microsoft.com/office/officeart/2008/layout/HexagonCluster"/>
    <dgm:cxn modelId="{8479EA85-CEDE-41AA-90CF-2BA71AFDF2ED}" srcId="{17CCF4D3-179F-433B-A2BD-C747E1428A11}" destId="{BD2703D5-86D6-49FE-A656-60BC1070289E}" srcOrd="0" destOrd="0" parTransId="{1F503D03-13CD-436A-9115-2365F0B61100}" sibTransId="{48ED5973-A4E3-4D56-980D-781A0481838C}"/>
    <dgm:cxn modelId="{5591DC89-9C63-41CF-8569-3F5406F8987E}" type="presOf" srcId="{17CCF4D3-179F-433B-A2BD-C747E1428A11}" destId="{901F7225-C847-488A-92C4-6F7FFA027F4B}" srcOrd="0" destOrd="0" presId="urn:microsoft.com/office/officeart/2008/layout/HexagonCluster"/>
    <dgm:cxn modelId="{25DEDED1-3FC3-4061-A987-7B71D9B62109}" type="presOf" srcId="{1FB81B79-109B-47AF-9D9F-A212051645C7}" destId="{D7696477-8562-4B7B-9A83-2226D1B67A7A}" srcOrd="0" destOrd="0" presId="urn:microsoft.com/office/officeart/2008/layout/HexagonCluster"/>
    <dgm:cxn modelId="{19EC8A15-480A-4655-887E-AA22F1B58EA9}" type="presParOf" srcId="{901F7225-C847-488A-92C4-6F7FFA027F4B}" destId="{F557C439-2DD9-4DDC-B10F-F70DE4207380}" srcOrd="0" destOrd="0" presId="urn:microsoft.com/office/officeart/2008/layout/HexagonCluster"/>
    <dgm:cxn modelId="{DBDF1A1E-B472-476C-9927-BEB7AC0F53D9}" type="presParOf" srcId="{F557C439-2DD9-4DDC-B10F-F70DE4207380}" destId="{D493A212-4395-44A5-8170-029DAD6246AB}" srcOrd="0" destOrd="0" presId="urn:microsoft.com/office/officeart/2008/layout/HexagonCluster"/>
    <dgm:cxn modelId="{55D10055-B9DF-406C-BD40-914D7BB45502}" type="presParOf" srcId="{901F7225-C847-488A-92C4-6F7FFA027F4B}" destId="{26924088-B053-4393-9AEC-88856D874AE1}" srcOrd="1" destOrd="0" presId="urn:microsoft.com/office/officeart/2008/layout/HexagonCluster"/>
    <dgm:cxn modelId="{B59EF5A1-40D9-4888-8212-24E83F781CF6}" type="presParOf" srcId="{26924088-B053-4393-9AEC-88856D874AE1}" destId="{8E1A6B25-EDBA-4A23-9422-6CD2EC8EF42A}" srcOrd="0" destOrd="0" presId="urn:microsoft.com/office/officeart/2008/layout/HexagonCluster"/>
    <dgm:cxn modelId="{A31B3405-E479-4652-9603-0480CC28ABD6}" type="presParOf" srcId="{901F7225-C847-488A-92C4-6F7FFA027F4B}" destId="{776387CF-8BB8-4243-955F-0D9882911D73}" srcOrd="2" destOrd="0" presId="urn:microsoft.com/office/officeart/2008/layout/HexagonCluster"/>
    <dgm:cxn modelId="{01E02092-4784-4C15-82F0-A23321487BD8}" type="presParOf" srcId="{776387CF-8BB8-4243-955F-0D9882911D73}" destId="{C56F15A7-BFEF-44FE-981D-BFA813CED6FE}" srcOrd="0" destOrd="0" presId="urn:microsoft.com/office/officeart/2008/layout/HexagonCluster"/>
    <dgm:cxn modelId="{FA8BB1FF-4363-409B-859F-CC49A612D349}" type="presParOf" srcId="{901F7225-C847-488A-92C4-6F7FFA027F4B}" destId="{F71A3582-E7AB-490B-AF3A-2E4BA66EBD54}" srcOrd="3" destOrd="0" presId="urn:microsoft.com/office/officeart/2008/layout/HexagonCluster"/>
    <dgm:cxn modelId="{6C3140C2-EF0C-416C-B7AF-4E45FEDA42AF}" type="presParOf" srcId="{F71A3582-E7AB-490B-AF3A-2E4BA66EBD54}" destId="{D075398D-B6E3-4F98-8CEB-7C0F7A2FE1E6}" srcOrd="0" destOrd="0" presId="urn:microsoft.com/office/officeart/2008/layout/HexagonCluster"/>
    <dgm:cxn modelId="{7ABDB8FE-F994-4C86-868D-6DF4CA70DD57}" type="presParOf" srcId="{901F7225-C847-488A-92C4-6F7FFA027F4B}" destId="{33E4CDDD-58A2-4779-9ACC-28B0B2464451}" srcOrd="4" destOrd="0" presId="urn:microsoft.com/office/officeart/2008/layout/HexagonCluster"/>
    <dgm:cxn modelId="{80BFEF4E-C1B2-4325-8CE5-E60DA32032F7}" type="presParOf" srcId="{33E4CDDD-58A2-4779-9ACC-28B0B2464451}" destId="{D87EF976-65B4-4404-B52A-2B79BCA1DE7D}" srcOrd="0" destOrd="0" presId="urn:microsoft.com/office/officeart/2008/layout/HexagonCluster"/>
    <dgm:cxn modelId="{1F89745D-D1E4-4969-A523-CFCF80DAAFA1}" type="presParOf" srcId="{901F7225-C847-488A-92C4-6F7FFA027F4B}" destId="{EA0BC56D-06E1-4479-996D-B1F3D500ED3B}" srcOrd="5" destOrd="0" presId="urn:microsoft.com/office/officeart/2008/layout/HexagonCluster"/>
    <dgm:cxn modelId="{D7D87720-9213-476A-A1D4-1BC69BB11A66}" type="presParOf" srcId="{EA0BC56D-06E1-4479-996D-B1F3D500ED3B}" destId="{E93D8D3B-DD6D-4F5D-8B05-ED9DE8F6B02A}" srcOrd="0" destOrd="0" presId="urn:microsoft.com/office/officeart/2008/layout/HexagonCluster"/>
    <dgm:cxn modelId="{1CF145EC-4DE8-45D7-9586-5120022DE402}" type="presParOf" srcId="{901F7225-C847-488A-92C4-6F7FFA027F4B}" destId="{2A42D7AE-9D38-4ADA-AB31-257846EC8530}" srcOrd="6" destOrd="0" presId="urn:microsoft.com/office/officeart/2008/layout/HexagonCluster"/>
    <dgm:cxn modelId="{AD69CD99-7E81-4D09-B7B6-8EE2A739F09C}" type="presParOf" srcId="{2A42D7AE-9D38-4ADA-AB31-257846EC8530}" destId="{D7696477-8562-4B7B-9A83-2226D1B67A7A}" srcOrd="0" destOrd="0" presId="urn:microsoft.com/office/officeart/2008/layout/HexagonCluster"/>
    <dgm:cxn modelId="{79A5CA68-0E8B-4CF7-BD4B-E71062F69459}" type="presParOf" srcId="{901F7225-C847-488A-92C4-6F7FFA027F4B}" destId="{4E89489F-4507-4ED6-A8F5-07DE3BD214F9}" srcOrd="7" destOrd="0" presId="urn:microsoft.com/office/officeart/2008/layout/HexagonCluster"/>
    <dgm:cxn modelId="{758459BE-F340-4314-B3FE-EE9627CE4E67}" type="presParOf" srcId="{4E89489F-4507-4ED6-A8F5-07DE3BD214F9}" destId="{27951001-573B-46A9-9635-33786B86F1D3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CCF4D3-179F-433B-A2BD-C747E1428A11}" type="doc">
      <dgm:prSet loTypeId="urn:microsoft.com/office/officeart/2008/layout/HexagonCluster" loCatId="relationship" qsTypeId="urn:microsoft.com/office/officeart/2005/8/quickstyle/simple1#2" qsCatId="simple" csTypeId="urn:microsoft.com/office/officeart/2005/8/colors/accent6_3#2" csCatId="accent6" phldr="1"/>
      <dgm:spPr/>
      <dgm:t>
        <a:bodyPr/>
        <a:lstStyle/>
        <a:p>
          <a:endParaRPr lang="en-IN"/>
        </a:p>
      </dgm:t>
    </dgm:pt>
    <dgm:pt modelId="{BD2703D5-86D6-49FE-A656-60BC1070289E}">
      <dgm:prSet phldrT="[Text]" phldr="0"/>
      <dgm:spPr/>
      <dgm:t>
        <a:bodyPr/>
        <a:lstStyle/>
        <a:p>
          <a:r>
            <a:rPr lang="en-US">
              <a:latin typeface="Agency FB" panose="020B0503020202020204" pitchFamily="34" charset="0"/>
            </a:rPr>
            <a:t>ERROR WHILE TESTING MODEL</a:t>
          </a:r>
          <a:endParaRPr lang="en-IN" dirty="0">
            <a:latin typeface="Agency FB" panose="020B0503020202020204" pitchFamily="34" charset="0"/>
          </a:endParaRPr>
        </a:p>
      </dgm:t>
    </dgm:pt>
    <dgm:pt modelId="{1F503D03-13CD-436A-9115-2365F0B61100}" type="parTrans" cxnId="{8479EA85-CEDE-41AA-90CF-2BA71AFDF2ED}">
      <dgm:prSet/>
      <dgm:spPr/>
      <dgm:t>
        <a:bodyPr/>
        <a:lstStyle/>
        <a:p>
          <a:endParaRPr lang="en-IN"/>
        </a:p>
      </dgm:t>
    </dgm:pt>
    <dgm:pt modelId="{48ED5973-A4E3-4D56-980D-781A0481838C}" type="sibTrans" cxnId="{8479EA85-CEDE-41AA-90CF-2BA71AFDF2E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Rotate left"/>
        </a:ext>
      </dgm:extLst>
    </dgm:pt>
    <dgm:pt modelId="{85360253-7657-4D7F-BC88-D0732C538C14}">
      <dgm:prSet phldrT="[Text]" phldr="0" custT="1"/>
      <dgm:spPr/>
      <dgm:t>
        <a:bodyPr/>
        <a:lstStyle/>
        <a:p>
          <a:r>
            <a:rPr lang="en-US" sz="2800" dirty="0">
              <a:latin typeface="Agency FB" panose="020B0503020202020204" pitchFamily="34" charset="0"/>
            </a:rPr>
            <a:t>GOOD FIT</a:t>
          </a:r>
          <a:endParaRPr lang="en-IN" sz="2800" dirty="0">
            <a:latin typeface="Agency FB" panose="020B0503020202020204" pitchFamily="34" charset="0"/>
          </a:endParaRPr>
        </a:p>
      </dgm:t>
    </dgm:pt>
    <dgm:pt modelId="{D2C5A964-02B8-4024-81BC-FC9AA43FF2C6}" type="parTrans" cxnId="{F3D3E2E1-A142-4DBF-809D-521AF43BA73C}">
      <dgm:prSet/>
      <dgm:spPr/>
      <dgm:t>
        <a:bodyPr/>
        <a:lstStyle/>
        <a:p>
          <a:endParaRPr lang="en-IN"/>
        </a:p>
      </dgm:t>
    </dgm:pt>
    <dgm:pt modelId="{24A606AA-2111-4A80-8A24-4DC94420B923}" type="sibTrans" cxnId="{F3D3E2E1-A142-4DBF-809D-521AF43BA73C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Clockwise curve"/>
        </a:ext>
      </dgm:extLst>
    </dgm:pt>
    <dgm:pt modelId="{DE7DBCCC-1DD7-487E-BAE2-420687DF00AC}">
      <dgm:prSet phldrT="[Text]" phldr="0" custT="1"/>
      <dgm:spPr/>
      <dgm:t>
        <a:bodyPr/>
        <a:lstStyle/>
        <a:p>
          <a:r>
            <a:rPr lang="en-US" sz="2800">
              <a:latin typeface="Agency FB" panose="020B0503020202020204" pitchFamily="34" charset="0"/>
            </a:rPr>
            <a:t>ERROR WHILE TRAINING MODEL</a:t>
          </a:r>
          <a:endParaRPr lang="en-IN" sz="2800" dirty="0">
            <a:latin typeface="Agency FB" panose="020B0503020202020204" pitchFamily="34" charset="0"/>
          </a:endParaRPr>
        </a:p>
      </dgm:t>
    </dgm:pt>
    <dgm:pt modelId="{4A81D7A9-A508-4C87-B447-F70D0C31FA89}" type="parTrans" cxnId="{BCB0D422-AF16-4409-8C49-61501EC69E7D}">
      <dgm:prSet/>
      <dgm:spPr/>
      <dgm:t>
        <a:bodyPr/>
        <a:lstStyle/>
        <a:p>
          <a:endParaRPr lang="en-IN"/>
        </a:p>
      </dgm:t>
    </dgm:pt>
    <dgm:pt modelId="{1FB81B79-109B-47AF-9D9F-A212051645C7}" type="sibTrans" cxnId="{BCB0D422-AF16-4409-8C49-61501EC69E7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Rotate left"/>
        </a:ext>
      </dgm:extLst>
    </dgm:pt>
    <dgm:pt modelId="{901F7225-C847-488A-92C4-6F7FFA027F4B}" type="pres">
      <dgm:prSet presAssocID="{17CCF4D3-179F-433B-A2BD-C747E1428A11}" presName="Name0" presStyleCnt="0">
        <dgm:presLayoutVars>
          <dgm:chMax val="21"/>
          <dgm:chPref val="21"/>
        </dgm:presLayoutVars>
      </dgm:prSet>
      <dgm:spPr/>
    </dgm:pt>
    <dgm:pt modelId="{F557C439-2DD9-4DDC-B10F-F70DE4207380}" type="pres">
      <dgm:prSet presAssocID="{BD2703D5-86D6-49FE-A656-60BC1070289E}" presName="text1" presStyleCnt="0"/>
      <dgm:spPr/>
    </dgm:pt>
    <dgm:pt modelId="{D493A212-4395-44A5-8170-029DAD6246AB}" type="pres">
      <dgm:prSet presAssocID="{BD2703D5-86D6-49FE-A656-60BC1070289E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6924088-B053-4393-9AEC-88856D874AE1}" type="pres">
      <dgm:prSet presAssocID="{BD2703D5-86D6-49FE-A656-60BC1070289E}" presName="textaccent1" presStyleCnt="0"/>
      <dgm:spPr/>
    </dgm:pt>
    <dgm:pt modelId="{8E1A6B25-EDBA-4A23-9422-6CD2EC8EF42A}" type="pres">
      <dgm:prSet presAssocID="{BD2703D5-86D6-49FE-A656-60BC1070289E}" presName="accentRepeatNode" presStyleLbl="solidAlignAcc1" presStyleIdx="0" presStyleCnt="6"/>
      <dgm:spPr>
        <a:solidFill>
          <a:srgbClr val="FF0000"/>
        </a:solidFill>
      </dgm:spPr>
    </dgm:pt>
    <dgm:pt modelId="{776387CF-8BB8-4243-955F-0D9882911D73}" type="pres">
      <dgm:prSet presAssocID="{48ED5973-A4E3-4D56-980D-781A0481838C}" presName="image1" presStyleCnt="0"/>
      <dgm:spPr/>
    </dgm:pt>
    <dgm:pt modelId="{C56F15A7-BFEF-44FE-981D-BFA813CED6FE}" type="pres">
      <dgm:prSet presAssocID="{48ED5973-A4E3-4D56-980D-781A0481838C}" presName="imageRepeatNode" presStyleLbl="alignAcc1" presStyleIdx="0" presStyleCnt="3"/>
      <dgm:spPr/>
    </dgm:pt>
    <dgm:pt modelId="{F71A3582-E7AB-490B-AF3A-2E4BA66EBD54}" type="pres">
      <dgm:prSet presAssocID="{48ED5973-A4E3-4D56-980D-781A0481838C}" presName="imageaccent1" presStyleCnt="0"/>
      <dgm:spPr/>
    </dgm:pt>
    <dgm:pt modelId="{D075398D-B6E3-4F98-8CEB-7C0F7A2FE1E6}" type="pres">
      <dgm:prSet presAssocID="{48ED5973-A4E3-4D56-980D-781A0481838C}" presName="accentRepeatNode" presStyleLbl="solidAlignAcc1" presStyleIdx="1" presStyleCnt="6"/>
      <dgm:spPr>
        <a:solidFill>
          <a:srgbClr val="FF0000"/>
        </a:solidFill>
      </dgm:spPr>
    </dgm:pt>
    <dgm:pt modelId="{23615B2A-92D0-49C3-A243-807EF16BE3E9}" type="pres">
      <dgm:prSet presAssocID="{85360253-7657-4D7F-BC88-D0732C538C14}" presName="text2" presStyleCnt="0"/>
      <dgm:spPr/>
    </dgm:pt>
    <dgm:pt modelId="{BF41A161-EAE6-4138-B898-4D21D4A580FA}" type="pres">
      <dgm:prSet presAssocID="{85360253-7657-4D7F-BC88-D0732C538C14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DCC3301-38AC-4C2F-97F8-45B37A641941}" type="pres">
      <dgm:prSet presAssocID="{85360253-7657-4D7F-BC88-D0732C538C14}" presName="textaccent2" presStyleCnt="0"/>
      <dgm:spPr/>
    </dgm:pt>
    <dgm:pt modelId="{E7B3F8B6-D461-4987-9562-FA9BFB5824B9}" type="pres">
      <dgm:prSet presAssocID="{85360253-7657-4D7F-BC88-D0732C538C14}" presName="accentRepeatNode" presStyleLbl="solidAlignAcc1" presStyleIdx="2" presStyleCnt="6"/>
      <dgm:spPr>
        <a:solidFill>
          <a:srgbClr val="FFFF00"/>
        </a:solidFill>
      </dgm:spPr>
    </dgm:pt>
    <dgm:pt modelId="{665D647C-13FD-483F-ACAD-3562AADA8391}" type="pres">
      <dgm:prSet presAssocID="{24A606AA-2111-4A80-8A24-4DC94420B923}" presName="image2" presStyleCnt="0"/>
      <dgm:spPr/>
    </dgm:pt>
    <dgm:pt modelId="{A776060B-5503-4185-BF89-7E84D2A27F62}" type="pres">
      <dgm:prSet presAssocID="{24A606AA-2111-4A80-8A24-4DC94420B923}" presName="imageRepeatNode" presStyleLbl="alignAcc1" presStyleIdx="1" presStyleCnt="3"/>
      <dgm:spPr/>
    </dgm:pt>
    <dgm:pt modelId="{E0FCA4B1-6E8F-4278-96E5-9AB9AE66E090}" type="pres">
      <dgm:prSet presAssocID="{24A606AA-2111-4A80-8A24-4DC94420B923}" presName="imageaccent2" presStyleCnt="0"/>
      <dgm:spPr/>
    </dgm:pt>
    <dgm:pt modelId="{200BF3B8-9AD4-4AB6-8CD5-3A47DBCAFE30}" type="pres">
      <dgm:prSet presAssocID="{24A606AA-2111-4A80-8A24-4DC94420B923}" presName="accentRepeatNode" presStyleLbl="solidAlignAcc1" presStyleIdx="3" presStyleCnt="6"/>
      <dgm:spPr>
        <a:solidFill>
          <a:srgbClr val="FFFF00"/>
        </a:solidFill>
      </dgm:spPr>
    </dgm:pt>
    <dgm:pt modelId="{0907DE48-C1A8-4610-857E-2D73BEF4A9CC}" type="pres">
      <dgm:prSet presAssocID="{DE7DBCCC-1DD7-487E-BAE2-420687DF00AC}" presName="text3" presStyleCnt="0"/>
      <dgm:spPr/>
    </dgm:pt>
    <dgm:pt modelId="{D87EF976-65B4-4404-B52A-2B79BCA1DE7D}" type="pres">
      <dgm:prSet presAssocID="{DE7DBCCC-1DD7-487E-BAE2-420687DF00AC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E0C7464-0BE4-4E9E-B841-20164DB10AC5}" type="pres">
      <dgm:prSet presAssocID="{DE7DBCCC-1DD7-487E-BAE2-420687DF00AC}" presName="textaccent3" presStyleCnt="0"/>
      <dgm:spPr/>
    </dgm:pt>
    <dgm:pt modelId="{E93D8D3B-DD6D-4F5D-8B05-ED9DE8F6B02A}" type="pres">
      <dgm:prSet presAssocID="{DE7DBCCC-1DD7-487E-BAE2-420687DF00AC}" presName="accentRepeatNode" presStyleLbl="solidAlignAcc1" presStyleIdx="4" presStyleCnt="6"/>
      <dgm:spPr>
        <a:solidFill>
          <a:srgbClr val="00B0F0"/>
        </a:solidFill>
      </dgm:spPr>
    </dgm:pt>
    <dgm:pt modelId="{481CCF3E-1885-49CA-BFA0-6234BCA40B54}" type="pres">
      <dgm:prSet presAssocID="{1FB81B79-109B-47AF-9D9F-A212051645C7}" presName="image3" presStyleCnt="0"/>
      <dgm:spPr/>
    </dgm:pt>
    <dgm:pt modelId="{D7696477-8562-4B7B-9A83-2226D1B67A7A}" type="pres">
      <dgm:prSet presAssocID="{1FB81B79-109B-47AF-9D9F-A212051645C7}" presName="imageRepeatNode" presStyleLbl="alignAcc1" presStyleIdx="2" presStyleCnt="3"/>
      <dgm:spPr/>
    </dgm:pt>
    <dgm:pt modelId="{72D8A3FA-A0EF-4B4C-989F-1FE7FB176A15}" type="pres">
      <dgm:prSet presAssocID="{1FB81B79-109B-47AF-9D9F-A212051645C7}" presName="imageaccent3" presStyleCnt="0"/>
      <dgm:spPr/>
    </dgm:pt>
    <dgm:pt modelId="{27951001-573B-46A9-9635-33786B86F1D3}" type="pres">
      <dgm:prSet presAssocID="{1FB81B79-109B-47AF-9D9F-A212051645C7}" presName="accentRepeatNode" presStyleLbl="solidAlignAcc1" presStyleIdx="5" presStyleCnt="6"/>
      <dgm:spPr>
        <a:solidFill>
          <a:schemeClr val="accent1"/>
        </a:solidFill>
      </dgm:spPr>
    </dgm:pt>
  </dgm:ptLst>
  <dgm:cxnLst>
    <dgm:cxn modelId="{BCB0D422-AF16-4409-8C49-61501EC69E7D}" srcId="{17CCF4D3-179F-433B-A2BD-C747E1428A11}" destId="{DE7DBCCC-1DD7-487E-BAE2-420687DF00AC}" srcOrd="2" destOrd="0" parTransId="{4A81D7A9-A508-4C87-B447-F70D0C31FA89}" sibTransId="{1FB81B79-109B-47AF-9D9F-A212051645C7}"/>
    <dgm:cxn modelId="{390E5B32-5B6D-48E6-9450-FF0663F1C2AF}" type="presOf" srcId="{48ED5973-A4E3-4D56-980D-781A0481838C}" destId="{C56F15A7-BFEF-44FE-981D-BFA813CED6FE}" srcOrd="0" destOrd="0" presId="urn:microsoft.com/office/officeart/2008/layout/HexagonCluster"/>
    <dgm:cxn modelId="{D4D70655-126C-47C9-983B-2B32BA4A8658}" type="presOf" srcId="{BD2703D5-86D6-49FE-A656-60BC1070289E}" destId="{D493A212-4395-44A5-8170-029DAD6246AB}" srcOrd="0" destOrd="0" presId="urn:microsoft.com/office/officeart/2008/layout/HexagonCluster"/>
    <dgm:cxn modelId="{7B2CC680-8A14-4F65-9E55-0BD42E829CD9}" type="presOf" srcId="{DE7DBCCC-1DD7-487E-BAE2-420687DF00AC}" destId="{D87EF976-65B4-4404-B52A-2B79BCA1DE7D}" srcOrd="0" destOrd="0" presId="urn:microsoft.com/office/officeart/2008/layout/HexagonCluster"/>
    <dgm:cxn modelId="{8479EA85-CEDE-41AA-90CF-2BA71AFDF2ED}" srcId="{17CCF4D3-179F-433B-A2BD-C747E1428A11}" destId="{BD2703D5-86D6-49FE-A656-60BC1070289E}" srcOrd="0" destOrd="0" parTransId="{1F503D03-13CD-436A-9115-2365F0B61100}" sibTransId="{48ED5973-A4E3-4D56-980D-781A0481838C}"/>
    <dgm:cxn modelId="{5591DC89-9C63-41CF-8569-3F5406F8987E}" type="presOf" srcId="{17CCF4D3-179F-433B-A2BD-C747E1428A11}" destId="{901F7225-C847-488A-92C4-6F7FFA027F4B}" srcOrd="0" destOrd="0" presId="urn:microsoft.com/office/officeart/2008/layout/HexagonCluster"/>
    <dgm:cxn modelId="{5F5F1A8C-0EFC-4229-B620-589319800012}" type="presOf" srcId="{85360253-7657-4D7F-BC88-D0732C538C14}" destId="{BF41A161-EAE6-4138-B898-4D21D4A580FA}" srcOrd="0" destOrd="0" presId="urn:microsoft.com/office/officeart/2008/layout/HexagonCluster"/>
    <dgm:cxn modelId="{DEB880A7-74D5-428F-BF68-6D3AEFB794D0}" type="presOf" srcId="{1FB81B79-109B-47AF-9D9F-A212051645C7}" destId="{D7696477-8562-4B7B-9A83-2226D1B67A7A}" srcOrd="0" destOrd="0" presId="urn:microsoft.com/office/officeart/2008/layout/HexagonCluster"/>
    <dgm:cxn modelId="{03733BE0-84B8-44C9-9195-17FC89BEDAF4}" type="presOf" srcId="{24A606AA-2111-4A80-8A24-4DC94420B923}" destId="{A776060B-5503-4185-BF89-7E84D2A27F62}" srcOrd="0" destOrd="0" presId="urn:microsoft.com/office/officeart/2008/layout/HexagonCluster"/>
    <dgm:cxn modelId="{F3D3E2E1-A142-4DBF-809D-521AF43BA73C}" srcId="{17CCF4D3-179F-433B-A2BD-C747E1428A11}" destId="{85360253-7657-4D7F-BC88-D0732C538C14}" srcOrd="1" destOrd="0" parTransId="{D2C5A964-02B8-4024-81BC-FC9AA43FF2C6}" sibTransId="{24A606AA-2111-4A80-8A24-4DC94420B923}"/>
    <dgm:cxn modelId="{19EC8A15-480A-4655-887E-AA22F1B58EA9}" type="presParOf" srcId="{901F7225-C847-488A-92C4-6F7FFA027F4B}" destId="{F557C439-2DD9-4DDC-B10F-F70DE4207380}" srcOrd="0" destOrd="0" presId="urn:microsoft.com/office/officeart/2008/layout/HexagonCluster"/>
    <dgm:cxn modelId="{DBDF1A1E-B472-476C-9927-BEB7AC0F53D9}" type="presParOf" srcId="{F557C439-2DD9-4DDC-B10F-F70DE4207380}" destId="{D493A212-4395-44A5-8170-029DAD6246AB}" srcOrd="0" destOrd="0" presId="urn:microsoft.com/office/officeart/2008/layout/HexagonCluster"/>
    <dgm:cxn modelId="{55D10055-B9DF-406C-BD40-914D7BB45502}" type="presParOf" srcId="{901F7225-C847-488A-92C4-6F7FFA027F4B}" destId="{26924088-B053-4393-9AEC-88856D874AE1}" srcOrd="1" destOrd="0" presId="urn:microsoft.com/office/officeart/2008/layout/HexagonCluster"/>
    <dgm:cxn modelId="{B59EF5A1-40D9-4888-8212-24E83F781CF6}" type="presParOf" srcId="{26924088-B053-4393-9AEC-88856D874AE1}" destId="{8E1A6B25-EDBA-4A23-9422-6CD2EC8EF42A}" srcOrd="0" destOrd="0" presId="urn:microsoft.com/office/officeart/2008/layout/HexagonCluster"/>
    <dgm:cxn modelId="{A31B3405-E479-4652-9603-0480CC28ABD6}" type="presParOf" srcId="{901F7225-C847-488A-92C4-6F7FFA027F4B}" destId="{776387CF-8BB8-4243-955F-0D9882911D73}" srcOrd="2" destOrd="0" presId="urn:microsoft.com/office/officeart/2008/layout/HexagonCluster"/>
    <dgm:cxn modelId="{01E02092-4784-4C15-82F0-A23321487BD8}" type="presParOf" srcId="{776387CF-8BB8-4243-955F-0D9882911D73}" destId="{C56F15A7-BFEF-44FE-981D-BFA813CED6FE}" srcOrd="0" destOrd="0" presId="urn:microsoft.com/office/officeart/2008/layout/HexagonCluster"/>
    <dgm:cxn modelId="{FA8BB1FF-4363-409B-859F-CC49A612D349}" type="presParOf" srcId="{901F7225-C847-488A-92C4-6F7FFA027F4B}" destId="{F71A3582-E7AB-490B-AF3A-2E4BA66EBD54}" srcOrd="3" destOrd="0" presId="urn:microsoft.com/office/officeart/2008/layout/HexagonCluster"/>
    <dgm:cxn modelId="{6C3140C2-EF0C-416C-B7AF-4E45FEDA42AF}" type="presParOf" srcId="{F71A3582-E7AB-490B-AF3A-2E4BA66EBD54}" destId="{D075398D-B6E3-4F98-8CEB-7C0F7A2FE1E6}" srcOrd="0" destOrd="0" presId="urn:microsoft.com/office/officeart/2008/layout/HexagonCluster"/>
    <dgm:cxn modelId="{99D320EB-30C2-4B22-A7F1-1F0E89D41FAA}" type="presParOf" srcId="{901F7225-C847-488A-92C4-6F7FFA027F4B}" destId="{23615B2A-92D0-49C3-A243-807EF16BE3E9}" srcOrd="4" destOrd="0" presId="urn:microsoft.com/office/officeart/2008/layout/HexagonCluster"/>
    <dgm:cxn modelId="{EC4812C7-94C0-4684-933C-2E7B58C3C133}" type="presParOf" srcId="{23615B2A-92D0-49C3-A243-807EF16BE3E9}" destId="{BF41A161-EAE6-4138-B898-4D21D4A580FA}" srcOrd="0" destOrd="0" presId="urn:microsoft.com/office/officeart/2008/layout/HexagonCluster"/>
    <dgm:cxn modelId="{AE0E7363-DB64-4BDD-9483-3FF3C727EE38}" type="presParOf" srcId="{901F7225-C847-488A-92C4-6F7FFA027F4B}" destId="{EDCC3301-38AC-4C2F-97F8-45B37A641941}" srcOrd="5" destOrd="0" presId="urn:microsoft.com/office/officeart/2008/layout/HexagonCluster"/>
    <dgm:cxn modelId="{ECAC3538-B0AF-4931-98FC-FF67249F1E78}" type="presParOf" srcId="{EDCC3301-38AC-4C2F-97F8-45B37A641941}" destId="{E7B3F8B6-D461-4987-9562-FA9BFB5824B9}" srcOrd="0" destOrd="0" presId="urn:microsoft.com/office/officeart/2008/layout/HexagonCluster"/>
    <dgm:cxn modelId="{BF2DAA0E-7F65-4F0E-B97F-FC84F5A24EFB}" type="presParOf" srcId="{901F7225-C847-488A-92C4-6F7FFA027F4B}" destId="{665D647C-13FD-483F-ACAD-3562AADA8391}" srcOrd="6" destOrd="0" presId="urn:microsoft.com/office/officeart/2008/layout/HexagonCluster"/>
    <dgm:cxn modelId="{C843C6C0-0A04-4E1A-B10A-4DB5E5DD21A7}" type="presParOf" srcId="{665D647C-13FD-483F-ACAD-3562AADA8391}" destId="{A776060B-5503-4185-BF89-7E84D2A27F62}" srcOrd="0" destOrd="0" presId="urn:microsoft.com/office/officeart/2008/layout/HexagonCluster"/>
    <dgm:cxn modelId="{3B33DF15-E3B4-45BE-9B49-5E75B29709CC}" type="presParOf" srcId="{901F7225-C847-488A-92C4-6F7FFA027F4B}" destId="{E0FCA4B1-6E8F-4278-96E5-9AB9AE66E090}" srcOrd="7" destOrd="0" presId="urn:microsoft.com/office/officeart/2008/layout/HexagonCluster"/>
    <dgm:cxn modelId="{73E82A70-D21E-4C31-B053-62CD17822BE8}" type="presParOf" srcId="{E0FCA4B1-6E8F-4278-96E5-9AB9AE66E090}" destId="{200BF3B8-9AD4-4AB6-8CD5-3A47DBCAFE30}" srcOrd="0" destOrd="0" presId="urn:microsoft.com/office/officeart/2008/layout/HexagonCluster"/>
    <dgm:cxn modelId="{31A05C24-08B4-418B-A61C-1048A4019039}" type="presParOf" srcId="{901F7225-C847-488A-92C4-6F7FFA027F4B}" destId="{0907DE48-C1A8-4610-857E-2D73BEF4A9CC}" srcOrd="8" destOrd="0" presId="urn:microsoft.com/office/officeart/2008/layout/HexagonCluster"/>
    <dgm:cxn modelId="{FFD61A16-9D3A-4303-8EDA-A610EBD1865F}" type="presParOf" srcId="{0907DE48-C1A8-4610-857E-2D73BEF4A9CC}" destId="{D87EF976-65B4-4404-B52A-2B79BCA1DE7D}" srcOrd="0" destOrd="0" presId="urn:microsoft.com/office/officeart/2008/layout/HexagonCluster"/>
    <dgm:cxn modelId="{7D0A45CF-8953-4E72-9A69-E0BBC4391160}" type="presParOf" srcId="{901F7225-C847-488A-92C4-6F7FFA027F4B}" destId="{7E0C7464-0BE4-4E9E-B841-20164DB10AC5}" srcOrd="9" destOrd="0" presId="urn:microsoft.com/office/officeart/2008/layout/HexagonCluster"/>
    <dgm:cxn modelId="{DA3C7AB3-2495-4CAB-A885-20136F5F6D2F}" type="presParOf" srcId="{7E0C7464-0BE4-4E9E-B841-20164DB10AC5}" destId="{E93D8D3B-DD6D-4F5D-8B05-ED9DE8F6B02A}" srcOrd="0" destOrd="0" presId="urn:microsoft.com/office/officeart/2008/layout/HexagonCluster"/>
    <dgm:cxn modelId="{2F501657-FF79-4BCA-B543-88CCE391C60A}" type="presParOf" srcId="{901F7225-C847-488A-92C4-6F7FFA027F4B}" destId="{481CCF3E-1885-49CA-BFA0-6234BCA40B54}" srcOrd="10" destOrd="0" presId="urn:microsoft.com/office/officeart/2008/layout/HexagonCluster"/>
    <dgm:cxn modelId="{E34BAC73-9A40-4F21-89C3-B6550E58AA3F}" type="presParOf" srcId="{481CCF3E-1885-49CA-BFA0-6234BCA40B54}" destId="{D7696477-8562-4B7B-9A83-2226D1B67A7A}" srcOrd="0" destOrd="0" presId="urn:microsoft.com/office/officeart/2008/layout/HexagonCluster"/>
    <dgm:cxn modelId="{B7DD647B-3BB7-4F2B-A7E7-D60BD76403DB}" type="presParOf" srcId="{901F7225-C847-488A-92C4-6F7FFA027F4B}" destId="{72D8A3FA-A0EF-4B4C-989F-1FE7FB176A15}" srcOrd="11" destOrd="0" presId="urn:microsoft.com/office/officeart/2008/layout/HexagonCluster"/>
    <dgm:cxn modelId="{5171B5B7-B994-4290-940A-BD5126853DB1}" type="presParOf" srcId="{72D8A3FA-A0EF-4B4C-989F-1FE7FB176A15}" destId="{27951001-573B-46A9-9635-33786B86F1D3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CCF4D3-179F-433B-A2BD-C747E1428A11}" type="doc">
      <dgm:prSet loTypeId="urn:microsoft.com/office/officeart/2008/layout/HexagonCluster" loCatId="relationship" qsTypeId="urn:microsoft.com/office/officeart/2005/8/quickstyle/simple1#3" qsCatId="simple" csTypeId="urn:microsoft.com/office/officeart/2005/8/colors/accent6_3#3" csCatId="accent6" phldr="1"/>
      <dgm:spPr/>
      <dgm:t>
        <a:bodyPr/>
        <a:lstStyle/>
        <a:p>
          <a:endParaRPr lang="en-IN"/>
        </a:p>
      </dgm:t>
    </dgm:pt>
    <dgm:pt modelId="{BD2703D5-86D6-49FE-A656-60BC1070289E}">
      <dgm:prSet phldrT="[Text]" phldr="0"/>
      <dgm:spPr/>
      <dgm:t>
        <a:bodyPr/>
        <a:lstStyle/>
        <a:p>
          <a:r>
            <a:rPr lang="en-US">
              <a:latin typeface="Agency FB" panose="020B0503020202020204" pitchFamily="34" charset="0"/>
            </a:rPr>
            <a:t>ERROR WHILE TESTING MODEL</a:t>
          </a:r>
          <a:endParaRPr lang="en-IN" dirty="0">
            <a:latin typeface="Agency FB" panose="020B0503020202020204" pitchFamily="34" charset="0"/>
          </a:endParaRPr>
        </a:p>
      </dgm:t>
    </dgm:pt>
    <dgm:pt modelId="{1F503D03-13CD-436A-9115-2365F0B61100}" type="parTrans" cxnId="{8479EA85-CEDE-41AA-90CF-2BA71AFDF2ED}">
      <dgm:prSet/>
      <dgm:spPr/>
      <dgm:t>
        <a:bodyPr/>
        <a:lstStyle/>
        <a:p>
          <a:endParaRPr lang="en-IN"/>
        </a:p>
      </dgm:t>
    </dgm:pt>
    <dgm:pt modelId="{48ED5973-A4E3-4D56-980D-781A0481838C}" type="sibTrans" cxnId="{8479EA85-CEDE-41AA-90CF-2BA71AFDF2E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Clockwise curve"/>
        </a:ext>
      </dgm:extLst>
    </dgm:pt>
    <dgm:pt modelId="{85360253-7657-4D7F-BC88-D0732C538C14}">
      <dgm:prSet phldrT="[Text]" phldr="0" custT="1"/>
      <dgm:spPr/>
      <dgm:t>
        <a:bodyPr/>
        <a:lstStyle/>
        <a:p>
          <a:r>
            <a:rPr lang="en-US" sz="2800" dirty="0">
              <a:latin typeface="Agency FB" panose="020B0503020202020204" pitchFamily="34" charset="0"/>
            </a:rPr>
            <a:t>OVERFITTING</a:t>
          </a:r>
          <a:endParaRPr lang="en-IN" sz="2800" dirty="0">
            <a:latin typeface="Agency FB" panose="020B0503020202020204" pitchFamily="34" charset="0"/>
          </a:endParaRPr>
        </a:p>
      </dgm:t>
    </dgm:pt>
    <dgm:pt modelId="{D2C5A964-02B8-4024-81BC-FC9AA43FF2C6}" type="parTrans" cxnId="{F3D3E2E1-A142-4DBF-809D-521AF43BA73C}">
      <dgm:prSet/>
      <dgm:spPr/>
      <dgm:t>
        <a:bodyPr/>
        <a:lstStyle/>
        <a:p>
          <a:endParaRPr lang="en-IN"/>
        </a:p>
      </dgm:t>
    </dgm:pt>
    <dgm:pt modelId="{24A606AA-2111-4A80-8A24-4DC94420B923}" type="sibTrans" cxnId="{F3D3E2E1-A142-4DBF-809D-521AF43BA73C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Clockwise curve"/>
        </a:ext>
      </dgm:extLst>
    </dgm:pt>
    <dgm:pt modelId="{DE7DBCCC-1DD7-487E-BAE2-420687DF00AC}">
      <dgm:prSet phldrT="[Text]" phldr="0" custT="1"/>
      <dgm:spPr/>
      <dgm:t>
        <a:bodyPr/>
        <a:lstStyle/>
        <a:p>
          <a:r>
            <a:rPr lang="en-US" sz="2800">
              <a:latin typeface="Agency FB" panose="020B0503020202020204" pitchFamily="34" charset="0"/>
            </a:rPr>
            <a:t>ERROR WHILE TRAINING MODEL</a:t>
          </a:r>
          <a:endParaRPr lang="en-IN" sz="2800" dirty="0">
            <a:latin typeface="Agency FB" panose="020B0503020202020204" pitchFamily="34" charset="0"/>
          </a:endParaRPr>
        </a:p>
      </dgm:t>
    </dgm:pt>
    <dgm:pt modelId="{4A81D7A9-A508-4C87-B447-F70D0C31FA89}" type="parTrans" cxnId="{BCB0D422-AF16-4409-8C49-61501EC69E7D}">
      <dgm:prSet/>
      <dgm:spPr/>
      <dgm:t>
        <a:bodyPr/>
        <a:lstStyle/>
        <a:p>
          <a:endParaRPr lang="en-IN"/>
        </a:p>
      </dgm:t>
    </dgm:pt>
    <dgm:pt modelId="{1FB81B79-109B-47AF-9D9F-A212051645C7}" type="sibTrans" cxnId="{BCB0D422-AF16-4409-8C49-61501EC69E7D}">
      <dgm:prSet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Arrow Rotate left"/>
        </a:ext>
      </dgm:extLst>
    </dgm:pt>
    <dgm:pt modelId="{901F7225-C847-488A-92C4-6F7FFA027F4B}" type="pres">
      <dgm:prSet presAssocID="{17CCF4D3-179F-433B-A2BD-C747E1428A11}" presName="Name0" presStyleCnt="0">
        <dgm:presLayoutVars>
          <dgm:chMax val="21"/>
          <dgm:chPref val="21"/>
        </dgm:presLayoutVars>
      </dgm:prSet>
      <dgm:spPr/>
    </dgm:pt>
    <dgm:pt modelId="{F557C439-2DD9-4DDC-B10F-F70DE4207380}" type="pres">
      <dgm:prSet presAssocID="{BD2703D5-86D6-49FE-A656-60BC1070289E}" presName="text1" presStyleCnt="0"/>
      <dgm:spPr/>
    </dgm:pt>
    <dgm:pt modelId="{D493A212-4395-44A5-8170-029DAD6246AB}" type="pres">
      <dgm:prSet presAssocID="{BD2703D5-86D6-49FE-A656-60BC1070289E}" presName="textRepeatNode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6924088-B053-4393-9AEC-88856D874AE1}" type="pres">
      <dgm:prSet presAssocID="{BD2703D5-86D6-49FE-A656-60BC1070289E}" presName="textaccent1" presStyleCnt="0"/>
      <dgm:spPr/>
    </dgm:pt>
    <dgm:pt modelId="{8E1A6B25-EDBA-4A23-9422-6CD2EC8EF42A}" type="pres">
      <dgm:prSet presAssocID="{BD2703D5-86D6-49FE-A656-60BC1070289E}" presName="accentRepeatNode" presStyleLbl="solidAlignAcc1" presStyleIdx="0" presStyleCnt="6"/>
      <dgm:spPr>
        <a:solidFill>
          <a:srgbClr val="FF0000"/>
        </a:solidFill>
      </dgm:spPr>
    </dgm:pt>
    <dgm:pt modelId="{776387CF-8BB8-4243-955F-0D9882911D73}" type="pres">
      <dgm:prSet presAssocID="{48ED5973-A4E3-4D56-980D-781A0481838C}" presName="image1" presStyleCnt="0"/>
      <dgm:spPr/>
    </dgm:pt>
    <dgm:pt modelId="{C56F15A7-BFEF-44FE-981D-BFA813CED6FE}" type="pres">
      <dgm:prSet presAssocID="{48ED5973-A4E3-4D56-980D-781A0481838C}" presName="imageRepeatNode" presStyleLbl="alignAcc1" presStyleIdx="0" presStyleCnt="3"/>
      <dgm:spPr/>
    </dgm:pt>
    <dgm:pt modelId="{F71A3582-E7AB-490B-AF3A-2E4BA66EBD54}" type="pres">
      <dgm:prSet presAssocID="{48ED5973-A4E3-4D56-980D-781A0481838C}" presName="imageaccent1" presStyleCnt="0"/>
      <dgm:spPr/>
    </dgm:pt>
    <dgm:pt modelId="{D075398D-B6E3-4F98-8CEB-7C0F7A2FE1E6}" type="pres">
      <dgm:prSet presAssocID="{48ED5973-A4E3-4D56-980D-781A0481838C}" presName="accentRepeatNode" presStyleLbl="solidAlignAcc1" presStyleIdx="1" presStyleCnt="6"/>
      <dgm:spPr>
        <a:solidFill>
          <a:srgbClr val="FF0000"/>
        </a:solidFill>
      </dgm:spPr>
    </dgm:pt>
    <dgm:pt modelId="{23615B2A-92D0-49C3-A243-807EF16BE3E9}" type="pres">
      <dgm:prSet presAssocID="{85360253-7657-4D7F-BC88-D0732C538C14}" presName="text2" presStyleCnt="0"/>
      <dgm:spPr/>
    </dgm:pt>
    <dgm:pt modelId="{BF41A161-EAE6-4138-B898-4D21D4A580FA}" type="pres">
      <dgm:prSet presAssocID="{85360253-7657-4D7F-BC88-D0732C538C14}" presName="textRepeatNode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DCC3301-38AC-4C2F-97F8-45B37A641941}" type="pres">
      <dgm:prSet presAssocID="{85360253-7657-4D7F-BC88-D0732C538C14}" presName="textaccent2" presStyleCnt="0"/>
      <dgm:spPr/>
    </dgm:pt>
    <dgm:pt modelId="{E7B3F8B6-D461-4987-9562-FA9BFB5824B9}" type="pres">
      <dgm:prSet presAssocID="{85360253-7657-4D7F-BC88-D0732C538C14}" presName="accentRepeatNode" presStyleLbl="solidAlignAcc1" presStyleIdx="2" presStyleCnt="6"/>
      <dgm:spPr>
        <a:solidFill>
          <a:srgbClr val="FFFF00"/>
        </a:solidFill>
      </dgm:spPr>
    </dgm:pt>
    <dgm:pt modelId="{665D647C-13FD-483F-ACAD-3562AADA8391}" type="pres">
      <dgm:prSet presAssocID="{24A606AA-2111-4A80-8A24-4DC94420B923}" presName="image2" presStyleCnt="0"/>
      <dgm:spPr/>
    </dgm:pt>
    <dgm:pt modelId="{A776060B-5503-4185-BF89-7E84D2A27F62}" type="pres">
      <dgm:prSet presAssocID="{24A606AA-2111-4A80-8A24-4DC94420B923}" presName="imageRepeatNode" presStyleLbl="alignAcc1" presStyleIdx="1" presStyleCnt="3"/>
      <dgm:spPr/>
    </dgm:pt>
    <dgm:pt modelId="{E0FCA4B1-6E8F-4278-96E5-9AB9AE66E090}" type="pres">
      <dgm:prSet presAssocID="{24A606AA-2111-4A80-8A24-4DC94420B923}" presName="imageaccent2" presStyleCnt="0"/>
      <dgm:spPr/>
    </dgm:pt>
    <dgm:pt modelId="{200BF3B8-9AD4-4AB6-8CD5-3A47DBCAFE30}" type="pres">
      <dgm:prSet presAssocID="{24A606AA-2111-4A80-8A24-4DC94420B923}" presName="accentRepeatNode" presStyleLbl="solidAlignAcc1" presStyleIdx="3" presStyleCnt="6"/>
      <dgm:spPr>
        <a:solidFill>
          <a:srgbClr val="FFFF00"/>
        </a:solidFill>
      </dgm:spPr>
    </dgm:pt>
    <dgm:pt modelId="{0907DE48-C1A8-4610-857E-2D73BEF4A9CC}" type="pres">
      <dgm:prSet presAssocID="{DE7DBCCC-1DD7-487E-BAE2-420687DF00AC}" presName="text3" presStyleCnt="0"/>
      <dgm:spPr/>
    </dgm:pt>
    <dgm:pt modelId="{D87EF976-65B4-4404-B52A-2B79BCA1DE7D}" type="pres">
      <dgm:prSet presAssocID="{DE7DBCCC-1DD7-487E-BAE2-420687DF00AC}" presName="textRepeatNode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E0C7464-0BE4-4E9E-B841-20164DB10AC5}" type="pres">
      <dgm:prSet presAssocID="{DE7DBCCC-1DD7-487E-BAE2-420687DF00AC}" presName="textaccent3" presStyleCnt="0"/>
      <dgm:spPr/>
    </dgm:pt>
    <dgm:pt modelId="{E93D8D3B-DD6D-4F5D-8B05-ED9DE8F6B02A}" type="pres">
      <dgm:prSet presAssocID="{DE7DBCCC-1DD7-487E-BAE2-420687DF00AC}" presName="accentRepeatNode" presStyleLbl="solidAlignAcc1" presStyleIdx="4" presStyleCnt="6"/>
      <dgm:spPr>
        <a:solidFill>
          <a:srgbClr val="00B0F0"/>
        </a:solidFill>
      </dgm:spPr>
    </dgm:pt>
    <dgm:pt modelId="{481CCF3E-1885-49CA-BFA0-6234BCA40B54}" type="pres">
      <dgm:prSet presAssocID="{1FB81B79-109B-47AF-9D9F-A212051645C7}" presName="image3" presStyleCnt="0"/>
      <dgm:spPr/>
    </dgm:pt>
    <dgm:pt modelId="{D7696477-8562-4B7B-9A83-2226D1B67A7A}" type="pres">
      <dgm:prSet presAssocID="{1FB81B79-109B-47AF-9D9F-A212051645C7}" presName="imageRepeatNode" presStyleLbl="alignAcc1" presStyleIdx="2" presStyleCnt="3"/>
      <dgm:spPr/>
    </dgm:pt>
    <dgm:pt modelId="{72D8A3FA-A0EF-4B4C-989F-1FE7FB176A15}" type="pres">
      <dgm:prSet presAssocID="{1FB81B79-109B-47AF-9D9F-A212051645C7}" presName="imageaccent3" presStyleCnt="0"/>
      <dgm:spPr/>
    </dgm:pt>
    <dgm:pt modelId="{27951001-573B-46A9-9635-33786B86F1D3}" type="pres">
      <dgm:prSet presAssocID="{1FB81B79-109B-47AF-9D9F-A212051645C7}" presName="accentRepeatNode" presStyleLbl="solidAlignAcc1" presStyleIdx="5" presStyleCnt="6"/>
      <dgm:spPr>
        <a:solidFill>
          <a:schemeClr val="accent1"/>
        </a:solidFill>
      </dgm:spPr>
    </dgm:pt>
  </dgm:ptLst>
  <dgm:cxnLst>
    <dgm:cxn modelId="{BCB0D422-AF16-4409-8C49-61501EC69E7D}" srcId="{17CCF4D3-179F-433B-A2BD-C747E1428A11}" destId="{DE7DBCCC-1DD7-487E-BAE2-420687DF00AC}" srcOrd="2" destOrd="0" parTransId="{4A81D7A9-A508-4C87-B447-F70D0C31FA89}" sibTransId="{1FB81B79-109B-47AF-9D9F-A212051645C7}"/>
    <dgm:cxn modelId="{390E5B32-5B6D-48E6-9450-FF0663F1C2AF}" type="presOf" srcId="{48ED5973-A4E3-4D56-980D-781A0481838C}" destId="{C56F15A7-BFEF-44FE-981D-BFA813CED6FE}" srcOrd="0" destOrd="0" presId="urn:microsoft.com/office/officeart/2008/layout/HexagonCluster"/>
    <dgm:cxn modelId="{D4D70655-126C-47C9-983B-2B32BA4A8658}" type="presOf" srcId="{BD2703D5-86D6-49FE-A656-60BC1070289E}" destId="{D493A212-4395-44A5-8170-029DAD6246AB}" srcOrd="0" destOrd="0" presId="urn:microsoft.com/office/officeart/2008/layout/HexagonCluster"/>
    <dgm:cxn modelId="{7B2CC680-8A14-4F65-9E55-0BD42E829CD9}" type="presOf" srcId="{DE7DBCCC-1DD7-487E-BAE2-420687DF00AC}" destId="{D87EF976-65B4-4404-B52A-2B79BCA1DE7D}" srcOrd="0" destOrd="0" presId="urn:microsoft.com/office/officeart/2008/layout/HexagonCluster"/>
    <dgm:cxn modelId="{8479EA85-CEDE-41AA-90CF-2BA71AFDF2ED}" srcId="{17CCF4D3-179F-433B-A2BD-C747E1428A11}" destId="{BD2703D5-86D6-49FE-A656-60BC1070289E}" srcOrd="0" destOrd="0" parTransId="{1F503D03-13CD-436A-9115-2365F0B61100}" sibTransId="{48ED5973-A4E3-4D56-980D-781A0481838C}"/>
    <dgm:cxn modelId="{5591DC89-9C63-41CF-8569-3F5406F8987E}" type="presOf" srcId="{17CCF4D3-179F-433B-A2BD-C747E1428A11}" destId="{901F7225-C847-488A-92C4-6F7FFA027F4B}" srcOrd="0" destOrd="0" presId="urn:microsoft.com/office/officeart/2008/layout/HexagonCluster"/>
    <dgm:cxn modelId="{5F5F1A8C-0EFC-4229-B620-589319800012}" type="presOf" srcId="{85360253-7657-4D7F-BC88-D0732C538C14}" destId="{BF41A161-EAE6-4138-B898-4D21D4A580FA}" srcOrd="0" destOrd="0" presId="urn:microsoft.com/office/officeart/2008/layout/HexagonCluster"/>
    <dgm:cxn modelId="{DEB880A7-74D5-428F-BF68-6D3AEFB794D0}" type="presOf" srcId="{1FB81B79-109B-47AF-9D9F-A212051645C7}" destId="{D7696477-8562-4B7B-9A83-2226D1B67A7A}" srcOrd="0" destOrd="0" presId="urn:microsoft.com/office/officeart/2008/layout/HexagonCluster"/>
    <dgm:cxn modelId="{03733BE0-84B8-44C9-9195-17FC89BEDAF4}" type="presOf" srcId="{24A606AA-2111-4A80-8A24-4DC94420B923}" destId="{A776060B-5503-4185-BF89-7E84D2A27F62}" srcOrd="0" destOrd="0" presId="urn:microsoft.com/office/officeart/2008/layout/HexagonCluster"/>
    <dgm:cxn modelId="{F3D3E2E1-A142-4DBF-809D-521AF43BA73C}" srcId="{17CCF4D3-179F-433B-A2BD-C747E1428A11}" destId="{85360253-7657-4D7F-BC88-D0732C538C14}" srcOrd="1" destOrd="0" parTransId="{D2C5A964-02B8-4024-81BC-FC9AA43FF2C6}" sibTransId="{24A606AA-2111-4A80-8A24-4DC94420B923}"/>
    <dgm:cxn modelId="{19EC8A15-480A-4655-887E-AA22F1B58EA9}" type="presParOf" srcId="{901F7225-C847-488A-92C4-6F7FFA027F4B}" destId="{F557C439-2DD9-4DDC-B10F-F70DE4207380}" srcOrd="0" destOrd="0" presId="urn:microsoft.com/office/officeart/2008/layout/HexagonCluster"/>
    <dgm:cxn modelId="{DBDF1A1E-B472-476C-9927-BEB7AC0F53D9}" type="presParOf" srcId="{F557C439-2DD9-4DDC-B10F-F70DE4207380}" destId="{D493A212-4395-44A5-8170-029DAD6246AB}" srcOrd="0" destOrd="0" presId="urn:microsoft.com/office/officeart/2008/layout/HexagonCluster"/>
    <dgm:cxn modelId="{55D10055-B9DF-406C-BD40-914D7BB45502}" type="presParOf" srcId="{901F7225-C847-488A-92C4-6F7FFA027F4B}" destId="{26924088-B053-4393-9AEC-88856D874AE1}" srcOrd="1" destOrd="0" presId="urn:microsoft.com/office/officeart/2008/layout/HexagonCluster"/>
    <dgm:cxn modelId="{B59EF5A1-40D9-4888-8212-24E83F781CF6}" type="presParOf" srcId="{26924088-B053-4393-9AEC-88856D874AE1}" destId="{8E1A6B25-EDBA-4A23-9422-6CD2EC8EF42A}" srcOrd="0" destOrd="0" presId="urn:microsoft.com/office/officeart/2008/layout/HexagonCluster"/>
    <dgm:cxn modelId="{A31B3405-E479-4652-9603-0480CC28ABD6}" type="presParOf" srcId="{901F7225-C847-488A-92C4-6F7FFA027F4B}" destId="{776387CF-8BB8-4243-955F-0D9882911D73}" srcOrd="2" destOrd="0" presId="urn:microsoft.com/office/officeart/2008/layout/HexagonCluster"/>
    <dgm:cxn modelId="{01E02092-4784-4C15-82F0-A23321487BD8}" type="presParOf" srcId="{776387CF-8BB8-4243-955F-0D9882911D73}" destId="{C56F15A7-BFEF-44FE-981D-BFA813CED6FE}" srcOrd="0" destOrd="0" presId="urn:microsoft.com/office/officeart/2008/layout/HexagonCluster"/>
    <dgm:cxn modelId="{FA8BB1FF-4363-409B-859F-CC49A612D349}" type="presParOf" srcId="{901F7225-C847-488A-92C4-6F7FFA027F4B}" destId="{F71A3582-E7AB-490B-AF3A-2E4BA66EBD54}" srcOrd="3" destOrd="0" presId="urn:microsoft.com/office/officeart/2008/layout/HexagonCluster"/>
    <dgm:cxn modelId="{6C3140C2-EF0C-416C-B7AF-4E45FEDA42AF}" type="presParOf" srcId="{F71A3582-E7AB-490B-AF3A-2E4BA66EBD54}" destId="{D075398D-B6E3-4F98-8CEB-7C0F7A2FE1E6}" srcOrd="0" destOrd="0" presId="urn:microsoft.com/office/officeart/2008/layout/HexagonCluster"/>
    <dgm:cxn modelId="{99D320EB-30C2-4B22-A7F1-1F0E89D41FAA}" type="presParOf" srcId="{901F7225-C847-488A-92C4-6F7FFA027F4B}" destId="{23615B2A-92D0-49C3-A243-807EF16BE3E9}" srcOrd="4" destOrd="0" presId="urn:microsoft.com/office/officeart/2008/layout/HexagonCluster"/>
    <dgm:cxn modelId="{EC4812C7-94C0-4684-933C-2E7B58C3C133}" type="presParOf" srcId="{23615B2A-92D0-49C3-A243-807EF16BE3E9}" destId="{BF41A161-EAE6-4138-B898-4D21D4A580FA}" srcOrd="0" destOrd="0" presId="urn:microsoft.com/office/officeart/2008/layout/HexagonCluster"/>
    <dgm:cxn modelId="{AE0E7363-DB64-4BDD-9483-3FF3C727EE38}" type="presParOf" srcId="{901F7225-C847-488A-92C4-6F7FFA027F4B}" destId="{EDCC3301-38AC-4C2F-97F8-45B37A641941}" srcOrd="5" destOrd="0" presId="urn:microsoft.com/office/officeart/2008/layout/HexagonCluster"/>
    <dgm:cxn modelId="{ECAC3538-B0AF-4931-98FC-FF67249F1E78}" type="presParOf" srcId="{EDCC3301-38AC-4C2F-97F8-45B37A641941}" destId="{E7B3F8B6-D461-4987-9562-FA9BFB5824B9}" srcOrd="0" destOrd="0" presId="urn:microsoft.com/office/officeart/2008/layout/HexagonCluster"/>
    <dgm:cxn modelId="{BF2DAA0E-7F65-4F0E-B97F-FC84F5A24EFB}" type="presParOf" srcId="{901F7225-C847-488A-92C4-6F7FFA027F4B}" destId="{665D647C-13FD-483F-ACAD-3562AADA8391}" srcOrd="6" destOrd="0" presId="urn:microsoft.com/office/officeart/2008/layout/HexagonCluster"/>
    <dgm:cxn modelId="{C843C6C0-0A04-4E1A-B10A-4DB5E5DD21A7}" type="presParOf" srcId="{665D647C-13FD-483F-ACAD-3562AADA8391}" destId="{A776060B-5503-4185-BF89-7E84D2A27F62}" srcOrd="0" destOrd="0" presId="urn:microsoft.com/office/officeart/2008/layout/HexagonCluster"/>
    <dgm:cxn modelId="{3B33DF15-E3B4-45BE-9B49-5E75B29709CC}" type="presParOf" srcId="{901F7225-C847-488A-92C4-6F7FFA027F4B}" destId="{E0FCA4B1-6E8F-4278-96E5-9AB9AE66E090}" srcOrd="7" destOrd="0" presId="urn:microsoft.com/office/officeart/2008/layout/HexagonCluster"/>
    <dgm:cxn modelId="{73E82A70-D21E-4C31-B053-62CD17822BE8}" type="presParOf" srcId="{E0FCA4B1-6E8F-4278-96E5-9AB9AE66E090}" destId="{200BF3B8-9AD4-4AB6-8CD5-3A47DBCAFE30}" srcOrd="0" destOrd="0" presId="urn:microsoft.com/office/officeart/2008/layout/HexagonCluster"/>
    <dgm:cxn modelId="{31A05C24-08B4-418B-A61C-1048A4019039}" type="presParOf" srcId="{901F7225-C847-488A-92C4-6F7FFA027F4B}" destId="{0907DE48-C1A8-4610-857E-2D73BEF4A9CC}" srcOrd="8" destOrd="0" presId="urn:microsoft.com/office/officeart/2008/layout/HexagonCluster"/>
    <dgm:cxn modelId="{FFD61A16-9D3A-4303-8EDA-A610EBD1865F}" type="presParOf" srcId="{0907DE48-C1A8-4610-857E-2D73BEF4A9CC}" destId="{D87EF976-65B4-4404-B52A-2B79BCA1DE7D}" srcOrd="0" destOrd="0" presId="urn:microsoft.com/office/officeart/2008/layout/HexagonCluster"/>
    <dgm:cxn modelId="{7D0A45CF-8953-4E72-9A69-E0BBC4391160}" type="presParOf" srcId="{901F7225-C847-488A-92C4-6F7FFA027F4B}" destId="{7E0C7464-0BE4-4E9E-B841-20164DB10AC5}" srcOrd="9" destOrd="0" presId="urn:microsoft.com/office/officeart/2008/layout/HexagonCluster"/>
    <dgm:cxn modelId="{DA3C7AB3-2495-4CAB-A885-20136F5F6D2F}" type="presParOf" srcId="{7E0C7464-0BE4-4E9E-B841-20164DB10AC5}" destId="{E93D8D3B-DD6D-4F5D-8B05-ED9DE8F6B02A}" srcOrd="0" destOrd="0" presId="urn:microsoft.com/office/officeart/2008/layout/HexagonCluster"/>
    <dgm:cxn modelId="{2F501657-FF79-4BCA-B543-88CCE391C60A}" type="presParOf" srcId="{901F7225-C847-488A-92C4-6F7FFA027F4B}" destId="{481CCF3E-1885-49CA-BFA0-6234BCA40B54}" srcOrd="10" destOrd="0" presId="urn:microsoft.com/office/officeart/2008/layout/HexagonCluster"/>
    <dgm:cxn modelId="{E34BAC73-9A40-4F21-89C3-B6550E58AA3F}" type="presParOf" srcId="{481CCF3E-1885-49CA-BFA0-6234BCA40B54}" destId="{D7696477-8562-4B7B-9A83-2226D1B67A7A}" srcOrd="0" destOrd="0" presId="urn:microsoft.com/office/officeart/2008/layout/HexagonCluster"/>
    <dgm:cxn modelId="{B7DD647B-3BB7-4F2B-A7E7-D60BD76403DB}" type="presParOf" srcId="{901F7225-C847-488A-92C4-6F7FFA027F4B}" destId="{72D8A3FA-A0EF-4B4C-989F-1FE7FB176A15}" srcOrd="11" destOrd="0" presId="urn:microsoft.com/office/officeart/2008/layout/HexagonCluster"/>
    <dgm:cxn modelId="{5171B5B7-B994-4290-940A-BD5126853DB1}" type="presParOf" srcId="{72D8A3FA-A0EF-4B4C-989F-1FE7FB176A15}" destId="{27951001-573B-46A9-9635-33786B86F1D3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A212-4395-44A5-8170-029DAD6246AB}">
      <dsp:nvSpPr>
        <dsp:cNvPr id="0" name=""/>
        <dsp:cNvSpPr/>
      </dsp:nvSpPr>
      <dsp:spPr>
        <a:xfrm>
          <a:off x="2505867" y="1704179"/>
          <a:ext cx="2996946" cy="2584460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9530" rIns="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Agency FB" panose="020B0503020202020204" pitchFamily="34" charset="0"/>
            </a:rPr>
            <a:t>ERROR WHILE TESTING MODEL</a:t>
          </a:r>
          <a:endParaRPr lang="en-IN" sz="3900" kern="1200" dirty="0">
            <a:latin typeface="Agency FB" panose="020B0503020202020204" pitchFamily="34" charset="0"/>
          </a:endParaRPr>
        </a:p>
      </dsp:txBody>
      <dsp:txXfrm>
        <a:off x="2970984" y="2105280"/>
        <a:ext cx="2066712" cy="1782258"/>
      </dsp:txXfrm>
    </dsp:sp>
    <dsp:sp modelId="{8E1A6B25-EDBA-4A23-9422-6CD2EC8EF42A}">
      <dsp:nvSpPr>
        <dsp:cNvPr id="0" name=""/>
        <dsp:cNvSpPr/>
      </dsp:nvSpPr>
      <dsp:spPr>
        <a:xfrm>
          <a:off x="2599456" y="2845493"/>
          <a:ext cx="350169" cy="302229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F15A7-BFEF-44FE-981D-BFA813CED6FE}">
      <dsp:nvSpPr>
        <dsp:cNvPr id="0" name=""/>
        <dsp:cNvSpPr/>
      </dsp:nvSpPr>
      <dsp:spPr>
        <a:xfrm>
          <a:off x="0" y="311935"/>
          <a:ext cx="2996946" cy="258446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5398D-B6E3-4F98-8CEB-7C0F7A2FE1E6}">
      <dsp:nvSpPr>
        <dsp:cNvPr id="0" name=""/>
        <dsp:cNvSpPr/>
      </dsp:nvSpPr>
      <dsp:spPr>
        <a:xfrm>
          <a:off x="2042129" y="2539685"/>
          <a:ext cx="350169" cy="302229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EF976-65B4-4404-B52A-2B79BCA1DE7D}">
      <dsp:nvSpPr>
        <dsp:cNvPr id="0" name=""/>
        <dsp:cNvSpPr/>
      </dsp:nvSpPr>
      <dsp:spPr>
        <a:xfrm>
          <a:off x="5012786" y="311935"/>
          <a:ext cx="2996946" cy="2584460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-411722"/>
            <a:satOff val="-8076"/>
            <a:lumOff val="28541"/>
            <a:alphaOff val="0"/>
          </a:schemeClr>
        </a:solid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Agency FB" panose="020B0503020202020204" pitchFamily="34" charset="0"/>
            </a:rPr>
            <a:t>ERROR WHILE TRAINING MODEL</a:t>
          </a:r>
          <a:endParaRPr lang="en-IN" sz="4000" kern="1200" dirty="0">
            <a:latin typeface="Agency FB" panose="020B0503020202020204" pitchFamily="34" charset="0"/>
          </a:endParaRPr>
        </a:p>
      </dsp:txBody>
      <dsp:txXfrm>
        <a:off x="5477903" y="713036"/>
        <a:ext cx="2066712" cy="1782258"/>
      </dsp:txXfrm>
    </dsp:sp>
    <dsp:sp modelId="{E93D8D3B-DD6D-4F5D-8B05-ED9DE8F6B02A}">
      <dsp:nvSpPr>
        <dsp:cNvPr id="0" name=""/>
        <dsp:cNvSpPr/>
      </dsp:nvSpPr>
      <dsp:spPr>
        <a:xfrm>
          <a:off x="7054916" y="2539685"/>
          <a:ext cx="350169" cy="302229"/>
        </a:xfrm>
        <a:prstGeom prst="hexagon">
          <a:avLst>
            <a:gd name="adj" fmla="val 25000"/>
            <a:gd name="vf" fmla="val 115470"/>
          </a:avLst>
        </a:prstGeom>
        <a:solidFill>
          <a:srgbClr val="00B0F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96477-8562-4B7B-9A83-2226D1B67A7A}">
      <dsp:nvSpPr>
        <dsp:cNvPr id="0" name=""/>
        <dsp:cNvSpPr/>
      </dsp:nvSpPr>
      <dsp:spPr>
        <a:xfrm>
          <a:off x="7518654" y="1704179"/>
          <a:ext cx="2996946" cy="2584460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51001-573B-46A9-9635-33786B86F1D3}">
      <dsp:nvSpPr>
        <dsp:cNvPr id="0" name=""/>
        <dsp:cNvSpPr/>
      </dsp:nvSpPr>
      <dsp:spPr>
        <a:xfrm>
          <a:off x="7612242" y="2845493"/>
          <a:ext cx="350169" cy="302229"/>
        </a:xfrm>
        <a:prstGeom prst="hexagon">
          <a:avLst>
            <a:gd name="adj" fmla="val 25000"/>
            <a:gd name="vf" fmla="val 115470"/>
          </a:avLst>
        </a:prstGeom>
        <a:solidFill>
          <a:srgbClr val="00B0F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A212-4395-44A5-8170-029DAD6246AB}">
      <dsp:nvSpPr>
        <dsp:cNvPr id="0" name=""/>
        <dsp:cNvSpPr/>
      </dsp:nvSpPr>
      <dsp:spPr>
        <a:xfrm>
          <a:off x="3390493" y="2859257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3020" rIns="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gency FB" panose="020B0503020202020204" pitchFamily="34" charset="0"/>
            </a:rPr>
            <a:t>ERROR WHILE TESTING MODEL</a:t>
          </a:r>
          <a:endParaRPr lang="en-IN" sz="2600" kern="1200" dirty="0">
            <a:latin typeface="Agency FB" panose="020B0503020202020204" pitchFamily="34" charset="0"/>
          </a:endParaRPr>
        </a:p>
      </dsp:txBody>
      <dsp:txXfrm>
        <a:off x="3703910" y="3129477"/>
        <a:ext cx="1392848" cy="1200877"/>
      </dsp:txXfrm>
    </dsp:sp>
    <dsp:sp modelId="{8E1A6B25-EDBA-4A23-9422-6CD2EC8EF42A}">
      <dsp:nvSpPr>
        <dsp:cNvPr id="0" name=""/>
        <dsp:cNvSpPr/>
      </dsp:nvSpPr>
      <dsp:spPr>
        <a:xfrm>
          <a:off x="3442961" y="362801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F15A7-BFEF-44FE-981D-BFA813CED6FE}">
      <dsp:nvSpPr>
        <dsp:cNvPr id="0" name=""/>
        <dsp:cNvSpPr/>
      </dsp:nvSpPr>
      <dsp:spPr>
        <a:xfrm>
          <a:off x="1664060" y="1923960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5398D-B6E3-4F98-8CEB-7C0F7A2FE1E6}">
      <dsp:nvSpPr>
        <dsp:cNvPr id="0" name=""/>
        <dsp:cNvSpPr/>
      </dsp:nvSpPr>
      <dsp:spPr>
        <a:xfrm>
          <a:off x="3039025" y="3435249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1A161-EAE6-4138-B898-4D21D4A580FA}">
      <dsp:nvSpPr>
        <dsp:cNvPr id="0" name=""/>
        <dsp:cNvSpPr/>
      </dsp:nvSpPr>
      <dsp:spPr>
        <a:xfrm>
          <a:off x="5111175" y="1903257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-205861"/>
            <a:satOff val="-4038"/>
            <a:lumOff val="14270"/>
            <a:alphaOff val="0"/>
          </a:schemeClr>
        </a:solidFill>
        <a:ln w="12700" cap="flat" cmpd="sng" algn="ctr">
          <a:solidFill>
            <a:schemeClr val="accent6">
              <a:shade val="80000"/>
              <a:hueOff val="-205861"/>
              <a:satOff val="-4038"/>
              <a:lumOff val="1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gency FB" panose="020B0503020202020204" pitchFamily="34" charset="0"/>
            </a:rPr>
            <a:t>GOOD FIT</a:t>
          </a:r>
          <a:endParaRPr lang="en-IN" sz="2800" kern="1200" dirty="0">
            <a:latin typeface="Agency FB" panose="020B0503020202020204" pitchFamily="34" charset="0"/>
          </a:endParaRPr>
        </a:p>
      </dsp:txBody>
      <dsp:txXfrm>
        <a:off x="5424592" y="2173477"/>
        <a:ext cx="1392848" cy="1200877"/>
      </dsp:txXfrm>
    </dsp:sp>
    <dsp:sp modelId="{E7B3F8B6-D461-4987-9562-FA9BFB5824B9}">
      <dsp:nvSpPr>
        <dsp:cNvPr id="0" name=""/>
        <dsp:cNvSpPr/>
      </dsp:nvSpPr>
      <dsp:spPr>
        <a:xfrm>
          <a:off x="6491890" y="3412706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FF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6060B-5503-4185-BF89-7E84D2A27F62}">
      <dsp:nvSpPr>
        <dsp:cNvPr id="0" name=""/>
        <dsp:cNvSpPr/>
      </dsp:nvSpPr>
      <dsp:spPr>
        <a:xfrm>
          <a:off x="6831857" y="2859257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-205861"/>
              <a:satOff val="-4038"/>
              <a:lumOff val="1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BF3B8-9AD4-4AB6-8CD5-3A47DBCAFE30}">
      <dsp:nvSpPr>
        <dsp:cNvPr id="0" name=""/>
        <dsp:cNvSpPr/>
      </dsp:nvSpPr>
      <dsp:spPr>
        <a:xfrm>
          <a:off x="6884326" y="362801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FF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EF976-65B4-4404-B52A-2B79BCA1DE7D}">
      <dsp:nvSpPr>
        <dsp:cNvPr id="0" name=""/>
        <dsp:cNvSpPr/>
      </dsp:nvSpPr>
      <dsp:spPr>
        <a:xfrm>
          <a:off x="3390493" y="951398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-411722"/>
            <a:satOff val="-8076"/>
            <a:lumOff val="28541"/>
            <a:alphaOff val="0"/>
          </a:schemeClr>
        </a:solid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gency FB" panose="020B0503020202020204" pitchFamily="34" charset="0"/>
            </a:rPr>
            <a:t>ERROR WHILE TRAINING MODEL</a:t>
          </a:r>
          <a:endParaRPr lang="en-IN" sz="2800" kern="1200" dirty="0">
            <a:latin typeface="Agency FB" panose="020B0503020202020204" pitchFamily="34" charset="0"/>
          </a:endParaRPr>
        </a:p>
      </dsp:txBody>
      <dsp:txXfrm>
        <a:off x="3703910" y="1221618"/>
        <a:ext cx="1392848" cy="1200877"/>
      </dsp:txXfrm>
    </dsp:sp>
    <dsp:sp modelId="{E93D8D3B-DD6D-4F5D-8B05-ED9DE8F6B02A}">
      <dsp:nvSpPr>
        <dsp:cNvPr id="0" name=""/>
        <dsp:cNvSpPr/>
      </dsp:nvSpPr>
      <dsp:spPr>
        <a:xfrm>
          <a:off x="4759707" y="98912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00B0F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96477-8562-4B7B-9A83-2226D1B67A7A}">
      <dsp:nvSpPr>
        <dsp:cNvPr id="0" name=""/>
        <dsp:cNvSpPr/>
      </dsp:nvSpPr>
      <dsp:spPr>
        <a:xfrm>
          <a:off x="5111175" y="0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51001-573B-46A9-9635-33786B86F1D3}">
      <dsp:nvSpPr>
        <dsp:cNvPr id="0" name=""/>
        <dsp:cNvSpPr/>
      </dsp:nvSpPr>
      <dsp:spPr>
        <a:xfrm>
          <a:off x="5170831" y="764615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chemeClr val="accent1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93A212-4395-44A5-8170-029DAD6246AB}">
      <dsp:nvSpPr>
        <dsp:cNvPr id="0" name=""/>
        <dsp:cNvSpPr/>
      </dsp:nvSpPr>
      <dsp:spPr>
        <a:xfrm>
          <a:off x="3390493" y="2859257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3020" rIns="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gency FB" panose="020B0503020202020204" pitchFamily="34" charset="0"/>
            </a:rPr>
            <a:t>ERROR WHILE TESTING MODEL</a:t>
          </a:r>
          <a:endParaRPr lang="en-IN" sz="2600" kern="1200" dirty="0">
            <a:latin typeface="Agency FB" panose="020B0503020202020204" pitchFamily="34" charset="0"/>
          </a:endParaRPr>
        </a:p>
      </dsp:txBody>
      <dsp:txXfrm>
        <a:off x="3703910" y="3129477"/>
        <a:ext cx="1392848" cy="1200877"/>
      </dsp:txXfrm>
    </dsp:sp>
    <dsp:sp modelId="{8E1A6B25-EDBA-4A23-9422-6CD2EC8EF42A}">
      <dsp:nvSpPr>
        <dsp:cNvPr id="0" name=""/>
        <dsp:cNvSpPr/>
      </dsp:nvSpPr>
      <dsp:spPr>
        <a:xfrm>
          <a:off x="3442961" y="362801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F15A7-BFEF-44FE-981D-BFA813CED6FE}">
      <dsp:nvSpPr>
        <dsp:cNvPr id="0" name=""/>
        <dsp:cNvSpPr/>
      </dsp:nvSpPr>
      <dsp:spPr>
        <a:xfrm>
          <a:off x="1664060" y="1923960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75398D-B6E3-4F98-8CEB-7C0F7A2FE1E6}">
      <dsp:nvSpPr>
        <dsp:cNvPr id="0" name=""/>
        <dsp:cNvSpPr/>
      </dsp:nvSpPr>
      <dsp:spPr>
        <a:xfrm>
          <a:off x="3039025" y="3435249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00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1A161-EAE6-4138-B898-4D21D4A580FA}">
      <dsp:nvSpPr>
        <dsp:cNvPr id="0" name=""/>
        <dsp:cNvSpPr/>
      </dsp:nvSpPr>
      <dsp:spPr>
        <a:xfrm>
          <a:off x="5111175" y="1903257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-205861"/>
            <a:satOff val="-4038"/>
            <a:lumOff val="14270"/>
            <a:alphaOff val="0"/>
          </a:schemeClr>
        </a:solidFill>
        <a:ln w="12700" cap="flat" cmpd="sng" algn="ctr">
          <a:solidFill>
            <a:schemeClr val="accent6">
              <a:shade val="80000"/>
              <a:hueOff val="-205861"/>
              <a:satOff val="-4038"/>
              <a:lumOff val="1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gency FB" panose="020B0503020202020204" pitchFamily="34" charset="0"/>
            </a:rPr>
            <a:t>OVERFITTING</a:t>
          </a:r>
          <a:endParaRPr lang="en-IN" sz="2800" kern="1200" dirty="0">
            <a:latin typeface="Agency FB" panose="020B0503020202020204" pitchFamily="34" charset="0"/>
          </a:endParaRPr>
        </a:p>
      </dsp:txBody>
      <dsp:txXfrm>
        <a:off x="5424592" y="2173477"/>
        <a:ext cx="1392848" cy="1200877"/>
      </dsp:txXfrm>
    </dsp:sp>
    <dsp:sp modelId="{E7B3F8B6-D461-4987-9562-FA9BFB5824B9}">
      <dsp:nvSpPr>
        <dsp:cNvPr id="0" name=""/>
        <dsp:cNvSpPr/>
      </dsp:nvSpPr>
      <dsp:spPr>
        <a:xfrm>
          <a:off x="6491890" y="3412706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FF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6060B-5503-4185-BF89-7E84D2A27F62}">
      <dsp:nvSpPr>
        <dsp:cNvPr id="0" name=""/>
        <dsp:cNvSpPr/>
      </dsp:nvSpPr>
      <dsp:spPr>
        <a:xfrm>
          <a:off x="6831857" y="2859257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-205861"/>
              <a:satOff val="-4038"/>
              <a:lumOff val="142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BF3B8-9AD4-4AB6-8CD5-3A47DBCAFE30}">
      <dsp:nvSpPr>
        <dsp:cNvPr id="0" name=""/>
        <dsp:cNvSpPr/>
      </dsp:nvSpPr>
      <dsp:spPr>
        <a:xfrm>
          <a:off x="6884326" y="362801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FFFF0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EF976-65B4-4404-B52A-2B79BCA1DE7D}">
      <dsp:nvSpPr>
        <dsp:cNvPr id="0" name=""/>
        <dsp:cNvSpPr/>
      </dsp:nvSpPr>
      <dsp:spPr>
        <a:xfrm>
          <a:off x="3390493" y="951398"/>
          <a:ext cx="2019681" cy="1741317"/>
        </a:xfrm>
        <a:prstGeom prst="hexagon">
          <a:avLst>
            <a:gd name="adj" fmla="val 25000"/>
            <a:gd name="vf" fmla="val 115470"/>
          </a:avLst>
        </a:prstGeom>
        <a:solidFill>
          <a:schemeClr val="accent6">
            <a:shade val="80000"/>
            <a:hueOff val="-411722"/>
            <a:satOff val="-8076"/>
            <a:lumOff val="28541"/>
            <a:alphaOff val="0"/>
          </a:schemeClr>
        </a:solid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5560" rIns="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Agency FB" panose="020B0503020202020204" pitchFamily="34" charset="0"/>
            </a:rPr>
            <a:t>ERROR WHILE TRAINING MODEL</a:t>
          </a:r>
          <a:endParaRPr lang="en-IN" sz="2800" kern="1200" dirty="0">
            <a:latin typeface="Agency FB" panose="020B0503020202020204" pitchFamily="34" charset="0"/>
          </a:endParaRPr>
        </a:p>
      </dsp:txBody>
      <dsp:txXfrm>
        <a:off x="3703910" y="1221618"/>
        <a:ext cx="1392848" cy="1200877"/>
      </dsp:txXfrm>
    </dsp:sp>
    <dsp:sp modelId="{E93D8D3B-DD6D-4F5D-8B05-ED9DE8F6B02A}">
      <dsp:nvSpPr>
        <dsp:cNvPr id="0" name=""/>
        <dsp:cNvSpPr/>
      </dsp:nvSpPr>
      <dsp:spPr>
        <a:xfrm>
          <a:off x="4759707" y="989123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rgbClr val="00B0F0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96477-8562-4B7B-9A83-2226D1B67A7A}">
      <dsp:nvSpPr>
        <dsp:cNvPr id="0" name=""/>
        <dsp:cNvSpPr/>
      </dsp:nvSpPr>
      <dsp:spPr>
        <a:xfrm>
          <a:off x="5111175" y="0"/>
          <a:ext cx="2019681" cy="1741317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accent6">
              <a:shade val="80000"/>
              <a:hueOff val="-411722"/>
              <a:satOff val="-8076"/>
              <a:lumOff val="285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51001-573B-46A9-9635-33786B86F1D3}">
      <dsp:nvSpPr>
        <dsp:cNvPr id="0" name=""/>
        <dsp:cNvSpPr/>
      </dsp:nvSpPr>
      <dsp:spPr>
        <a:xfrm>
          <a:off x="5170831" y="764615"/>
          <a:ext cx="236468" cy="203805"/>
        </a:xfrm>
        <a:prstGeom prst="hexagon">
          <a:avLst>
            <a:gd name="adj" fmla="val 25000"/>
            <a:gd name="vf" fmla="val 115470"/>
          </a:avLst>
        </a:prstGeom>
        <a:solidFill>
          <a:schemeClr val="accent1"/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9:08:59.439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1,'5'0,"0"0,1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4D0D0-950F-4111-AAFB-ACB17AFC55BA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D6770-F474-4106-9277-5942145D1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99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D6770-F474-4106-9277-5942145D1255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2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D6770-F474-4106-9277-5942145D1255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75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601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68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33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0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6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41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9577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552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290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97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93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93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6883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55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04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222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917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6647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894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444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102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91945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373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71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532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39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059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1534-35A7-1CCD-16B3-945463C3C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9D8EE-C277-800E-4238-A69BEC3D5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A7E87-FD48-3A45-892C-5C23A0C6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0C10-31EC-5CFD-C204-DE154CB5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30C55-D7B4-CBF3-A3EC-92028658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82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62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AD6F3E07-324A-4F4C-8A62-05D7390B48EF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C45D4CB-4087-4FD7-A2D7-2B0E596005F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163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53.jpeg"/><Relationship Id="rId7" Type="http://schemas.openxmlformats.org/officeDocument/2006/relationships/image" Target="../media/image57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6A3E-AABD-4874-C057-12896E31E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387" y="151980"/>
            <a:ext cx="9144000" cy="190075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 3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70FC2-AEEA-D28E-E55A-0F10C8F3A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441" y="2529163"/>
            <a:ext cx="10795518" cy="2089489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Regularization &amp; 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Optimization 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for Deep Learning</a:t>
            </a:r>
            <a:endParaRPr lang="en-IN" sz="3600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1062C-4208-8C66-DE85-1927A60E3F17}"/>
              </a:ext>
            </a:extLst>
          </p:cNvPr>
          <p:cNvSpPr txBox="1"/>
          <p:nvPr/>
        </p:nvSpPr>
        <p:spPr>
          <a:xfrm>
            <a:off x="2883159" y="4942505"/>
            <a:ext cx="9743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Making Neural Networks Learn Smarter, Not Harder</a:t>
            </a:r>
          </a:p>
        </p:txBody>
      </p:sp>
    </p:spTree>
    <p:extLst>
      <p:ext uri="{BB962C8B-B14F-4D97-AF65-F5344CB8AC3E}">
        <p14:creationId xmlns:p14="http://schemas.microsoft.com/office/powerpoint/2010/main" val="3090275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E748-906D-BC28-AC18-1A30D80D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AGENDA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349A-8DC6-9067-AE78-987366BFF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Regularization for Deep Learning: 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Parameter Norm Penalties - L2 Parameter Regularization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Augmentation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Semi-Supervised Learning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for Training Deep Models: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Challenges in Neural Network Optimization – Ill Conditioning, Local Minima, Plateaus, Saddle Points and Other Flat Regions.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402788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B8E5-0025-B8CB-C15A-B77AF386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D027-04E3-2B25-4D9F-413CDBCD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MEMORIZATION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VS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UNDERSTANDING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9AF4D3-E3CA-A8BF-97BC-248BE67D7B0C}"/>
              </a:ext>
            </a:extLst>
          </p:cNvPr>
          <p:cNvSpPr/>
          <p:nvPr/>
        </p:nvSpPr>
        <p:spPr>
          <a:xfrm>
            <a:off x="1464906" y="1867862"/>
            <a:ext cx="2789853" cy="12503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Memorization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BF70F4-3951-9E12-FB42-5486DB7C47D3}"/>
              </a:ext>
            </a:extLst>
          </p:cNvPr>
          <p:cNvSpPr/>
          <p:nvPr/>
        </p:nvSpPr>
        <p:spPr>
          <a:xfrm>
            <a:off x="1579984" y="4270307"/>
            <a:ext cx="2789853" cy="12503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Understanding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E4762B-0D1A-57A6-6E32-E05DF744ECB5}"/>
              </a:ext>
            </a:extLst>
          </p:cNvPr>
          <p:cNvSpPr/>
          <p:nvPr/>
        </p:nvSpPr>
        <p:spPr>
          <a:xfrm>
            <a:off x="6662192" y="4270307"/>
            <a:ext cx="3181603" cy="12503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Generalization</a:t>
            </a:r>
            <a:endParaRPr lang="en-IN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733C9D-2B0F-61A7-531A-D52DB3772C39}"/>
              </a:ext>
            </a:extLst>
          </p:cNvPr>
          <p:cNvSpPr/>
          <p:nvPr/>
        </p:nvSpPr>
        <p:spPr>
          <a:xfrm>
            <a:off x="6620137" y="1832375"/>
            <a:ext cx="2789853" cy="12503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</a:rPr>
              <a:t>Overfitting</a:t>
            </a:r>
            <a:endParaRPr lang="en-IN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B7F21B7-C2E0-ABA0-8351-4635E0FAB6B9}"/>
              </a:ext>
            </a:extLst>
          </p:cNvPr>
          <p:cNvSpPr/>
          <p:nvPr/>
        </p:nvSpPr>
        <p:spPr>
          <a:xfrm>
            <a:off x="4411892" y="4463705"/>
            <a:ext cx="2208245" cy="54210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33C2BBB-B644-E154-4F6E-534DDC460A7E}"/>
              </a:ext>
            </a:extLst>
          </p:cNvPr>
          <p:cNvSpPr/>
          <p:nvPr/>
        </p:nvSpPr>
        <p:spPr>
          <a:xfrm>
            <a:off x="4354353" y="2186472"/>
            <a:ext cx="2208245" cy="54210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51259"/>
      </p:ext>
    </p:extLst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647A-8C37-37E7-6E09-57381DB0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7064-6FB5-4DA7-D2EE-4EA6C245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WHAT DOES NEURAL NETWORK LEARN?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: Single Corner Snipped 3">
            <a:extLst>
              <a:ext uri="{FF2B5EF4-FFF2-40B4-BE49-F238E27FC236}">
                <a16:creationId xmlns:a16="http://schemas.microsoft.com/office/drawing/2014/main" id="{49F4C83E-B033-615B-EC1D-8994766F463B}"/>
              </a:ext>
            </a:extLst>
          </p:cNvPr>
          <p:cNvSpPr/>
          <p:nvPr/>
        </p:nvSpPr>
        <p:spPr>
          <a:xfrm>
            <a:off x="160883" y="1105863"/>
            <a:ext cx="2911287" cy="639228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Training Data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E8273ABD-FD4F-5DA7-6DE5-044141ACF492}"/>
              </a:ext>
            </a:extLst>
          </p:cNvPr>
          <p:cNvSpPr/>
          <p:nvPr/>
        </p:nvSpPr>
        <p:spPr>
          <a:xfrm>
            <a:off x="2432752" y="1902974"/>
            <a:ext cx="2911287" cy="542110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Neural Network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7AE4A1B7-56A7-8991-3FAA-7822F4CFDF1A}"/>
              </a:ext>
            </a:extLst>
          </p:cNvPr>
          <p:cNvSpPr/>
          <p:nvPr/>
        </p:nvSpPr>
        <p:spPr>
          <a:xfrm>
            <a:off x="4762363" y="2602967"/>
            <a:ext cx="2911287" cy="542109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Learn Patterns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83BBE384-17A4-60AF-6858-836BCE8D7216}"/>
              </a:ext>
            </a:extLst>
          </p:cNvPr>
          <p:cNvSpPr/>
          <p:nvPr/>
        </p:nvSpPr>
        <p:spPr>
          <a:xfrm>
            <a:off x="7070067" y="3252335"/>
            <a:ext cx="2911287" cy="542110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accent1">
                    <a:lumMod val="75000"/>
                  </a:schemeClr>
                </a:solidFill>
              </a:rPr>
              <a:t>Prediction</a:t>
            </a: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9F4CC709-1F75-2C65-8D96-6D3CB8560F08}"/>
              </a:ext>
            </a:extLst>
          </p:cNvPr>
          <p:cNvSpPr/>
          <p:nvPr/>
        </p:nvSpPr>
        <p:spPr>
          <a:xfrm>
            <a:off x="9122093" y="3901704"/>
            <a:ext cx="2911287" cy="542110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New / Unseen Data</a:t>
            </a:r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D6C70E89-B0B2-0FDD-286F-28746FB0A615}"/>
              </a:ext>
            </a:extLst>
          </p:cNvPr>
          <p:cNvSpPr/>
          <p:nvPr/>
        </p:nvSpPr>
        <p:spPr>
          <a:xfrm>
            <a:off x="3051143" y="1013088"/>
            <a:ext cx="1427484" cy="88988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88EC517B-0251-0AA0-183C-D91C4EA24754}"/>
              </a:ext>
            </a:extLst>
          </p:cNvPr>
          <p:cNvSpPr/>
          <p:nvPr/>
        </p:nvSpPr>
        <p:spPr>
          <a:xfrm>
            <a:off x="5355180" y="1851982"/>
            <a:ext cx="1059160" cy="74482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3FBAC3BA-7713-5EF2-7644-904220C03292}"/>
              </a:ext>
            </a:extLst>
          </p:cNvPr>
          <p:cNvSpPr/>
          <p:nvPr/>
        </p:nvSpPr>
        <p:spPr>
          <a:xfrm>
            <a:off x="7673651" y="2507511"/>
            <a:ext cx="1162440" cy="74482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Arrow: Curved Down 20">
            <a:extLst>
              <a:ext uri="{FF2B5EF4-FFF2-40B4-BE49-F238E27FC236}">
                <a16:creationId xmlns:a16="http://schemas.microsoft.com/office/drawing/2014/main" id="{EEE8166B-BFE5-C1CA-7788-337CC711365A}"/>
              </a:ext>
            </a:extLst>
          </p:cNvPr>
          <p:cNvSpPr/>
          <p:nvPr/>
        </p:nvSpPr>
        <p:spPr>
          <a:xfrm>
            <a:off x="9981354" y="3210674"/>
            <a:ext cx="1290734" cy="69103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68B02970-2709-55EE-C08E-60007B4C7368}"/>
              </a:ext>
            </a:extLst>
          </p:cNvPr>
          <p:cNvSpPr/>
          <p:nvPr/>
        </p:nvSpPr>
        <p:spPr>
          <a:xfrm>
            <a:off x="1408922" y="3974841"/>
            <a:ext cx="4432041" cy="1520890"/>
          </a:xfrm>
          <a:prstGeom prst="round2Diag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Generalization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199628-6581-2816-E422-64899FFDEDBA}"/>
              </a:ext>
            </a:extLst>
          </p:cNvPr>
          <p:cNvSpPr/>
          <p:nvPr/>
        </p:nvSpPr>
        <p:spPr>
          <a:xfrm>
            <a:off x="1408922" y="5617029"/>
            <a:ext cx="4432040" cy="970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rgbClr val="002060"/>
                </a:solidFill>
                <a:latin typeface="Brush Script MT" panose="03060802040406070304" pitchFamily="66" charset="0"/>
              </a:rPr>
              <a:t>The ability of a model to perform well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2661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E1182-333C-5901-7A86-2724EA11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2284-8A9E-6096-4ADD-67140A71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TRAINING ERROR 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VS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TESTING ERROR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A5E4AA-09B1-7D09-E31C-B1DE4856D2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994769"/>
              </p:ext>
            </p:extLst>
          </p:nvPr>
        </p:nvGraphicFramePr>
        <p:xfrm>
          <a:off x="700088" y="1511300"/>
          <a:ext cx="10515600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770779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D0C3-D19A-8BA1-2AFC-13026181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9575-6DD8-4EC3-DF8B-9417BBD1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UNDERFITTING-MODEL IS TOO SIMPLE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0C8BDE-C562-1973-59DC-AFE5E553C46C}"/>
              </a:ext>
            </a:extLst>
          </p:cNvPr>
          <p:cNvSpPr/>
          <p:nvPr/>
        </p:nvSpPr>
        <p:spPr>
          <a:xfrm>
            <a:off x="1455576" y="1839870"/>
            <a:ext cx="3461657" cy="125030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TRAINING PERFORMANCE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A35AF0-6034-F646-7942-426B6C5BF5EE}"/>
              </a:ext>
            </a:extLst>
          </p:cNvPr>
          <p:cNvSpPr/>
          <p:nvPr/>
        </p:nvSpPr>
        <p:spPr>
          <a:xfrm>
            <a:off x="6423990" y="4212769"/>
            <a:ext cx="1516361" cy="89573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POOR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F60702-5FE1-2D22-F002-BB333B263ED3}"/>
              </a:ext>
            </a:extLst>
          </p:cNvPr>
          <p:cNvSpPr/>
          <p:nvPr/>
        </p:nvSpPr>
        <p:spPr>
          <a:xfrm>
            <a:off x="1617305" y="3918854"/>
            <a:ext cx="3299928" cy="148356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TESTING PERFORMANCE 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C0DA7C-E1AC-F65E-23FF-862A79B3FA64}"/>
              </a:ext>
            </a:extLst>
          </p:cNvPr>
          <p:cNvSpPr/>
          <p:nvPr/>
        </p:nvSpPr>
        <p:spPr>
          <a:xfrm>
            <a:off x="6340015" y="1951837"/>
            <a:ext cx="1600336" cy="99078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POOR</a:t>
            </a:r>
            <a:r>
              <a:rPr lang="en-IN" b="1" dirty="0"/>
              <a:t> </a:t>
            </a:r>
            <a:endParaRPr lang="en-IN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F9BA349A-3F67-2451-E16F-1A77812E4D05}"/>
              </a:ext>
            </a:extLst>
          </p:cNvPr>
          <p:cNvSpPr/>
          <p:nvPr/>
        </p:nvSpPr>
        <p:spPr>
          <a:xfrm>
            <a:off x="4875245" y="1749495"/>
            <a:ext cx="1506758" cy="504715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8C6949D2-EC23-8E82-DE18-3DD113FA1C0D}"/>
              </a:ext>
            </a:extLst>
          </p:cNvPr>
          <p:cNvSpPr/>
          <p:nvPr/>
        </p:nvSpPr>
        <p:spPr>
          <a:xfrm rot="10800000">
            <a:off x="4917232" y="4603790"/>
            <a:ext cx="1506757" cy="504714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326647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DD7D-210D-DCAA-EBD8-26543014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A8F3-F6E5-FE6F-A8B2-5553DF15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GOOD FIT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403AD4-7706-8AFE-A245-208B634C1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321775"/>
              </p:ext>
            </p:extLst>
          </p:nvPr>
        </p:nvGraphicFramePr>
        <p:xfrm>
          <a:off x="700088" y="1511300"/>
          <a:ext cx="10515600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0537532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58B6-3E40-37E4-F6ED-651472E8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5887-317F-328C-33FF-902AC637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OVERFITTING- MODEL IS TOO COMPLEX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6D4077-269A-3F50-16F1-11C8EC935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291057"/>
              </p:ext>
            </p:extLst>
          </p:nvPr>
        </p:nvGraphicFramePr>
        <p:xfrm>
          <a:off x="700088" y="1511300"/>
          <a:ext cx="10515600" cy="4600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4955022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0A1E-2865-70C9-88B3-980AB3F5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B47C-8B3A-2647-5981-F8CEB094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DOES OVERFITTING HAPPEN?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D5AE5C-C809-C25A-3398-633DC1FB7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9" y="1035887"/>
            <a:ext cx="10776993" cy="5252946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Very complex model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Too many parameters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Small training dataset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Noisy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Insufficient regularization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Excessive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892856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D6D7-6C53-73F9-7575-F7A8FEEA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8529-2334-B869-385E-AA3D8E80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LET’S SEE OVERFITTING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A96909-D536-D0E2-88C1-D8E8240D5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9" y="1035887"/>
            <a:ext cx="10776993" cy="5252946"/>
          </a:xfrm>
        </p:spPr>
        <p:txBody>
          <a:bodyPr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Select a difficult dataset such as </a:t>
            </a:r>
            <a:r>
              <a:rPr lang="en-IN" sz="2800" b="1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Spiral</a:t>
            </a: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Use a relatively complex network.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Keep regularization OFF.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Train the network.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Observe the decision boundary.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Artifakt Element Light" panose="020B0303050000020004" pitchFamily="34" charset="0"/>
                <a:ea typeface="Artifakt Element Light" panose="020B0303050000020004" pitchFamily="34" charset="0"/>
              </a:rPr>
              <a:t>Compare training and test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853488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1E99-A393-19C6-BF28-9E9634A9B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6FD3-CDA3-A2A6-64D9-178B1EDD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FROM OVERFITTING TO REGULARIZATION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34B91D-BA3E-D0DA-61EC-F2FDF87CE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59" y="1035887"/>
            <a:ext cx="10776993" cy="525294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Arial Rounded MT Bold" panose="020F0704030504030204" pitchFamily="34" charset="0"/>
              </a:rPr>
              <a:t>Regularization is a technique used to reduce overfitting by controlling the complexity of a machine learning model and improving its ability to generalize to unseen data.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1F28BB-53AC-2292-2DAA-713710957A7F}"/>
              </a:ext>
            </a:extLst>
          </p:cNvPr>
          <p:cNvSpPr/>
          <p:nvPr/>
        </p:nvSpPr>
        <p:spPr>
          <a:xfrm>
            <a:off x="1091681" y="2873828"/>
            <a:ext cx="2836507" cy="11103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REGULARIZATION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D7B408-6F4F-D85E-788D-BC16A6A7EC78}"/>
              </a:ext>
            </a:extLst>
          </p:cNvPr>
          <p:cNvSpPr/>
          <p:nvPr/>
        </p:nvSpPr>
        <p:spPr>
          <a:xfrm>
            <a:off x="7484703" y="2957804"/>
            <a:ext cx="2836507" cy="111034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GOOD GENERALIZATION</a:t>
            </a:r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26BF25-FF64-E604-9BF2-AA24056B5832}"/>
              </a:ext>
            </a:extLst>
          </p:cNvPr>
          <p:cNvCxnSpPr/>
          <p:nvPr/>
        </p:nvCxnSpPr>
        <p:spPr>
          <a:xfrm>
            <a:off x="4086808" y="3429000"/>
            <a:ext cx="32750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1632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B903-1974-A897-4D53-1A2A4A41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0F50-677C-F940-AD38-7D9E7CE1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HOW DOES REGULARIZATION HELP US?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669DBE-A013-AAD2-EB34-ADF41D13C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35" y="2025325"/>
            <a:ext cx="1924050" cy="26384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B6B3DC-2A75-55FE-279E-C3D6D89B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866" y="2230112"/>
            <a:ext cx="2314575" cy="22288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64016536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C125E-87EE-6997-0C55-35EC19C3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A405-35E4-B339-4F91-6A82836D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 WE NEED OPTIMIZATION &amp; REGULARIZATION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7F158-3565-9BEB-BC50-13A9479C0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877266"/>
            <a:ext cx="10515600" cy="4599432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Neural Network:</a:t>
            </a:r>
            <a:br>
              <a:rPr lang="en-IN" sz="2000" dirty="0"/>
            </a:br>
            <a:r>
              <a:rPr lang="en-IN" sz="2000" i="1" dirty="0"/>
              <a:t>"Our network receives input and makes a prediction."</a:t>
            </a:r>
            <a:endParaRPr lang="en-IN" sz="2000" dirty="0"/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Loss:</a:t>
            </a:r>
            <a:br>
              <a:rPr lang="en-IN" sz="2000" dirty="0"/>
            </a:br>
            <a:r>
              <a:rPr lang="en-IN" sz="2000" i="1" dirty="0"/>
              <a:t>"How wrong was our prediction?"</a:t>
            </a:r>
            <a:endParaRPr lang="en-IN" sz="2000" dirty="0"/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Backpropagation:</a:t>
            </a:r>
            <a:br>
              <a:rPr lang="en-IN" sz="2000" dirty="0"/>
            </a:br>
            <a:r>
              <a:rPr lang="en-IN" sz="2000" i="1" dirty="0"/>
              <a:t>"Which weights are responsible for the error, and in which direction should they change?"</a:t>
            </a:r>
            <a:endParaRPr lang="en-IN" sz="2000" dirty="0"/>
          </a:p>
          <a:p>
            <a:r>
              <a:rPr lang="en-I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Optimization:</a:t>
            </a:r>
            <a:br>
              <a:rPr lang="en-IN" sz="2000" dirty="0"/>
            </a:br>
            <a:r>
              <a:rPr lang="en-IN" sz="2000" i="1" dirty="0"/>
              <a:t>"Okay, we know the direction. But HOW MUCH should we change the weights?"</a:t>
            </a:r>
            <a:endParaRPr lang="en-IN" sz="2000" dirty="0"/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72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D5990E-FE09-055A-6730-6833A1527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59" y="868619"/>
            <a:ext cx="2390775" cy="2657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0C2B01-1D69-989A-6AF8-6CE6365C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511" y="868619"/>
            <a:ext cx="2390775" cy="2066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C94109-B598-CC82-FE37-94CB7D88A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510" y="3176392"/>
            <a:ext cx="2390775" cy="1714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D84738-783C-06F3-2A97-3E6979909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984" y="5844364"/>
            <a:ext cx="5257800" cy="581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217EED-CA6C-464C-C89C-CB59ADC7D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684" y="1087015"/>
            <a:ext cx="3430555" cy="514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9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8C7F9F-AD5C-6DC1-EC60-1AD43B05E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506" y="3429000"/>
            <a:ext cx="3825551" cy="29252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86919F-977F-B1E3-6BA0-A913F4023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78" y="1303176"/>
            <a:ext cx="6629400" cy="1676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2962B7-CD23-5619-943E-83223A211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794" y="1662306"/>
            <a:ext cx="1914525" cy="7715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7764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11FD-732C-A7B2-032F-FA771E21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C684-9CA9-6428-77EE-CB0F2CEA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REGULARIZATION TECHNIQUES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ED20F6-0078-A918-0F03-71D9563A5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549152"/>
              </p:ext>
            </p:extLst>
          </p:nvPr>
        </p:nvGraphicFramePr>
        <p:xfrm>
          <a:off x="824058" y="1026108"/>
          <a:ext cx="1054388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6084">
                  <a:extLst>
                    <a:ext uri="{9D8B030D-6E8A-4147-A177-3AD203B41FA5}">
                      <a16:colId xmlns:a16="http://schemas.microsoft.com/office/drawing/2014/main" val="7032504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74431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Technique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Basic Idea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73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Algerian" panose="04020705040A02060702" pitchFamily="82" charset="0"/>
                        </a:rPr>
                        <a:t>L1 Regularization</a:t>
                      </a:r>
                      <a:endParaRPr lang="en-IN" sz="2000" dirty="0">
                        <a:latin typeface="Algerian" panose="04020705040A02060702" pitchFamily="82" charset="0"/>
                      </a:endParaRP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Penalizes absolute values of weights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97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Algerian" panose="04020705040A02060702" pitchFamily="82" charset="0"/>
                        </a:rPr>
                        <a:t>L2 Regularization</a:t>
                      </a:r>
                      <a:endParaRPr lang="en-IN" sz="2000" dirty="0">
                        <a:latin typeface="Algerian" panose="04020705040A02060702" pitchFamily="82" charset="0"/>
                      </a:endParaRP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Penalizes squared values of weights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9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Algerian" panose="04020705040A02060702" pitchFamily="82" charset="0"/>
                        </a:rPr>
                        <a:t>Dropout</a:t>
                      </a:r>
                      <a:endParaRPr lang="en-IN" sz="2000" dirty="0">
                        <a:latin typeface="Algerian" panose="04020705040A02060702" pitchFamily="82" charset="0"/>
                      </a:endParaRP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Randomly deactivates neurons during training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23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Algerian" panose="04020705040A02060702" pitchFamily="82" charset="0"/>
                        </a:rPr>
                        <a:t>Data Augmentation</a:t>
                      </a:r>
                      <a:endParaRPr lang="en-IN" sz="2000" dirty="0">
                        <a:latin typeface="Algerian" panose="04020705040A02060702" pitchFamily="82" charset="0"/>
                      </a:endParaRP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Creates varied training examples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8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latin typeface="Algerian" panose="04020705040A02060702" pitchFamily="82" charset="0"/>
                        </a:rPr>
                        <a:t>Early Stopping</a:t>
                      </a:r>
                      <a:endParaRPr lang="en-IN" sz="2000" dirty="0">
                        <a:latin typeface="Algerian" panose="04020705040A02060702" pitchFamily="82" charset="0"/>
                      </a:endParaRP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lgerian" panose="04020705040A02060702" pitchFamily="82" charset="0"/>
                        </a:rPr>
                        <a:t>Stops training before the model starts overfitting</a:t>
                      </a:r>
                    </a:p>
                    <a:p>
                      <a:endParaRPr lang="en-IN" sz="2000" dirty="0">
                        <a:latin typeface="Algerian" panose="04020705040A02060702" pitchFamily="8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936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103E6A-B055-DD9C-B894-617CBB16D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914451"/>
              </p:ext>
            </p:extLst>
          </p:nvPr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413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EB5F-16BD-1C2E-B315-13FDB88B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603D-9913-342F-68A6-25F32B4D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Parameter Norms &amp; Penalties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3EB54-1966-27C4-31CF-BE11BD8FE19F}"/>
              </a:ext>
            </a:extLst>
          </p:cNvPr>
          <p:cNvSpPr txBox="1"/>
          <p:nvPr/>
        </p:nvSpPr>
        <p:spPr>
          <a:xfrm>
            <a:off x="419878" y="1222310"/>
            <a:ext cx="4455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parameter norm penalty?</a:t>
            </a:r>
            <a:endParaRPr lang="en-IN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D53BE-CF05-44E5-F673-038B91A47DD6}"/>
                  </a:ext>
                </a:extLst>
              </p:cNvPr>
              <p:cNvSpPr txBox="1"/>
              <p:nvPr/>
            </p:nvSpPr>
            <p:spPr>
              <a:xfrm>
                <a:off x="452234" y="1709554"/>
                <a:ext cx="11490950" cy="3715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Neural network has many parameters: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Regularization adds a </a:t>
                </a:r>
                <a:r>
                  <a:rPr lang="en-IN" b="1" dirty="0"/>
                  <a:t>penalty</a:t>
                </a:r>
                <a:r>
                  <a:rPr lang="en-IN" dirty="0"/>
                  <a:t> to the loss when the weights become large.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Instead of minimizing only: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we minimize: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𝑟𝑒𝑔𝑢𝑙𝑎𝑟𝑖𝑧𝑒𝑑</m:t>
                          </m:r>
                        </m:sub>
                      </m:sSub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𝑟𝑒𝑔𝑢𝑙𝑎𝑟𝑖𝑧𝑒𝑑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IN" dirty="0"/>
                  <a:t> = Total error cost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IN" dirty="0"/>
                  <a:t>= original loss (Avg Training Error)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IN" dirty="0"/>
                  <a:t>= penalty term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dirty="0"/>
                  <a:t>= regularization strength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D53BE-CF05-44E5-F673-038B91A47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34" y="1709554"/>
                <a:ext cx="11490950" cy="3715889"/>
              </a:xfrm>
              <a:prstGeom prst="rect">
                <a:avLst/>
              </a:prstGeom>
              <a:blipFill>
                <a:blip r:embed="rId2"/>
                <a:stretch>
                  <a:fillRect l="-424" t="-656" b="-22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5B10F0F-D2B9-BE67-8B2C-DF96BB9E7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94" y="5635690"/>
            <a:ext cx="51816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58808"/>
      </p:ext>
    </p:extLst>
  </p:cSld>
  <p:clrMapOvr>
    <a:masterClrMapping/>
  </p:clrMapOvr>
  <p:transition spd="slow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F65B-1076-0617-55FE-3BA98C80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A1EC-A491-7E9E-E96E-8A43884A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Penalize the weights?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ED4529-A2D8-1D76-7792-DE13C9AD0F03}"/>
              </a:ext>
            </a:extLst>
          </p:cNvPr>
          <p:cNvSpPr/>
          <p:nvPr/>
        </p:nvSpPr>
        <p:spPr>
          <a:xfrm>
            <a:off x="729343" y="1119673"/>
            <a:ext cx="2696547" cy="1371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Large weights </a:t>
            </a:r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873C19A7-78A9-664F-81B4-0ABFA3E996B6}"/>
              </a:ext>
            </a:extLst>
          </p:cNvPr>
          <p:cNvSpPr/>
          <p:nvPr/>
        </p:nvSpPr>
        <p:spPr>
          <a:xfrm>
            <a:off x="3694923" y="1392437"/>
            <a:ext cx="2780522" cy="542109"/>
          </a:xfrm>
          <a:prstGeom prst="striped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BA7F1-F02F-59C2-DD17-F20A0FAC1E3D}"/>
              </a:ext>
            </a:extLst>
          </p:cNvPr>
          <p:cNvSpPr/>
          <p:nvPr/>
        </p:nvSpPr>
        <p:spPr>
          <a:xfrm>
            <a:off x="6839338" y="1119673"/>
            <a:ext cx="2696547" cy="1371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en-IN" dirty="0"/>
              <a:t> </a:t>
            </a:r>
          </a:p>
        </p:txBody>
      </p:sp>
      <p:pic>
        <p:nvPicPr>
          <p:cNvPr id="11" name="Graphic 10" descr="Close">
            <a:extLst>
              <a:ext uri="{FF2B5EF4-FFF2-40B4-BE49-F238E27FC236}">
                <a16:creationId xmlns:a16="http://schemas.microsoft.com/office/drawing/2014/main" id="{0F6F753D-DCE8-8E5C-26A9-092D3BEBA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6686" y="1206291"/>
            <a:ext cx="914400" cy="91440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A9FF5D-6CD2-4D6A-8064-A0F1033668DB}"/>
              </a:ext>
            </a:extLst>
          </p:cNvPr>
          <p:cNvSpPr/>
          <p:nvPr/>
        </p:nvSpPr>
        <p:spPr>
          <a:xfrm>
            <a:off x="754224" y="3127165"/>
            <a:ext cx="2646784" cy="11480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Parameter penalties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92DE4A2-64BF-831E-DA2A-D7362F6E4FE7}"/>
              </a:ext>
            </a:extLst>
          </p:cNvPr>
          <p:cNvSpPr/>
          <p:nvPr/>
        </p:nvSpPr>
        <p:spPr>
          <a:xfrm>
            <a:off x="6652726" y="3127165"/>
            <a:ext cx="5312229" cy="11480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Unnecessarily increase large weights 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E60A67-0946-D067-239A-8025FC4A5F97}"/>
              </a:ext>
            </a:extLst>
          </p:cNvPr>
          <p:cNvSpPr/>
          <p:nvPr/>
        </p:nvSpPr>
        <p:spPr>
          <a:xfrm>
            <a:off x="6652726" y="5324720"/>
            <a:ext cx="4009053" cy="11480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Control Model Complexity </a:t>
            </a: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3604532A-CB60-5E12-EC67-540C96D35B64}"/>
              </a:ext>
            </a:extLst>
          </p:cNvPr>
          <p:cNvSpPr/>
          <p:nvPr/>
        </p:nvSpPr>
        <p:spPr>
          <a:xfrm rot="5400000">
            <a:off x="8084690" y="4528931"/>
            <a:ext cx="747951" cy="542109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Graphic 24" descr="Checkmark">
            <a:extLst>
              <a:ext uri="{FF2B5EF4-FFF2-40B4-BE49-F238E27FC236}">
                <a16:creationId xmlns:a16="http://schemas.microsoft.com/office/drawing/2014/main" id="{F2D0A948-FD35-8F0F-C4AB-5B5570C92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484" y="2786808"/>
            <a:ext cx="914400" cy="914400"/>
          </a:xfrm>
          <a:prstGeom prst="rect">
            <a:avLst/>
          </a:prstGeom>
        </p:spPr>
      </p:pic>
      <p:sp>
        <p:nvSpPr>
          <p:cNvPr id="27" name="Arrow: Striped Right 26">
            <a:extLst>
              <a:ext uri="{FF2B5EF4-FFF2-40B4-BE49-F238E27FC236}">
                <a16:creationId xmlns:a16="http://schemas.microsoft.com/office/drawing/2014/main" id="{F9C61D5B-E54F-A747-E3D7-2B64685E615B}"/>
              </a:ext>
            </a:extLst>
          </p:cNvPr>
          <p:cNvSpPr/>
          <p:nvPr/>
        </p:nvSpPr>
        <p:spPr>
          <a:xfrm>
            <a:off x="3694923" y="3430153"/>
            <a:ext cx="2780522" cy="542109"/>
          </a:xfrm>
          <a:prstGeom prst="stripedRightArrow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99746"/>
      </p:ext>
    </p:extLst>
  </p:cSld>
  <p:clrMapOvr>
    <a:masterClrMapping/>
  </p:clrMapOvr>
  <p:transition spd="slow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1809-C466-3EF8-8F0B-F772C0C0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1D1F-CD64-DBA1-7483-51BFDB2E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L1 &amp; L2 REGULARIZATION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5F0F5-3D3A-2C94-DC5C-E0661D7ACA01}"/>
              </a:ext>
            </a:extLst>
          </p:cNvPr>
          <p:cNvSpPr txBox="1"/>
          <p:nvPr/>
        </p:nvSpPr>
        <p:spPr>
          <a:xfrm>
            <a:off x="419878" y="1222310"/>
            <a:ext cx="2321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 Regularization</a:t>
            </a:r>
            <a:endParaRPr lang="en-IN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8F223A-8B0D-314E-1794-A5297AF82BD9}"/>
                  </a:ext>
                </a:extLst>
              </p:cNvPr>
              <p:cNvSpPr txBox="1"/>
              <p:nvPr/>
            </p:nvSpPr>
            <p:spPr>
              <a:xfrm>
                <a:off x="2824707" y="1222310"/>
                <a:ext cx="6097554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                   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Ω(W)=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∑​∣w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​∣</m:t>
                    </m:r>
                  </m:oMath>
                </a14:m>
                <a:endParaRPr lang="en-I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endParaRPr lang="en-I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Therefore:</a:t>
                </a:r>
              </a:p>
              <a:p>
                <a:pPr>
                  <a:buNone/>
                </a:pP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J</a:t>
                </a:r>
                <a:r>
                  <a:rPr lang="en-I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L1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​=      J  +  λ∑​∣</a:t>
                </a:r>
                <a:r>
                  <a:rPr lang="en-IN" sz="28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IN" sz="28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​∣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8F223A-8B0D-314E-1794-A5297AF82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707" y="1222310"/>
                <a:ext cx="6097554" cy="1815882"/>
              </a:xfrm>
              <a:prstGeom prst="rect">
                <a:avLst/>
              </a:prstGeom>
              <a:blipFill>
                <a:blip r:embed="rId2"/>
                <a:stretch>
                  <a:fillRect l="-1998" t="-3704" b="-8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E247BE4-62C9-2F80-FA44-77C875B8E0F5}"/>
              </a:ext>
            </a:extLst>
          </p:cNvPr>
          <p:cNvSpPr txBox="1"/>
          <p:nvPr/>
        </p:nvSpPr>
        <p:spPr>
          <a:xfrm>
            <a:off x="419878" y="3875314"/>
            <a:ext cx="2321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Regularization</a:t>
            </a:r>
            <a:endParaRPr lang="en-IN" sz="20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33EE0E-C885-C53C-1748-41B5EF58B605}"/>
                  </a:ext>
                </a:extLst>
              </p:cNvPr>
              <p:cNvSpPr txBox="1"/>
              <p:nvPr/>
            </p:nvSpPr>
            <p:spPr>
              <a:xfrm>
                <a:off x="2741347" y="3649113"/>
                <a:ext cx="6097554" cy="1877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Ω(W)=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∑​w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>
                  <a:buNone/>
                </a:pPr>
                <a:endParaRPr lang="en-IN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Therefore:</a:t>
                </a:r>
              </a:p>
              <a:p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J</a:t>
                </a:r>
                <a:r>
                  <a:rPr lang="en-I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L2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​=      J  +  λ∑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​​</a:t>
                </a:r>
                <a:endParaRPr lang="en-IN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33EE0E-C885-C53C-1748-41B5EF58B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347" y="3649113"/>
                <a:ext cx="6097554" cy="1877437"/>
              </a:xfrm>
              <a:prstGeom prst="rect">
                <a:avLst/>
              </a:prstGeom>
              <a:blipFill>
                <a:blip r:embed="rId3"/>
                <a:stretch>
                  <a:fillRect l="-2100" t="-974" b="-8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0A482C8-8ED7-357B-18D5-60802C134DAB}"/>
              </a:ext>
            </a:extLst>
          </p:cNvPr>
          <p:cNvSpPr txBox="1"/>
          <p:nvPr/>
        </p:nvSpPr>
        <p:spPr>
          <a:xfrm>
            <a:off x="583506" y="5814305"/>
            <a:ext cx="112757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Usually, the regularization is applied to the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; biases are often excluded depending on the implementation.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155422"/>
      </p:ext>
    </p:extLst>
  </p:cSld>
  <p:clrMapOvr>
    <a:masterClrMapping/>
  </p:clrMapOvr>
  <p:transition spd="slow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E818-95C6-69C8-28C0-0AC17677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D69C-4677-5EDA-76B1-B258D7D3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Regularization Parameter 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FD2D3B-E283-E9A8-CB52-F913AE2C1A73}"/>
                  </a:ext>
                </a:extLst>
              </p:cNvPr>
              <p:cNvSpPr txBox="1"/>
              <p:nvPr/>
            </p:nvSpPr>
            <p:spPr>
              <a:xfrm>
                <a:off x="3953848" y="1245284"/>
                <a:ext cx="60975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I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L2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​=      J  +  λ∑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​​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FD2D3B-E283-E9A8-CB52-F913AE2C1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848" y="1245284"/>
                <a:ext cx="6097554" cy="523220"/>
              </a:xfrm>
              <a:prstGeom prst="rect">
                <a:avLst/>
              </a:prstGeom>
              <a:blipFill>
                <a:blip r:embed="rId2"/>
                <a:stretch>
                  <a:fillRect l="-2100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554023-705D-353E-D6BB-E07ADF0320A0}"/>
                  </a:ext>
                </a:extLst>
              </p:cNvPr>
              <p:cNvSpPr txBox="1"/>
              <p:nvPr/>
            </p:nvSpPr>
            <p:spPr>
              <a:xfrm>
                <a:off x="1331946" y="1864291"/>
                <a:ext cx="937026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λ controls the strength of regularization.</a:t>
                </a:r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If λ = 0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en-I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                      No regularization.</a:t>
                </a:r>
              </a:p>
              <a:p>
                <a:pPr>
                  <a:buNone/>
                </a:pP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λ: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 penalty.</a:t>
                </a:r>
              </a:p>
              <a:p>
                <a:pPr>
                  <a:buNone/>
                </a:pPr>
                <a:r>
                  <a:rPr lang="en-I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λ: </a:t>
                </a:r>
                <a:r>
                  <a:rPr lang="en-I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 penalty.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554023-705D-353E-D6BB-E07ADF032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946" y="1864291"/>
                <a:ext cx="9370266" cy="2308324"/>
              </a:xfrm>
              <a:prstGeom prst="rect">
                <a:avLst/>
              </a:prstGeom>
              <a:blipFill>
                <a:blip r:embed="rId3"/>
                <a:stretch>
                  <a:fillRect l="-975" t="-1852" b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811382"/>
      </p:ext>
    </p:extLst>
  </p:cSld>
  <p:clrMapOvr>
    <a:masterClrMapping/>
  </p:clrMapOvr>
  <p:transition spd="slow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4D3944-C08E-5946-F05C-320392BA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54" y="1048916"/>
            <a:ext cx="1924050" cy="13049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9FD349-41A9-2070-0C84-BE7F9B73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71" y="1048916"/>
            <a:ext cx="2000250" cy="13525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9159D-6D7E-2EEC-81C7-FE9EBF005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59" y="2901723"/>
            <a:ext cx="2543175" cy="18383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8367EB-62C8-08ED-D70F-41AE9950E0B8}"/>
              </a:ext>
            </a:extLst>
          </p:cNvPr>
          <p:cNvSpPr txBox="1"/>
          <p:nvPr/>
        </p:nvSpPr>
        <p:spPr>
          <a:xfrm>
            <a:off x="488302" y="5318650"/>
            <a:ext cx="11215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L2 does not tell the network to ignore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It tells the network to fit the data while also avoiding unnecessarily large weights</a:t>
            </a:r>
          </a:p>
        </p:txBody>
      </p:sp>
    </p:spTree>
    <p:extLst>
      <p:ext uri="{BB962C8B-B14F-4D97-AF65-F5344CB8AC3E}">
        <p14:creationId xmlns:p14="http://schemas.microsoft.com/office/powerpoint/2010/main" val="3407595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D922-6C56-59FF-7F67-340CD412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B1B0-E44A-7B82-0D39-B8A02346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L1 vs L2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DF68B80-BB36-029B-F698-97D53C4E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425651"/>
                  </p:ext>
                </p:extLst>
              </p:nvPr>
            </p:nvGraphicFramePr>
            <p:xfrm>
              <a:off x="293688" y="1233128"/>
              <a:ext cx="11604624" cy="310896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3868208">
                      <a:extLst>
                        <a:ext uri="{9D8B030D-6E8A-4147-A177-3AD203B41FA5}">
                          <a16:colId xmlns:a16="http://schemas.microsoft.com/office/drawing/2014/main" val="1704073437"/>
                        </a:ext>
                      </a:extLst>
                    </a:gridCol>
                    <a:gridCol w="3868208">
                      <a:extLst>
                        <a:ext uri="{9D8B030D-6E8A-4147-A177-3AD203B41FA5}">
                          <a16:colId xmlns:a16="http://schemas.microsoft.com/office/drawing/2014/main" val="1035597577"/>
                        </a:ext>
                      </a:extLst>
                    </a:gridCol>
                    <a:gridCol w="3868208">
                      <a:extLst>
                        <a:ext uri="{9D8B030D-6E8A-4147-A177-3AD203B41FA5}">
                          <a16:colId xmlns:a16="http://schemas.microsoft.com/office/drawing/2014/main" val="62821162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Feature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L1 Regularization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L2 Regularization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0464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Penalty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∑​∣</a:t>
                          </a:r>
                          <a:r>
                            <a:rPr lang="en-IN" sz="2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IN" sz="2000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</a:t>
                          </a:r>
                          <a:r>
                            <a:rPr lang="en-IN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​∣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∑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2000" i="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IN" sz="2000" i="0" baseline="-25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IN" sz="2000" i="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​</m:t>
                              </m:r>
                            </m:oMath>
                          </a14:m>
                          <a:r>
                            <a:rPr lang="en-IN" sz="2000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32815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Effect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Encourages sparsity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Encourages small weights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09840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Some weights become zero?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Often yes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Generally no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59058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Penalty shape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Absolute value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Squared value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991146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Common interpretation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Feature selection / sparse models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Weight decay / smoothness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6347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DF68B80-BB36-029B-F698-97D53C4E8B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425651"/>
                  </p:ext>
                </p:extLst>
              </p:nvPr>
            </p:nvGraphicFramePr>
            <p:xfrm>
              <a:off x="293688" y="1233128"/>
              <a:ext cx="11604624" cy="310896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3868208">
                      <a:extLst>
                        <a:ext uri="{9D8B030D-6E8A-4147-A177-3AD203B41FA5}">
                          <a16:colId xmlns:a16="http://schemas.microsoft.com/office/drawing/2014/main" val="1704073437"/>
                        </a:ext>
                      </a:extLst>
                    </a:gridCol>
                    <a:gridCol w="3868208">
                      <a:extLst>
                        <a:ext uri="{9D8B030D-6E8A-4147-A177-3AD203B41FA5}">
                          <a16:colId xmlns:a16="http://schemas.microsoft.com/office/drawing/2014/main" val="1035597577"/>
                        </a:ext>
                      </a:extLst>
                    </a:gridCol>
                    <a:gridCol w="3868208">
                      <a:extLst>
                        <a:ext uri="{9D8B030D-6E8A-4147-A177-3AD203B41FA5}">
                          <a16:colId xmlns:a16="http://schemas.microsoft.com/office/drawing/2014/main" val="62821162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Feature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L1 Regularization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L2 Regularization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0464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Penalty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∑​∣</a:t>
                          </a:r>
                          <a:r>
                            <a:rPr lang="en-IN" sz="2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</a:t>
                          </a:r>
                          <a:r>
                            <a:rPr lang="en-IN" sz="2000" baseline="-25000" dirty="0" err="1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</a:t>
                          </a:r>
                          <a:r>
                            <a:rPr lang="en-IN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​∣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110667" r="-315" b="-5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281558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Effect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Encourages sparsity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Encourages small weights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0984015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Some weights become zero?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Often yes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Generally no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5905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Penalty shape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Absolute value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Squared value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99114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400" b="1" dirty="0"/>
                            <a:t>Common interpretation</a:t>
                          </a:r>
                          <a:endParaRPr lang="en-IN" sz="2400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Feature selection / sparse models</a:t>
                          </a:r>
                          <a:endParaRPr lang="en-IN" sz="200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Weight decay / smoothness</a:t>
                          </a:r>
                          <a:endParaRPr lang="en-IN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63473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5432590"/>
      </p:ext>
    </p:extLst>
  </p:cSld>
  <p:clrMapOvr>
    <a:masterClrMapping/>
  </p:clrMapOvr>
  <p:transition spd="slow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D02C1-B55E-A4B3-CB6E-F8CA2D03E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B415-0C11-C5FE-96FB-8213A50A8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Numerical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BF07AF-6841-FF91-9DFF-31AC57CF1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283" y="1091682"/>
            <a:ext cx="5149433" cy="493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83204"/>
      </p:ext>
    </p:extLst>
  </p:cSld>
  <p:clrMapOvr>
    <a:masterClrMapping/>
  </p:clrMapOvr>
  <p:transition spd="slow">
    <p:comb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E501-8220-7B6B-AFBE-9A770252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A40A-7027-AB86-5415-1ABB13532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L2 – WEIGHT DECAY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AD680-609F-EF1D-A9A3-35F9072A2D8E}"/>
              </a:ext>
            </a:extLst>
          </p:cNvPr>
          <p:cNvSpPr txBox="1"/>
          <p:nvPr/>
        </p:nvSpPr>
        <p:spPr>
          <a:xfrm>
            <a:off x="389554" y="1026568"/>
            <a:ext cx="114043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L2 regularization is closely related to the idea of weight decay because it encourages weights to become smaller during 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Weight decay encourages the model to reduce those unnecessary weights, just like reducing unnecessary items in a backpack.</a:t>
            </a:r>
          </a:p>
        </p:txBody>
      </p:sp>
      <p:pic>
        <p:nvPicPr>
          <p:cNvPr id="6" name="Picture 5" descr="軽い荷物イラスト｜無料イラスト・フリー素材なら「イラストAC」">
            <a:extLst>
              <a:ext uri="{FF2B5EF4-FFF2-40B4-BE49-F238E27FC236}">
                <a16:creationId xmlns:a16="http://schemas.microsoft.com/office/drawing/2014/main" id="{70CF8948-BFD1-A8E7-FB78-403500D60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84" y="2875976"/>
            <a:ext cx="4572000" cy="3238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193821653"/>
      </p:ext>
    </p:extLst>
  </p:cSld>
  <p:clrMapOvr>
    <a:masterClrMapping/>
  </p:clrMapOvr>
  <p:transition spd="slow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D946-F42F-C953-CBC3-2002D340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1F17-329A-820B-8408-32C958A7A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389"/>
            <a:ext cx="10515600" cy="112956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L2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Parameter Regularization: How Does It Change the Weights?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2AE562-4E98-7A4D-80DE-755BED7DF076}"/>
              </a:ext>
            </a:extLst>
          </p:cNvPr>
          <p:cNvSpPr/>
          <p:nvPr/>
        </p:nvSpPr>
        <p:spPr>
          <a:xfrm>
            <a:off x="923731" y="2369621"/>
            <a:ext cx="2593910" cy="616175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DB4B8-57BB-30FE-572C-0ACA7A0A90EC}"/>
              </a:ext>
            </a:extLst>
          </p:cNvPr>
          <p:cNvSpPr txBox="1"/>
          <p:nvPr/>
        </p:nvSpPr>
        <p:spPr>
          <a:xfrm>
            <a:off x="1119674" y="2369622"/>
            <a:ext cx="239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Loss function</a:t>
            </a:r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35C51E-478A-8F10-B1CD-88998933B99D}"/>
              </a:ext>
            </a:extLst>
          </p:cNvPr>
          <p:cNvSpPr/>
          <p:nvPr/>
        </p:nvSpPr>
        <p:spPr>
          <a:xfrm>
            <a:off x="7044612" y="2276669"/>
            <a:ext cx="2593910" cy="802433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E1B6A5-0937-5ADB-3BD1-F258C8DA587D}"/>
              </a:ext>
            </a:extLst>
          </p:cNvPr>
          <p:cNvSpPr/>
          <p:nvPr/>
        </p:nvSpPr>
        <p:spPr>
          <a:xfrm>
            <a:off x="4495021" y="2164702"/>
            <a:ext cx="1558213" cy="9144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9CB1AD-7796-CF8F-078C-B0B8BA81C6D5}"/>
              </a:ext>
            </a:extLst>
          </p:cNvPr>
          <p:cNvSpPr txBox="1"/>
          <p:nvPr/>
        </p:nvSpPr>
        <p:spPr>
          <a:xfrm>
            <a:off x="4075144" y="2369622"/>
            <a:ext cx="239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Gradient</a:t>
            </a:r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3C041-5CF9-3325-CB76-1DAEB7548F9E}"/>
              </a:ext>
            </a:extLst>
          </p:cNvPr>
          <p:cNvSpPr txBox="1"/>
          <p:nvPr/>
        </p:nvSpPr>
        <p:spPr>
          <a:xfrm>
            <a:off x="7142584" y="2378953"/>
            <a:ext cx="2397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Weight update</a:t>
            </a:r>
            <a:endParaRPr lang="en-IN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Arrow: Notched Right 18">
            <a:extLst>
              <a:ext uri="{FF2B5EF4-FFF2-40B4-BE49-F238E27FC236}">
                <a16:creationId xmlns:a16="http://schemas.microsoft.com/office/drawing/2014/main" id="{6B99386F-BAEE-BC2C-CB72-414047A8B426}"/>
              </a:ext>
            </a:extLst>
          </p:cNvPr>
          <p:cNvSpPr/>
          <p:nvPr/>
        </p:nvSpPr>
        <p:spPr>
          <a:xfrm>
            <a:off x="3581786" y="2570406"/>
            <a:ext cx="863080" cy="214604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Notched Right 20">
            <a:extLst>
              <a:ext uri="{FF2B5EF4-FFF2-40B4-BE49-F238E27FC236}">
                <a16:creationId xmlns:a16="http://schemas.microsoft.com/office/drawing/2014/main" id="{2724DA46-30C5-2E15-1AF5-F2917286FEE4}"/>
              </a:ext>
            </a:extLst>
          </p:cNvPr>
          <p:cNvSpPr/>
          <p:nvPr/>
        </p:nvSpPr>
        <p:spPr>
          <a:xfrm>
            <a:off x="6105719" y="2593555"/>
            <a:ext cx="863080" cy="214604"/>
          </a:xfrm>
          <a:prstGeom prst="notched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249273"/>
      </p:ext>
    </p:extLst>
  </p:cSld>
  <p:clrMapOvr>
    <a:masterClrMapping/>
  </p:clrMapOvr>
  <p:transition spd="slow">
    <p:comb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D1DC-E823-B4BF-A073-7BC9AE0C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20736"/>
            <a:ext cx="10515600" cy="62608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With L2 Regularization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D10C71-7D7D-F5AE-77C2-EA41B045F2AC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60446" y="893686"/>
                <a:ext cx="10515600" cy="4599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I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L2 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(w)​=      J(w)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𝜆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CD10C71-7D7D-F5AE-77C2-EA41B045F2A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0446" y="893686"/>
                <a:ext cx="10515600" cy="4599432"/>
              </a:xfrm>
              <a:prstGeom prst="rect">
                <a:avLst/>
              </a:prstGeo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929276-AB4F-1DE2-2238-186EF93B6CFE}"/>
              </a:ext>
            </a:extLst>
          </p:cNvPr>
          <p:cNvSpPr/>
          <p:nvPr/>
        </p:nvSpPr>
        <p:spPr>
          <a:xfrm>
            <a:off x="6018246" y="1571855"/>
            <a:ext cx="4795934" cy="73975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Minimize training loss + weight penalty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39DADD-80BA-9739-BD12-A782F26F12C9}"/>
              </a:ext>
            </a:extLst>
          </p:cNvPr>
          <p:cNvSpPr/>
          <p:nvPr/>
        </p:nvSpPr>
        <p:spPr>
          <a:xfrm>
            <a:off x="4114801" y="3193402"/>
            <a:ext cx="1772816" cy="4711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NEW TERM ?</a:t>
            </a:r>
            <a:endParaRPr lang="en-IN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A66398-2527-BF43-43B8-10E96CAEEFE4}"/>
                  </a:ext>
                </a:extLst>
              </p:cNvPr>
              <p:cNvSpPr txBox="1"/>
              <p:nvPr/>
            </p:nvSpPr>
            <p:spPr>
              <a:xfrm>
                <a:off x="3048778" y="3067459"/>
                <a:ext cx="1261965" cy="723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𝜆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A66398-2527-BF43-43B8-10E96CAEE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78" y="3067459"/>
                <a:ext cx="1261965" cy="723083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30294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C0A8B-0321-64FF-EEF6-EEA1FE73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CC68-9E71-B821-3CAC-F4A5A313D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20736"/>
            <a:ext cx="10515600" cy="62608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DIFFERENTIATION?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25658-9A83-2B25-F3AE-E536C0E55042}"/>
              </a:ext>
            </a:extLst>
          </p:cNvPr>
          <p:cNvSpPr txBox="1"/>
          <p:nvPr/>
        </p:nvSpPr>
        <p:spPr>
          <a:xfrm>
            <a:off x="389554" y="841129"/>
            <a:ext cx="32120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Loss Function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Calculate Gradient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Determine direction of change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Update Weights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0DB91E-3138-9141-07E5-98C7B2AD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039" y="1750267"/>
            <a:ext cx="5715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41256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2CEC-CB34-8867-7CDB-30803744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D2D3-3B22-93CB-3B6A-D7AC24DF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20736"/>
            <a:ext cx="10515600" cy="62608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ADD L2</a:t>
            </a:r>
            <a:endParaRPr lang="en-IN" sz="40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294C6-3D73-977B-638A-9A604CE2C7E4}"/>
                  </a:ext>
                </a:extLst>
              </p:cNvPr>
              <p:cNvSpPr txBox="1"/>
              <p:nvPr/>
            </p:nvSpPr>
            <p:spPr>
              <a:xfrm>
                <a:off x="4028492" y="832777"/>
                <a:ext cx="6097554" cy="723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J</a:t>
                </a:r>
                <a:r>
                  <a:rPr lang="en-IN" sz="28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L2 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(w)​=      J(w)  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8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𝜆</m:t>
                        </m:r>
                      </m:num>
                      <m:den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∑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IN" sz="2800" i="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IN" sz="2800" i="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​</m:t>
                    </m:r>
                  </m:oMath>
                </a14:m>
                <a:r>
                  <a:rPr lang="en-IN" sz="2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IN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B294C6-3D73-977B-638A-9A604CE2C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492" y="832777"/>
                <a:ext cx="6097554" cy="723083"/>
              </a:xfrm>
              <a:prstGeom prst="rect">
                <a:avLst/>
              </a:prstGeom>
              <a:blipFill>
                <a:blip r:embed="rId2"/>
                <a:stretch>
                  <a:fillRect l="-2100" b="-9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C202F-E2B5-FD8A-2A94-3EA1F7B75731}"/>
                  </a:ext>
                </a:extLst>
              </p:cNvPr>
              <p:cNvSpPr txBox="1"/>
              <p:nvPr/>
            </p:nvSpPr>
            <p:spPr>
              <a:xfrm>
                <a:off x="1658517" y="1641817"/>
                <a:ext cx="6097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Now differentiate with respect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BC202F-E2B5-FD8A-2A94-3EA1F7B75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517" y="1641817"/>
                <a:ext cx="6097554" cy="369332"/>
              </a:xfrm>
              <a:prstGeom prst="rect">
                <a:avLst/>
              </a:prstGeom>
              <a:blipFill>
                <a:blip r:embed="rId3"/>
                <a:stretch>
                  <a:fillRect l="-800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B85AD1-63F7-6593-9F5B-F0184B2E7470}"/>
                  </a:ext>
                </a:extLst>
              </p:cNvPr>
              <p:cNvSpPr txBox="1"/>
              <p:nvPr/>
            </p:nvSpPr>
            <p:spPr>
              <a:xfrm>
                <a:off x="5061857" y="2011149"/>
                <a:ext cx="2934008" cy="814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28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IN" sz="28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sz="28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f>
                          <m:fPr>
                            <m:ctrlPr>
                              <a:rPr lang="en-IN" sz="2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IN" sz="2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sz="28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IN" sz="28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∑w</m:t>
                        </m:r>
                        <m:r>
                          <m:rPr>
                            <m:nor/>
                          </m:rPr>
                          <a:rPr lang="en-IN" sz="2800" i="0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IN" sz="2800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​</m:t>
                        </m:r>
                        <m:r>
                          <m:rPr>
                            <m:nor/>
                          </m:rPr>
                          <a:rPr lang="en-IN" sz="2800" i="0" baseline="30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8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B85AD1-63F7-6593-9F5B-F0184B2E7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857" y="2011149"/>
                <a:ext cx="2934008" cy="814134"/>
              </a:xfrm>
              <a:prstGeom prst="rect">
                <a:avLst/>
              </a:prstGeom>
              <a:blipFill>
                <a:blip r:embed="rId4"/>
                <a:stretch>
                  <a:fillRect b="-135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2626C9-0ABC-18B3-7451-DB7AB35BB271}"/>
                  </a:ext>
                </a:extLst>
              </p:cNvPr>
              <p:cNvSpPr txBox="1"/>
              <p:nvPr/>
            </p:nvSpPr>
            <p:spPr>
              <a:xfrm>
                <a:off x="4613986" y="3534953"/>
                <a:ext cx="3586751" cy="99552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4400" b="0" i="1" baseline="-2500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4400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4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sz="4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IN" sz="4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IN" sz="4400" dirty="0"/>
                  <a:t> + </a:t>
                </a:r>
                <a:r>
                  <a:rPr lang="el-GR" sz="4400" dirty="0">
                    <a:latin typeface="Yu Gothic Medium" panose="020B0500000000000000" pitchFamily="34" charset="-128"/>
                    <a:ea typeface="Yu Gothic Medium" panose="020B0500000000000000" pitchFamily="34" charset="-128"/>
                  </a:rPr>
                  <a:t>λ</a:t>
                </a:r>
                <a:r>
                  <a:rPr lang="en-US" sz="4400" dirty="0">
                    <a:latin typeface="Yu Gothic Medium" panose="020B0500000000000000" pitchFamily="34" charset="-128"/>
                    <a:ea typeface="Yu Gothic Medium" panose="020B0500000000000000" pitchFamily="34" charset="-128"/>
                  </a:rPr>
                  <a:t>w</a:t>
                </a:r>
                <a:endParaRPr lang="en-IN" sz="4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2626C9-0ABC-18B3-7451-DB7AB35BB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986" y="3534953"/>
                <a:ext cx="3586751" cy="995529"/>
              </a:xfrm>
              <a:prstGeom prst="rect">
                <a:avLst/>
              </a:prstGeom>
              <a:blipFill>
                <a:blip r:embed="rId5"/>
                <a:stretch>
                  <a:fillRect t="-606" r="-8305" b="-1878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82322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616B-294D-0FCF-3E64-1507A92D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74EE-8B29-25EE-EDA7-04360D72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ODIFIED WEIGHT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A7015-19AF-F9A1-29AC-1EA53DFA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87" y="1152525"/>
            <a:ext cx="3400425" cy="45529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2366DA-8C27-BBF6-8265-B4A17DAB230C}"/>
              </a:ext>
            </a:extLst>
          </p:cNvPr>
          <p:cNvSpPr/>
          <p:nvPr/>
        </p:nvSpPr>
        <p:spPr>
          <a:xfrm>
            <a:off x="1828800" y="1231641"/>
            <a:ext cx="2407298" cy="5421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Normal Gradient descent</a:t>
            </a:r>
            <a:endParaRPr lang="en-IN" b="1" dirty="0">
              <a:latin typeface="Arial Black" panose="020B0A040201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23D83-3D03-1343-258D-5F7586FC6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87" y="1152525"/>
            <a:ext cx="3400425" cy="455295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359A6-0780-AB75-854E-8792F32095FF}"/>
              </a:ext>
            </a:extLst>
          </p:cNvPr>
          <p:cNvSpPr/>
          <p:nvPr/>
        </p:nvSpPr>
        <p:spPr>
          <a:xfrm>
            <a:off x="1828800" y="2552077"/>
            <a:ext cx="2407298" cy="5421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L2 Gradient descent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9126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B6D65-C446-B46C-68E3-592B1B7C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057B-9C39-B115-6924-7596EF1B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WHAT ACTUALLY HAPPENS TO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WEIGHT?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3AEE4-3E8E-4AB6-3FAC-F9ED97C8D8F7}"/>
              </a:ext>
            </a:extLst>
          </p:cNvPr>
          <p:cNvSpPr txBox="1"/>
          <p:nvPr/>
        </p:nvSpPr>
        <p:spPr>
          <a:xfrm>
            <a:off x="893406" y="923931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Example:    w=0.8 , λ=0.1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2675B9-3F77-1D98-716F-F238A55CB8B3}"/>
              </a:ext>
            </a:extLst>
          </p:cNvPr>
          <p:cNvSpPr txBox="1"/>
          <p:nvPr/>
        </p:nvSpPr>
        <p:spPr>
          <a:xfrm>
            <a:off x="893406" y="147037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So, L2 contribution to the gradient is: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F6AEF-DF10-EF0E-A381-05D85E28B4BA}"/>
              </a:ext>
            </a:extLst>
          </p:cNvPr>
          <p:cNvSpPr txBox="1"/>
          <p:nvPr/>
        </p:nvSpPr>
        <p:spPr>
          <a:xfrm>
            <a:off x="1527888" y="200665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λw</a:t>
            </a:r>
            <a:r>
              <a:rPr lang="en-IN" dirty="0"/>
              <a:t>=0.1(0.8)=0.08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ECD8E3-65A3-C730-B2D6-798D3E62CDDA}"/>
              </a:ext>
            </a:extLst>
          </p:cNvPr>
          <p:cNvSpPr txBox="1"/>
          <p:nvPr/>
        </p:nvSpPr>
        <p:spPr>
          <a:xfrm>
            <a:off x="893406" y="2822540"/>
            <a:ext cx="43690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So, L2 adds       +0.08     to the gradient,  but while updating it will be applying –</a:t>
            </a:r>
            <a:r>
              <a:rPr lang="el-GR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η</a:t>
            </a:r>
            <a:r>
              <a:rPr lang="en-US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(0.08)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81801-77C6-79D7-DE1D-1A40E1ED4912}"/>
              </a:ext>
            </a:extLst>
          </p:cNvPr>
          <p:cNvSpPr txBox="1"/>
          <p:nvPr/>
        </p:nvSpPr>
        <p:spPr>
          <a:xfrm>
            <a:off x="893406" y="4020818"/>
            <a:ext cx="4567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Positive weight → pushed downward toward zero.</a:t>
            </a:r>
            <a:endParaRPr lang="en-IN" sz="2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4F58F4-C13C-CA82-7760-4193FAC32214}"/>
              </a:ext>
            </a:extLst>
          </p:cNvPr>
          <p:cNvSpPr txBox="1"/>
          <p:nvPr/>
        </p:nvSpPr>
        <p:spPr>
          <a:xfrm>
            <a:off x="6669057" y="86890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if </a:t>
            </a:r>
            <a:r>
              <a:rPr lang="en-IN" sz="1800" b="1" dirty="0"/>
              <a:t>weight is negative?</a:t>
            </a:r>
          </a:p>
          <a:p>
            <a:r>
              <a:rPr lang="en-IN" dirty="0"/>
              <a:t>w=-0.8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191114-97F1-1F42-6BAF-200C422DA11C}"/>
              </a:ext>
            </a:extLst>
          </p:cNvPr>
          <p:cNvSpPr txBox="1"/>
          <p:nvPr/>
        </p:nvSpPr>
        <p:spPr>
          <a:xfrm>
            <a:off x="6771557" y="2191319"/>
            <a:ext cx="4359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 err="1"/>
              <a:t>λw</a:t>
            </a:r>
            <a:r>
              <a:rPr lang="en-IN" dirty="0"/>
              <a:t>=0.1(−0.8)=−0.08 </a:t>
            </a:r>
          </a:p>
          <a:p>
            <a:pPr>
              <a:buNone/>
            </a:pPr>
            <a:r>
              <a:rPr lang="en-IN" dirty="0"/>
              <a:t>The L2 gradient contribution is negative.</a:t>
            </a:r>
          </a:p>
          <a:p>
            <a:pPr>
              <a:buNone/>
            </a:pPr>
            <a:r>
              <a:rPr lang="en-IN" dirty="0"/>
              <a:t>During gradient descent,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AC8219-3A18-FB71-022C-173FAADE0506}"/>
              </a:ext>
            </a:extLst>
          </p:cNvPr>
          <p:cNvSpPr txBox="1"/>
          <p:nvPr/>
        </p:nvSpPr>
        <p:spPr>
          <a:xfrm>
            <a:off x="6588968" y="4020818"/>
            <a:ext cx="43690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negative weight </a:t>
            </a:r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  <a:sym typeface="Wingdings" panose="05000000000000000000" pitchFamily="2" charset="2"/>
              </a:rPr>
              <a:t></a:t>
            </a:r>
            <a:r>
              <a:rPr lang="en-IN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 pushes the weight upward toward zero.</a:t>
            </a:r>
          </a:p>
        </p:txBody>
      </p:sp>
    </p:spTree>
    <p:extLst>
      <p:ext uri="{BB962C8B-B14F-4D97-AF65-F5344CB8AC3E}">
        <p14:creationId xmlns:p14="http://schemas.microsoft.com/office/powerpoint/2010/main" val="372906691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C4CCB4-17C2-FC4E-948C-78EEF85920F1}"/>
              </a:ext>
            </a:extLst>
          </p:cNvPr>
          <p:cNvSpPr/>
          <p:nvPr/>
        </p:nvSpPr>
        <p:spPr>
          <a:xfrm>
            <a:off x="1931435" y="1117807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Algerian" panose="04020705040A02060702" pitchFamily="82" charset="0"/>
              </a:rPr>
              <a:t>Positive weight</a:t>
            </a:r>
          </a:p>
          <a:p>
            <a:pPr algn="ctr"/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A9A232-9A04-F28B-548A-A735B0F6F96C}"/>
              </a:ext>
            </a:extLst>
          </p:cNvPr>
          <p:cNvSpPr/>
          <p:nvPr/>
        </p:nvSpPr>
        <p:spPr>
          <a:xfrm>
            <a:off x="1931435" y="2428858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  <a:latin typeface="Algerian" panose="04020705040A02060702" pitchFamily="82" charset="0"/>
              </a:rPr>
              <a:t>L2 pushes it ↓</a:t>
            </a:r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B51708-868F-AEDE-D307-D357EB5E806E}"/>
              </a:ext>
            </a:extLst>
          </p:cNvPr>
          <p:cNvSpPr/>
          <p:nvPr/>
        </p:nvSpPr>
        <p:spPr>
          <a:xfrm>
            <a:off x="1931435" y="3781074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  <a:latin typeface="Algerian" panose="04020705040A02060702" pitchFamily="82" charset="0"/>
              </a:rPr>
              <a:t>toward zero</a:t>
            </a:r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5FF51F-E7B2-5DBA-7683-2E001E19B36B}"/>
              </a:ext>
            </a:extLst>
          </p:cNvPr>
          <p:cNvSpPr/>
          <p:nvPr/>
        </p:nvSpPr>
        <p:spPr>
          <a:xfrm>
            <a:off x="7224226" y="1096968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  <a:latin typeface="Algerian" panose="04020705040A02060702" pitchFamily="82" charset="0"/>
              </a:rPr>
              <a:t>Negative weight</a:t>
            </a:r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7643E5-D5B7-BDDE-9D58-66596EDC3C8A}"/>
              </a:ext>
            </a:extLst>
          </p:cNvPr>
          <p:cNvSpPr/>
          <p:nvPr/>
        </p:nvSpPr>
        <p:spPr>
          <a:xfrm>
            <a:off x="7242108" y="2478727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Algerian" panose="04020705040A02060702" pitchFamily="82" charset="0"/>
              </a:rPr>
              <a:t>L2 pushes it ↑</a:t>
            </a:r>
          </a:p>
          <a:p>
            <a:pPr algn="ctr"/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DBAD73-415F-7456-31E6-15DFD5586922}"/>
              </a:ext>
            </a:extLst>
          </p:cNvPr>
          <p:cNvSpPr/>
          <p:nvPr/>
        </p:nvSpPr>
        <p:spPr>
          <a:xfrm>
            <a:off x="7242108" y="3781074"/>
            <a:ext cx="214604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FF00"/>
                </a:solidFill>
                <a:latin typeface="Algerian" panose="04020705040A02060702" pitchFamily="82" charset="0"/>
              </a:rPr>
              <a:t>toward zero</a:t>
            </a:r>
            <a:endParaRPr lang="en-IN" b="1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29EE13-7FAE-3553-97B5-AB05908CD90B}"/>
              </a:ext>
            </a:extLst>
          </p:cNvPr>
          <p:cNvSpPr txBox="1"/>
          <p:nvPr/>
        </p:nvSpPr>
        <p:spPr>
          <a:xfrm>
            <a:off x="1378170" y="5391700"/>
            <a:ext cx="9435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IRRESPECTIVE OF WEIGHTS IT PULLS/PUSHES THE WEIGHT TOWARDS THE ZERO</a:t>
            </a:r>
            <a:endParaRPr lang="en-IN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45108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D7F1B-5E94-78A6-8C65-2390BF77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A3E7-0422-29F3-DC26-F48ADA57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ODIFIED WEIGHT UPDATE NUMERICALS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56A15-3AE9-ED54-88C7-FE3129C6A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484" y="1110342"/>
            <a:ext cx="5604292" cy="4413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B09A46-DFE4-A180-CD4D-0718783B0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79" y="1017037"/>
            <a:ext cx="4311565" cy="551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990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BE1B9-5983-3BEE-5979-09097FE36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68" y="881743"/>
            <a:ext cx="5928162" cy="5094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F493D5-CDF1-E9C4-79C3-B28DD5DF9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8" y="1082351"/>
            <a:ext cx="5811214" cy="397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25796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9F81-2234-E97E-D787-75B1598E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06EF8-6393-8439-C928-2F0B839D2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103" y="368559"/>
            <a:ext cx="7366103" cy="61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7521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2AB4-7E30-FABE-6A94-87F7F9C5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6ABA-9A1C-C3F5-88BB-CC12CFE99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EXTRA NUMERICALS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AD3EF-D748-E53B-8BD5-582D77E0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02" y="958137"/>
            <a:ext cx="9267825" cy="742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33274-7F8C-EAD3-A77D-C3B1CC887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02" y="1912404"/>
            <a:ext cx="5534025" cy="3352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0BEF006-B747-3C47-5DCD-2F68F27E0879}"/>
              </a:ext>
            </a:extLst>
          </p:cNvPr>
          <p:cNvSpPr txBox="1"/>
          <p:nvPr/>
        </p:nvSpPr>
        <p:spPr>
          <a:xfrm>
            <a:off x="615684" y="110490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Q1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75D71-C770-5808-55A5-8624EDE56305}"/>
              </a:ext>
            </a:extLst>
          </p:cNvPr>
          <p:cNvSpPr txBox="1"/>
          <p:nvPr/>
        </p:nvSpPr>
        <p:spPr>
          <a:xfrm>
            <a:off x="579362" y="192562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Q2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242559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99A92-1C33-7BF9-882B-116DCF6F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C6F9-401F-95FF-BD67-E9AF5735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84" y="204711"/>
            <a:ext cx="10515600" cy="54210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EXTRA NUMERICALS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2F0BB-FEDA-D1EF-31FB-76066258A03E}"/>
              </a:ext>
            </a:extLst>
          </p:cNvPr>
          <p:cNvSpPr txBox="1"/>
          <p:nvPr/>
        </p:nvSpPr>
        <p:spPr>
          <a:xfrm>
            <a:off x="615684" y="110490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Q3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85A74E-BBEF-ADF4-8FD3-888F41102D50}"/>
              </a:ext>
            </a:extLst>
          </p:cNvPr>
          <p:cNvSpPr txBox="1"/>
          <p:nvPr/>
        </p:nvSpPr>
        <p:spPr>
          <a:xfrm>
            <a:off x="579362" y="4912228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Q2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D0CF0F3-150C-93ED-7B9E-BF2683F2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02" y="1565293"/>
            <a:ext cx="10313951" cy="2981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FADD95-9622-C6A4-9BCD-B3322EB59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02" y="1134049"/>
            <a:ext cx="2743200" cy="447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AD7BD-F065-4ED5-F7C5-E35A9A02C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24" y="4721207"/>
            <a:ext cx="1657350" cy="209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A80D5E-878E-0988-72FA-D85053784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196" y="4721207"/>
            <a:ext cx="2381250" cy="53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7E48EB-76C2-A5A5-0BCF-A1773CDDF9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702" y="4850632"/>
            <a:ext cx="2371725" cy="3048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3032C8-35B8-28FA-A50C-7F0C73D10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446" y="4850633"/>
            <a:ext cx="1028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3139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1E6A-5805-6722-47E7-EFAFBF41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85" y="236220"/>
            <a:ext cx="11187540" cy="97840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MOST IMPORTANT FORMULA FOR L2 REGULARIZATION WEIGHT UPDATE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05E181-997C-D491-FA06-71E369A25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413" y="1773237"/>
            <a:ext cx="3390900" cy="2400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B00A23-2F71-4E40-7DD1-56C72DE76856}"/>
              </a:ext>
            </a:extLst>
          </p:cNvPr>
          <p:cNvSpPr/>
          <p:nvPr/>
        </p:nvSpPr>
        <p:spPr>
          <a:xfrm>
            <a:off x="7418907" y="2847003"/>
            <a:ext cx="2463282" cy="11639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equation tells how L2 updates the weight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2804133-6C05-73C9-5C2B-0FDD6495B681}"/>
              </a:ext>
            </a:extLst>
          </p:cNvPr>
          <p:cNvSpPr/>
          <p:nvPr/>
        </p:nvSpPr>
        <p:spPr>
          <a:xfrm>
            <a:off x="5540828" y="3429000"/>
            <a:ext cx="1110343" cy="349898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53274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4586-A105-5848-41DF-D179572F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D803-C7F4-8DF3-6E90-E48981AB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REGULARIZATION TECHNIQUES: DATA AUGMENTATION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C5FFE9-D880-D9ED-BFE4-408E4B2B233C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FB3A9970-0A28-F566-6A3A-F4A46542C389}"/>
              </a:ext>
            </a:extLst>
          </p:cNvPr>
          <p:cNvSpPr/>
          <p:nvPr/>
        </p:nvSpPr>
        <p:spPr>
          <a:xfrm>
            <a:off x="451604" y="1944786"/>
            <a:ext cx="4795736" cy="23346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More variety in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0DBC35-4676-2D88-0A9B-FB8F1FEF8857}"/>
              </a:ext>
            </a:extLst>
          </p:cNvPr>
          <p:cNvSpPr/>
          <p:nvPr/>
        </p:nvSpPr>
        <p:spPr>
          <a:xfrm>
            <a:off x="6706331" y="1944786"/>
            <a:ext cx="4795736" cy="23346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89516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195F-65F6-9475-21A5-55B47FD1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DCE3EB-C440-6912-8092-8AA4AFC9347C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62FBACB9-E43C-1BBC-9D9E-7B35BF5A4CF7}"/>
              </a:ext>
            </a:extLst>
          </p:cNvPr>
          <p:cNvSpPr/>
          <p:nvPr/>
        </p:nvSpPr>
        <p:spPr>
          <a:xfrm>
            <a:off x="3559592" y="1769689"/>
            <a:ext cx="4795736" cy="2334638"/>
          </a:xfrm>
          <a:prstGeom prst="ellips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CAN WE CHANGE THE TRAINING DATA?</a:t>
            </a:r>
            <a:endParaRPr lang="en-IN" sz="2400" b="1" dirty="0">
              <a:solidFill>
                <a:schemeClr val="bg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1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9B14-F42A-8703-E2E1-9AFC70B4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1E04-681C-EA37-8461-438F68BD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The Problem: Limited Training Data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6EB20E-ACDD-1210-EBC1-C6E4143B8B51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48F157B7-EBD8-BC84-8B4C-E61F0733E6AC}"/>
              </a:ext>
            </a:extLst>
          </p:cNvPr>
          <p:cNvSpPr/>
          <p:nvPr/>
        </p:nvSpPr>
        <p:spPr>
          <a:xfrm>
            <a:off x="3443592" y="1121818"/>
            <a:ext cx="3171217" cy="729574"/>
          </a:xfrm>
          <a:prstGeom prst="snip1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Training Data</a:t>
            </a:r>
          </a:p>
          <a:p>
            <a:r>
              <a:rPr lang="en-IN" dirty="0"/>
              <a:t>                       ↓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D896C8B9-4952-29CF-FBBC-AACC85E0D41E}"/>
              </a:ext>
            </a:extLst>
          </p:cNvPr>
          <p:cNvSpPr/>
          <p:nvPr/>
        </p:nvSpPr>
        <p:spPr>
          <a:xfrm>
            <a:off x="3443591" y="1913914"/>
            <a:ext cx="3171217" cy="729574"/>
          </a:xfrm>
          <a:prstGeom prst="snip1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sees limited variations</a:t>
            </a:r>
          </a:p>
          <a:p>
            <a:r>
              <a:rPr lang="en-IN" dirty="0"/>
              <a:t>                       ↓</a:t>
            </a: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F8DB8F61-E6F8-D46A-30F0-3E133E8E03CC}"/>
              </a:ext>
            </a:extLst>
          </p:cNvPr>
          <p:cNvSpPr/>
          <p:nvPr/>
        </p:nvSpPr>
        <p:spPr>
          <a:xfrm>
            <a:off x="3443591" y="2728715"/>
            <a:ext cx="3171217" cy="729574"/>
          </a:xfrm>
          <a:prstGeom prst="snip1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Learns specific patterns</a:t>
            </a:r>
          </a:p>
          <a:p>
            <a:pPr algn="ctr"/>
            <a:r>
              <a:rPr lang="en-IN" dirty="0"/>
              <a:t>↓</a:t>
            </a:r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7176CF98-8CB2-4E16-84AB-9B24FE15CA16}"/>
              </a:ext>
            </a:extLst>
          </p:cNvPr>
          <p:cNvSpPr/>
          <p:nvPr/>
        </p:nvSpPr>
        <p:spPr>
          <a:xfrm>
            <a:off x="3443590" y="3560886"/>
            <a:ext cx="3171217" cy="729574"/>
          </a:xfrm>
          <a:prstGeom prst="snip1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Possible Overfitting</a:t>
            </a:r>
          </a:p>
        </p:txBody>
      </p:sp>
    </p:spTree>
    <p:extLst>
      <p:ext uri="{BB962C8B-B14F-4D97-AF65-F5344CB8AC3E}">
        <p14:creationId xmlns:p14="http://schemas.microsoft.com/office/powerpoint/2010/main" val="400989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8850-407B-913A-8228-DEFD3D2A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498E-B4F7-97A4-B2E3-A5FA9B48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WHAT IS DATA AUGMENTATION?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2AB102-B79F-AF6A-6155-885EF3349EBD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0B18A8-7A70-7D37-B721-5AD3EF079D2B}"/>
              </a:ext>
            </a:extLst>
          </p:cNvPr>
          <p:cNvSpPr txBox="1"/>
          <p:nvPr/>
        </p:nvSpPr>
        <p:spPr>
          <a:xfrm>
            <a:off x="68094" y="866160"/>
            <a:ext cx="11712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augmentation is the process of creating modified versions of existing training samples to increase the diversity of the training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A2E44-64EF-1974-8480-E8685F30617B}"/>
              </a:ext>
            </a:extLst>
          </p:cNvPr>
          <p:cNvSpPr txBox="1"/>
          <p:nvPr/>
        </p:nvSpPr>
        <p:spPr>
          <a:xfrm>
            <a:off x="3696511" y="1836856"/>
            <a:ext cx="64786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 image</a:t>
            </a:r>
          </a:p>
          <a:p>
            <a:pPr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Flip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Zoom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brightness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noise </a:t>
            </a:r>
          </a:p>
          <a:p>
            <a:pPr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pPr>
              <a:buNone/>
            </a:pPr>
            <a:r>
              <a:rPr lang="en-IN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training examples</a:t>
            </a:r>
          </a:p>
        </p:txBody>
      </p:sp>
    </p:spTree>
    <p:extLst>
      <p:ext uri="{BB962C8B-B14F-4D97-AF65-F5344CB8AC3E}">
        <p14:creationId xmlns:p14="http://schemas.microsoft.com/office/powerpoint/2010/main" val="378928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E9F3D-A58C-119B-2E95-D21BCDF1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7A43A3-48AF-46A5-BAB7-34FBE8065E70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pic>
        <p:nvPicPr>
          <p:cNvPr id="2" name="Picture 1" descr="Cute Cat&quot; Images – Browse 174,874 Stock Photos, Vectors, and Video | Adobe  Stock">
            <a:extLst>
              <a:ext uri="{FF2B5EF4-FFF2-40B4-BE49-F238E27FC236}">
                <a16:creationId xmlns:a16="http://schemas.microsoft.com/office/drawing/2014/main" id="{84DD981C-5E42-919D-3FB4-045CF125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86" y="905644"/>
            <a:ext cx="2359509" cy="2061291"/>
          </a:xfrm>
          <a:prstGeom prst="rect">
            <a:avLst/>
          </a:prstGeom>
        </p:spPr>
      </p:pic>
      <p:pic>
        <p:nvPicPr>
          <p:cNvPr id="3" name="Picture 2" descr="Cat Isolated Background Stock Photo 2640271567 | Shutterstock">
            <a:extLst>
              <a:ext uri="{FF2B5EF4-FFF2-40B4-BE49-F238E27FC236}">
                <a16:creationId xmlns:a16="http://schemas.microsoft.com/office/drawing/2014/main" id="{9BCF6FDF-5F6A-8829-C001-EAE332A8F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111" y="905645"/>
            <a:ext cx="2476500" cy="2667000"/>
          </a:xfrm>
          <a:prstGeom prst="rect">
            <a:avLst/>
          </a:prstGeom>
        </p:spPr>
      </p:pic>
      <p:pic>
        <p:nvPicPr>
          <p:cNvPr id="4" name="Picture 3" descr="Cute Cat Hiding Only Shows Half">
            <a:extLst>
              <a:ext uri="{FF2B5EF4-FFF2-40B4-BE49-F238E27FC236}">
                <a16:creationId xmlns:a16="http://schemas.microsoft.com/office/drawing/2014/main" id="{30C8CA79-2137-EC54-6D29-04C3C50C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361" y="3692863"/>
            <a:ext cx="3714750" cy="2667000"/>
          </a:xfrm>
          <a:prstGeom prst="rect">
            <a:avLst/>
          </a:prstGeom>
        </p:spPr>
      </p:pic>
      <p:pic>
        <p:nvPicPr>
          <p:cNvPr id="6" name="Picture 5" descr="5,797 Cat Hiding Under Royalty-Free Images, Stock Photos &amp; Pictures |  Shutterstock">
            <a:extLst>
              <a:ext uri="{FF2B5EF4-FFF2-40B4-BE49-F238E27FC236}">
                <a16:creationId xmlns:a16="http://schemas.microsoft.com/office/drawing/2014/main" id="{EA86DA73-8BF1-6A8E-0E53-4A7ECBE9B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13" y="3692863"/>
            <a:ext cx="3705225" cy="2667000"/>
          </a:xfrm>
          <a:prstGeom prst="rect">
            <a:avLst/>
          </a:prstGeom>
        </p:spPr>
      </p:pic>
      <p:pic>
        <p:nvPicPr>
          <p:cNvPr id="7" name="Picture 6" descr="3,401 Malai Sweets Royalty-Free Images, Stock Photos ...">
            <a:extLst>
              <a:ext uri="{FF2B5EF4-FFF2-40B4-BE49-F238E27FC236}">
                <a16:creationId xmlns:a16="http://schemas.microsoft.com/office/drawing/2014/main" id="{8D0765E7-5AD5-928D-F860-0AFC6CFD7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243" y="965754"/>
            <a:ext cx="2476500" cy="2667000"/>
          </a:xfrm>
          <a:prstGeom prst="rect">
            <a:avLst/>
          </a:prstGeom>
        </p:spPr>
      </p:pic>
      <p:pic>
        <p:nvPicPr>
          <p:cNvPr id="8" name="Picture 7" descr="চিত্র:Ras-Malai.jpg - উইকিপিডিয়া">
            <a:extLst>
              <a:ext uri="{FF2B5EF4-FFF2-40B4-BE49-F238E27FC236}">
                <a16:creationId xmlns:a16="http://schemas.microsoft.com/office/drawing/2014/main" id="{2E718D23-5289-69CB-7779-403FA19CBD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5323" y="1195245"/>
            <a:ext cx="2783733" cy="2087799"/>
          </a:xfrm>
          <a:prstGeom prst="rect">
            <a:avLst/>
          </a:prstGeom>
        </p:spPr>
      </p:pic>
      <p:pic>
        <p:nvPicPr>
          <p:cNvPr id="10" name="Picture 9" descr="Ras Malai&quot; Images – Browse 3,818 Stock Photos, Vectors, and ...">
            <a:extLst>
              <a:ext uri="{FF2B5EF4-FFF2-40B4-BE49-F238E27FC236}">
                <a16:creationId xmlns:a16="http://schemas.microsoft.com/office/drawing/2014/main" id="{E429E180-759F-A9DE-761E-A719C1E4DA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4323" y="3973241"/>
            <a:ext cx="2980913" cy="20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45E4-A8F3-B08E-E649-DA27A3A4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CC90-DB98-C9EB-DAA8-B1814D21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95" y="115213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DATA AUGMENTATION?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89F466-A000-9DC1-2BE7-C8352F87EF1F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F858D5-8410-7FD3-097B-425169D2B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356679"/>
              </p:ext>
            </p:extLst>
          </p:nvPr>
        </p:nvGraphicFramePr>
        <p:xfrm>
          <a:off x="2032000" y="1481902"/>
          <a:ext cx="8128000" cy="434340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14162865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33977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Without Augmentation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With  Augmentation</a:t>
                      </a:r>
                      <a:endParaRPr lang="en-IN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61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</a:t>
                      </a:r>
                    </a:p>
                    <a:p>
                      <a:r>
                        <a:rPr lang="en-IN" dirty="0"/>
                        <a:t>                 Original Dataset </a:t>
                      </a:r>
                    </a:p>
                    <a:p>
                      <a:r>
                        <a:rPr lang="en-IN" dirty="0"/>
                        <a:t>                             ↓ </a:t>
                      </a:r>
                    </a:p>
                    <a:p>
                      <a:r>
                        <a:rPr lang="en-IN" dirty="0"/>
                        <a:t>                Transformations </a:t>
                      </a:r>
                    </a:p>
                    <a:p>
                      <a:r>
                        <a:rPr lang="en-IN" dirty="0"/>
                        <a:t>                             ↓ </a:t>
                      </a:r>
                    </a:p>
                    <a:p>
                      <a:r>
                        <a:rPr lang="en-IN" dirty="0"/>
                        <a:t>        More diverse training examples </a:t>
                      </a:r>
                    </a:p>
                    <a:p>
                      <a:r>
                        <a:rPr lang="en-IN" dirty="0"/>
                        <a:t>                             ↓ </a:t>
                      </a:r>
                    </a:p>
                    <a:p>
                      <a:r>
                        <a:rPr lang="en-IN" dirty="0"/>
                        <a:t>          Model learns robust features</a:t>
                      </a:r>
                    </a:p>
                    <a:p>
                      <a:r>
                        <a:rPr lang="en-IN" dirty="0"/>
                        <a:t>                             ↓ </a:t>
                      </a:r>
                    </a:p>
                    <a:p>
                      <a:r>
                        <a:rPr lang="en-IN" dirty="0"/>
                        <a:t>              Better Generalization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10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796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4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883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E86B1E-9C6A-F8EC-0D1A-FE89226D0647}"/>
              </a:ext>
            </a:extLst>
          </p:cNvPr>
          <p:cNvSpPr txBox="1"/>
          <p:nvPr/>
        </p:nvSpPr>
        <p:spPr>
          <a:xfrm>
            <a:off x="2718150" y="2096887"/>
            <a:ext cx="28947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Small Dataset 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        Limited variation </a:t>
            </a:r>
          </a:p>
          <a:p>
            <a:r>
              <a:rPr lang="en-IN" dirty="0"/>
              <a:t>                ↓ </a:t>
            </a:r>
          </a:p>
          <a:p>
            <a:r>
              <a:rPr lang="en-IN" dirty="0"/>
              <a:t> Model memorizes patterns </a:t>
            </a:r>
          </a:p>
          <a:p>
            <a:r>
              <a:rPr lang="en-IN" dirty="0"/>
              <a:t>                ↓ </a:t>
            </a:r>
          </a:p>
          <a:p>
            <a:r>
              <a:rPr lang="en-IN" dirty="0"/>
              <a:t>         Overfitting</a:t>
            </a:r>
          </a:p>
        </p:txBody>
      </p:sp>
    </p:spTree>
    <p:extLst>
      <p:ext uri="{BB962C8B-B14F-4D97-AF65-F5344CB8AC3E}">
        <p14:creationId xmlns:p14="http://schemas.microsoft.com/office/powerpoint/2010/main" val="256034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EF39-1046-7792-8FA9-41735DAC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FB90-A0E3-7036-497A-673EE7E4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95" y="115213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DATA AUGMENTATION TECHNIQUES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664BB9-196A-267E-2693-0F92EEECD079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519C01D-E2AD-8605-EDBD-7BF18C3C4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5602"/>
              </p:ext>
            </p:extLst>
          </p:nvPr>
        </p:nvGraphicFramePr>
        <p:xfrm>
          <a:off x="1890823" y="1259632"/>
          <a:ext cx="8410354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94157">
                  <a:extLst>
                    <a:ext uri="{9D8B030D-6E8A-4147-A177-3AD203B41FA5}">
                      <a16:colId xmlns:a16="http://schemas.microsoft.com/office/drawing/2014/main" val="4180271399"/>
                    </a:ext>
                  </a:extLst>
                </a:gridCol>
                <a:gridCol w="4516197">
                  <a:extLst>
                    <a:ext uri="{9D8B030D-6E8A-4147-A177-3AD203B41FA5}">
                      <a16:colId xmlns:a16="http://schemas.microsoft.com/office/drawing/2014/main" val="22661398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Arial Black" panose="020B0A04020102020204" pitchFamily="34" charset="0"/>
                        </a:rPr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Arial Black" panose="020B0A04020102020204" pitchFamily="34" charset="0"/>
                        </a:rPr>
                        <a:t>What happens?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3802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Rotates the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7489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 Flip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Mirrors the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589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 Flip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Flips vertically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716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Moves the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65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Cropping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Removes part of the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7219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Zooms in/out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3765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Brightness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illumination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4774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contrast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3445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small disturbances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326302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Shearing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Slants the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30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01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9ED2-39F0-E5DF-4360-564F9C69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B711-3240-FB9B-65F7-C542E4B6E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DATA AUGMENTATION AS GENERALIZATION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5317FA-BD97-9F5F-E568-808998D81225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C34C27-DCC3-26D5-ECCF-1B16D18B3DBB}"/>
              </a:ext>
            </a:extLst>
          </p:cNvPr>
          <p:cNvSpPr txBox="1"/>
          <p:nvPr/>
        </p:nvSpPr>
        <p:spPr>
          <a:xfrm>
            <a:off x="961054" y="991593"/>
            <a:ext cx="64754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Regularization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Techniques that help prevent overfitting and improve generalization.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Data augmentation does this by:</a:t>
            </a:r>
          </a:p>
          <a:p>
            <a:pPr>
              <a:buNone/>
            </a:pPr>
            <a:r>
              <a:rPr lang="en-IN" b="1" dirty="0"/>
              <a:t>                           Increasing data diversity</a:t>
            </a:r>
            <a:endParaRPr lang="en-IN" dirty="0"/>
          </a:p>
          <a:p>
            <a:pPr>
              <a:buNone/>
            </a:pPr>
            <a:r>
              <a:rPr lang="en-IN" dirty="0"/>
              <a:t>                                               ↓</a:t>
            </a:r>
          </a:p>
          <a:p>
            <a:pPr>
              <a:buNone/>
            </a:pPr>
            <a:r>
              <a:rPr lang="en-IN" b="1" dirty="0"/>
              <a:t>            Reducing dependence on specific training examples</a:t>
            </a:r>
            <a:endParaRPr lang="en-IN" dirty="0"/>
          </a:p>
          <a:p>
            <a:pPr>
              <a:buNone/>
            </a:pPr>
            <a:r>
              <a:rPr lang="en-IN" dirty="0"/>
              <a:t>                                               ↓</a:t>
            </a:r>
          </a:p>
          <a:p>
            <a:pPr>
              <a:buNone/>
            </a:pPr>
            <a:r>
              <a:rPr lang="en-IN" b="1" dirty="0"/>
              <a:t>                     Encouraging robust feature learning</a:t>
            </a:r>
            <a:endParaRPr lang="en-IN" dirty="0"/>
          </a:p>
          <a:p>
            <a:pPr>
              <a:buNone/>
            </a:pPr>
            <a:r>
              <a:rPr lang="en-IN" dirty="0"/>
              <a:t>                                               ↓</a:t>
            </a:r>
          </a:p>
          <a:p>
            <a:pPr>
              <a:buNone/>
            </a:pPr>
            <a:r>
              <a:rPr lang="en-IN" b="1" dirty="0"/>
              <a:t>                                Reducing overfitting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84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DA71D-5CF8-4BDA-B79C-935E96A2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B530-0B8F-0AFE-935E-4CBB5CBB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4" y="246035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Image Augmentation: What Should NOT Be Done?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1A1004-08AB-EBED-EA24-1CED9530A5DC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335B8E-EB29-22BF-9B80-5F93F6301C92}"/>
              </a:ext>
            </a:extLst>
          </p:cNvPr>
          <p:cNvSpPr txBox="1"/>
          <p:nvPr/>
        </p:nvSpPr>
        <p:spPr>
          <a:xfrm>
            <a:off x="1483568" y="1518170"/>
            <a:ext cx="88827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Augmentation must preserve the label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Choose transformations according to the problem and 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61787-DA05-7E15-4471-A10C7E0C42F2}"/>
              </a:ext>
            </a:extLst>
          </p:cNvPr>
          <p:cNvSpPr txBox="1"/>
          <p:nvPr/>
        </p:nvSpPr>
        <p:spPr>
          <a:xfrm>
            <a:off x="1202185" y="2477132"/>
            <a:ext cx="6475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Data augmentation vs l2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8E8F81-5E48-6278-3762-AE10B5D0F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379995"/>
              </p:ext>
            </p:extLst>
          </p:nvPr>
        </p:nvGraphicFramePr>
        <p:xfrm>
          <a:off x="1746909" y="3557576"/>
          <a:ext cx="6436038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6711">
                  <a:extLst>
                    <a:ext uri="{9D8B030D-6E8A-4147-A177-3AD203B41FA5}">
                      <a16:colId xmlns:a16="http://schemas.microsoft.com/office/drawing/2014/main" val="977184552"/>
                    </a:ext>
                  </a:extLst>
                </a:gridCol>
                <a:gridCol w="3529327">
                  <a:extLst>
                    <a:ext uri="{9D8B030D-6E8A-4147-A177-3AD203B41FA5}">
                      <a16:colId xmlns:a16="http://schemas.microsoft.com/office/drawing/2014/main" val="9427844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 Black" panose="020B0A04020102020204" pitchFamily="34" charset="0"/>
                        </a:rPr>
                        <a:t>L2 Regularization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 Black" panose="020B0A04020102020204" pitchFamily="34" charset="0"/>
                        </a:rPr>
                        <a:t>Data 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0672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Modifies the loss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Modifies/expands the training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468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Penalizes large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Creates varied training 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9901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Encourages smaller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Encourages robust feature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4203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Controls model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Improves data diversity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0755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Mathematical penalty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transformation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361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42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887B-3014-B436-E2D3-BDCAD9CA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8704B5-25A9-0410-4B62-8FDB7DBC9B34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D4DD51-2DD8-70C0-695E-85A680926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973132"/>
              </p:ext>
            </p:extLst>
          </p:nvPr>
        </p:nvGraphicFramePr>
        <p:xfrm>
          <a:off x="1753118" y="403121"/>
          <a:ext cx="8128000" cy="3479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742188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94673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Limitations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Advantages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214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Poor transformations can introduce unrealistic data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Reduces overfitting 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5409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May increase training time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Improves generalization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272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every transformation is suitable for every dataset 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Useful when datasets are small </a:t>
                      </a:r>
                    </a:p>
                    <a:p>
                      <a:r>
                        <a:rPr lang="en-IN" dirty="0"/>
                        <a:t>Increases training-data diversity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653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Cannot completely replace real data collection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Can improve model robustness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22843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0DC4884-DF2B-4E36-9E4D-A72AD3A5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000" y="4412797"/>
            <a:ext cx="63436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3350F-2306-7349-9EBD-FD66FBEC9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83348"/>
            <a:ext cx="10515600" cy="932872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IN" sz="3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RECALL ML TYPES , LABELLED , UNLABELLED DATA</a:t>
            </a:r>
          </a:p>
        </p:txBody>
      </p:sp>
    </p:spTree>
    <p:extLst>
      <p:ext uri="{BB962C8B-B14F-4D97-AF65-F5344CB8AC3E}">
        <p14:creationId xmlns:p14="http://schemas.microsoft.com/office/powerpoint/2010/main" val="405019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6836-CC43-A894-CF2D-B9135740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C3DC-A40C-2598-015F-327F2428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SEMI-SUPERVISED LEARNING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375C0E-FDD0-1DED-1232-579476B8C6F0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A215C2-443B-6AAF-2FEF-AC035D29AFD6}"/>
              </a:ext>
            </a:extLst>
          </p:cNvPr>
          <p:cNvSpPr txBox="1"/>
          <p:nvPr/>
        </p:nvSpPr>
        <p:spPr>
          <a:xfrm>
            <a:off x="587829" y="866488"/>
            <a:ext cx="11308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Combination of a small amount of labelled data and a large amount of unlabelled data to learn a predictive model.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525365-D3EB-6FAC-11AE-1FD3E68B3DB6}"/>
              </a:ext>
            </a:extLst>
          </p:cNvPr>
          <p:cNvSpPr/>
          <p:nvPr/>
        </p:nvSpPr>
        <p:spPr>
          <a:xfrm>
            <a:off x="4674501" y="1395020"/>
            <a:ext cx="1959428" cy="6249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TRAINING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19BFBC-8142-465B-EDEC-8824BB95BCEA}"/>
              </a:ext>
            </a:extLst>
          </p:cNvPr>
          <p:cNvSpPr/>
          <p:nvPr/>
        </p:nvSpPr>
        <p:spPr>
          <a:xfrm>
            <a:off x="5957460" y="2364051"/>
            <a:ext cx="2556587" cy="6463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UNLABELLED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A305F7-E1C6-447F-799C-665B4ECF2A36}"/>
              </a:ext>
            </a:extLst>
          </p:cNvPr>
          <p:cNvSpPr/>
          <p:nvPr/>
        </p:nvSpPr>
        <p:spPr>
          <a:xfrm>
            <a:off x="4674501" y="3429000"/>
            <a:ext cx="1959428" cy="1240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LEARNING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31533F-8F5A-CF4B-2903-8BE6CE2BE7BB}"/>
              </a:ext>
            </a:extLst>
          </p:cNvPr>
          <p:cNvSpPr/>
          <p:nvPr/>
        </p:nvSpPr>
        <p:spPr>
          <a:xfrm>
            <a:off x="3004457" y="2350242"/>
            <a:ext cx="2556588" cy="6249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LABELLED DATA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567AE3-4F96-ADE3-EE92-D9B8900BAB53}"/>
              </a:ext>
            </a:extLst>
          </p:cNvPr>
          <p:cNvSpPr/>
          <p:nvPr/>
        </p:nvSpPr>
        <p:spPr>
          <a:xfrm>
            <a:off x="4799045" y="5088589"/>
            <a:ext cx="1959428" cy="12409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PREDICTING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20942D-A040-5737-1DC3-5FE11B06BBF1}"/>
              </a:ext>
            </a:extLst>
          </p:cNvPr>
          <p:cNvCxnSpPr>
            <a:stCxn id="7" idx="2"/>
          </p:cNvCxnSpPr>
          <p:nvPr/>
        </p:nvCxnSpPr>
        <p:spPr>
          <a:xfrm flipH="1">
            <a:off x="4674501" y="2019985"/>
            <a:ext cx="979714" cy="33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CF2AC3-E357-F6E5-73D4-D56DE951A0F2}"/>
              </a:ext>
            </a:extLst>
          </p:cNvPr>
          <p:cNvCxnSpPr>
            <a:cxnSpLocks/>
          </p:cNvCxnSpPr>
          <p:nvPr/>
        </p:nvCxnSpPr>
        <p:spPr>
          <a:xfrm>
            <a:off x="5957460" y="2041259"/>
            <a:ext cx="1031169" cy="25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941906-2155-37F8-FE78-ECB40DBA4C30}"/>
              </a:ext>
            </a:extLst>
          </p:cNvPr>
          <p:cNvCxnSpPr>
            <a:cxnSpLocks/>
          </p:cNvCxnSpPr>
          <p:nvPr/>
        </p:nvCxnSpPr>
        <p:spPr>
          <a:xfrm flipH="1">
            <a:off x="5971320" y="3036566"/>
            <a:ext cx="662609" cy="35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CE2F69-4F3C-92B0-057E-690F9FDD85CA}"/>
              </a:ext>
            </a:extLst>
          </p:cNvPr>
          <p:cNvCxnSpPr>
            <a:cxnSpLocks/>
          </p:cNvCxnSpPr>
          <p:nvPr/>
        </p:nvCxnSpPr>
        <p:spPr>
          <a:xfrm>
            <a:off x="4674501" y="2975208"/>
            <a:ext cx="639011" cy="427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B0A3B6-8520-7035-D5C1-43C972FFC89E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5654215" y="4669971"/>
            <a:ext cx="0" cy="38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55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FC24-9A3A-EF90-3154-07FA8BE8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247F-2B7E-2D8D-87BF-0F73282EF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WORKFLOW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CA161B-BE85-94C4-E8EF-9A0AF54B5BC4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C5C9B6-4D5A-364D-DD6A-35476CA0B489}"/>
              </a:ext>
            </a:extLst>
          </p:cNvPr>
          <p:cNvSpPr/>
          <p:nvPr/>
        </p:nvSpPr>
        <p:spPr>
          <a:xfrm>
            <a:off x="937334" y="1999477"/>
            <a:ext cx="2583803" cy="62005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Small Labelled 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767FF0-7034-4477-E39C-C05F30B4E15B}"/>
              </a:ext>
            </a:extLst>
          </p:cNvPr>
          <p:cNvSpPr/>
          <p:nvPr/>
        </p:nvSpPr>
        <p:spPr>
          <a:xfrm>
            <a:off x="4147066" y="2002003"/>
            <a:ext cx="2481943" cy="56916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Train Initial 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72C186-CFAD-8D6A-E5F3-E943838C2813}"/>
              </a:ext>
            </a:extLst>
          </p:cNvPr>
          <p:cNvSpPr/>
          <p:nvPr/>
        </p:nvSpPr>
        <p:spPr>
          <a:xfrm>
            <a:off x="7254939" y="1990661"/>
            <a:ext cx="3796005" cy="56916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Predict Labels for Unlabelled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B40920-AD74-258B-A4BC-2EC1C3911A3C}"/>
              </a:ext>
            </a:extLst>
          </p:cNvPr>
          <p:cNvSpPr/>
          <p:nvPr/>
        </p:nvSpPr>
        <p:spPr>
          <a:xfrm>
            <a:off x="529120" y="3190176"/>
            <a:ext cx="2882383" cy="63527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Select Reliable Predictions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63FFE2-5421-D811-A4A3-A741A4B4324F}"/>
              </a:ext>
            </a:extLst>
          </p:cNvPr>
          <p:cNvSpPr/>
          <p:nvPr/>
        </p:nvSpPr>
        <p:spPr>
          <a:xfrm>
            <a:off x="4063869" y="3088542"/>
            <a:ext cx="4680858" cy="7369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Use Them as Additional Training Information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0E6CF1-2009-6395-F64D-EFEFFEC4004F}"/>
              </a:ext>
            </a:extLst>
          </p:cNvPr>
          <p:cNvSpPr/>
          <p:nvPr/>
        </p:nvSpPr>
        <p:spPr>
          <a:xfrm>
            <a:off x="9397093" y="3144415"/>
            <a:ext cx="2223797" cy="56916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Improve the Model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0EBD9FF-DE43-4CD8-324E-15678FE8BF2A}"/>
              </a:ext>
            </a:extLst>
          </p:cNvPr>
          <p:cNvSpPr/>
          <p:nvPr/>
        </p:nvSpPr>
        <p:spPr>
          <a:xfrm>
            <a:off x="3521137" y="2167213"/>
            <a:ext cx="625929" cy="28458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0AE2AE6-1787-1FAD-9938-547E243F9F38}"/>
              </a:ext>
            </a:extLst>
          </p:cNvPr>
          <p:cNvSpPr/>
          <p:nvPr/>
        </p:nvSpPr>
        <p:spPr>
          <a:xfrm>
            <a:off x="3437940" y="3286707"/>
            <a:ext cx="625929" cy="28458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F9840AD-44F0-87C0-F93D-F8779B15BC8E}"/>
              </a:ext>
            </a:extLst>
          </p:cNvPr>
          <p:cNvSpPr/>
          <p:nvPr/>
        </p:nvSpPr>
        <p:spPr>
          <a:xfrm>
            <a:off x="8744727" y="3314702"/>
            <a:ext cx="625929" cy="28458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AD096D0-C125-B1D0-3C2C-1210A9CB3519}"/>
              </a:ext>
            </a:extLst>
          </p:cNvPr>
          <p:cNvSpPr/>
          <p:nvPr/>
        </p:nvSpPr>
        <p:spPr>
          <a:xfrm>
            <a:off x="11063773" y="2132953"/>
            <a:ext cx="625929" cy="28458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FE1190C-A7B5-4705-B33B-55A2FFDF2120}"/>
              </a:ext>
            </a:extLst>
          </p:cNvPr>
          <p:cNvSpPr/>
          <p:nvPr/>
        </p:nvSpPr>
        <p:spPr>
          <a:xfrm>
            <a:off x="6629009" y="2167213"/>
            <a:ext cx="625929" cy="28458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b="1"/>
          </a:p>
        </p:txBody>
      </p:sp>
    </p:spTree>
    <p:extLst>
      <p:ext uri="{BB962C8B-B14F-4D97-AF65-F5344CB8AC3E}">
        <p14:creationId xmlns:p14="http://schemas.microsoft.com/office/powerpoint/2010/main" val="404750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8C70-E552-A292-34A8-1626605C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CBED-1B9E-D5B5-0B1E-A48D5688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PSEUDO LABELLING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4E339C-82E5-9A21-9ECE-9D5773A4A116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A40624-1840-33FD-0410-12E711D7A3F8}"/>
              </a:ext>
            </a:extLst>
          </p:cNvPr>
          <p:cNvSpPr txBox="1"/>
          <p:nvPr/>
        </p:nvSpPr>
        <p:spPr>
          <a:xfrm>
            <a:off x="699660" y="1025109"/>
            <a:ext cx="11224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label is not provided by a human. It is generated by the model, so we call it a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pseudo-label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8A8B3-5496-9D53-CFE0-F828101835EE}"/>
              </a:ext>
            </a:extLst>
          </p:cNvPr>
          <p:cNvSpPr txBox="1"/>
          <p:nvPr/>
        </p:nvSpPr>
        <p:spPr>
          <a:xfrm>
            <a:off x="4488025" y="1601574"/>
            <a:ext cx="64754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Unlabelled Image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     Model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Prediction:</a:t>
            </a:r>
          </a:p>
          <a:p>
            <a:r>
              <a:rPr lang="en-IN" dirty="0"/>
              <a:t>     CAT</a:t>
            </a:r>
          </a:p>
          <a:p>
            <a:r>
              <a:rPr lang="en-IN" dirty="0"/>
              <a:t>Confidence = 97%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BE035-2A5B-2B1E-5340-7C70051046A3}"/>
              </a:ext>
            </a:extLst>
          </p:cNvPr>
          <p:cNvSpPr txBox="1"/>
          <p:nvPr/>
        </p:nvSpPr>
        <p:spPr>
          <a:xfrm>
            <a:off x="699660" y="3768121"/>
            <a:ext cx="11131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model can assign: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Pseudo-label = CAT</a:t>
            </a:r>
          </a:p>
        </p:txBody>
      </p:sp>
    </p:spTree>
    <p:extLst>
      <p:ext uri="{BB962C8B-B14F-4D97-AF65-F5344CB8AC3E}">
        <p14:creationId xmlns:p14="http://schemas.microsoft.com/office/powerpoint/2010/main" val="216676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D030-9A55-5E1F-D569-B5C98779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57AB-A80A-A77D-8D5B-CEC8AD178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2637"/>
            <a:ext cx="10515600" cy="56916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CONFIDENCE MATTERS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8C861D-C43F-C008-D344-574B74F7E134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6858000"/>
          <a:ext cx="11604624" cy="219456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7257193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8142521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07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7902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1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076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5758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6352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3A924BA-66AF-2784-4230-CF732B1C7854}"/>
              </a:ext>
            </a:extLst>
          </p:cNvPr>
          <p:cNvSpPr txBox="1"/>
          <p:nvPr/>
        </p:nvSpPr>
        <p:spPr>
          <a:xfrm>
            <a:off x="961053" y="991593"/>
            <a:ext cx="10338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High-confidence predictions are generally safer to use as pseudo-labels than uncertain predictions.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F6ED5F-AC58-DCF9-7899-04ABACCF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13" y="2070586"/>
            <a:ext cx="332422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98228A-FF5B-302B-9193-78F1DA3F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09" y="2615027"/>
            <a:ext cx="11811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63C49-A426-2F77-B525-6C94ADF6B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759" y="2660698"/>
            <a:ext cx="2133600" cy="41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E2DA5B-ABB9-3368-C001-BF86B83AC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638" y="2708323"/>
            <a:ext cx="2800350" cy="323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C6CB488-6986-6EEB-115A-83DB1A826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014" y="3369505"/>
            <a:ext cx="2038350" cy="4857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1E21C3-3ED1-202C-9E4F-FC2F4F409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104" y="3424335"/>
            <a:ext cx="170497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4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1901-2D3E-D54E-9C1C-19DE9ED7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93" y="186050"/>
            <a:ext cx="10515600" cy="56077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CONNECTION TO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6364-18A0-23D7-9CE3-B59A60238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95" y="979903"/>
            <a:ext cx="10515600" cy="45994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Semi-supervised approaches can use the structure/information present in unlabelled data to improve learning when labelled examples are limited.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AEC1F-43C0-0549-BEEF-949FD81B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590" y="1418507"/>
            <a:ext cx="2419350" cy="457200"/>
          </a:xfrm>
          <a:prstGeom prst="rect">
            <a:avLst/>
          </a:prstGeom>
        </p:spPr>
      </p:pic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7E46D5BB-E48B-87A5-6B0C-A58BC751C510}"/>
              </a:ext>
            </a:extLst>
          </p:cNvPr>
          <p:cNvSpPr/>
          <p:nvPr/>
        </p:nvSpPr>
        <p:spPr>
          <a:xfrm>
            <a:off x="4193002" y="1897470"/>
            <a:ext cx="2419350" cy="1110343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 REGULARIZATION</a:t>
            </a:r>
            <a:endParaRPr lang="en-IN" b="1" dirty="0"/>
          </a:p>
        </p:txBody>
      </p:sp>
      <p:sp>
        <p:nvSpPr>
          <p:cNvPr id="10" name="Rectangle: Top Corners Snipped 9">
            <a:extLst>
              <a:ext uri="{FF2B5EF4-FFF2-40B4-BE49-F238E27FC236}">
                <a16:creationId xmlns:a16="http://schemas.microsoft.com/office/drawing/2014/main" id="{0D46CC3C-147D-9A5C-6FD8-DC70175E1316}"/>
              </a:ext>
            </a:extLst>
          </p:cNvPr>
          <p:cNvSpPr/>
          <p:nvPr/>
        </p:nvSpPr>
        <p:spPr>
          <a:xfrm>
            <a:off x="6568171" y="3712439"/>
            <a:ext cx="2276029" cy="676881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 Augmentation</a:t>
            </a:r>
            <a:endParaRPr lang="en-IN" b="1" dirty="0"/>
          </a:p>
        </p:txBody>
      </p:sp>
      <p:sp>
        <p:nvSpPr>
          <p:cNvPr id="12" name="Rectangle: Top Corners Snipped 11">
            <a:extLst>
              <a:ext uri="{FF2B5EF4-FFF2-40B4-BE49-F238E27FC236}">
                <a16:creationId xmlns:a16="http://schemas.microsoft.com/office/drawing/2014/main" id="{8C0F24CE-52FA-D8B1-FCAA-AB2FA62708F4}"/>
              </a:ext>
            </a:extLst>
          </p:cNvPr>
          <p:cNvSpPr/>
          <p:nvPr/>
        </p:nvSpPr>
        <p:spPr>
          <a:xfrm>
            <a:off x="4226316" y="3712439"/>
            <a:ext cx="2130491" cy="676881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Semi- Supervised</a:t>
            </a:r>
          </a:p>
          <a:p>
            <a:r>
              <a:rPr lang="en-IN" dirty="0"/>
              <a:t> </a:t>
            </a:r>
            <a:endParaRPr lang="en-IN" b="1" dirty="0"/>
          </a:p>
        </p:txBody>
      </p:sp>
      <p:sp>
        <p:nvSpPr>
          <p:cNvPr id="14" name="Rectangle: Top Corners Snipped 13">
            <a:extLst>
              <a:ext uri="{FF2B5EF4-FFF2-40B4-BE49-F238E27FC236}">
                <a16:creationId xmlns:a16="http://schemas.microsoft.com/office/drawing/2014/main" id="{151CA38A-A5CE-F4D2-592E-BAA232F2764F}"/>
              </a:ext>
            </a:extLst>
          </p:cNvPr>
          <p:cNvSpPr/>
          <p:nvPr/>
        </p:nvSpPr>
        <p:spPr>
          <a:xfrm>
            <a:off x="1526915" y="3668437"/>
            <a:ext cx="2419350" cy="635854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L2 Penalty </a:t>
            </a:r>
            <a:endParaRPr lang="en-IN" b="1" dirty="0"/>
          </a:p>
        </p:txBody>
      </p:sp>
      <p:sp>
        <p:nvSpPr>
          <p:cNvPr id="16" name="Rectangle: Top Corners Snipped 15">
            <a:extLst>
              <a:ext uri="{FF2B5EF4-FFF2-40B4-BE49-F238E27FC236}">
                <a16:creationId xmlns:a16="http://schemas.microsoft.com/office/drawing/2014/main" id="{A2A47EA4-2AC0-283D-472C-07B82DDA4CC0}"/>
              </a:ext>
            </a:extLst>
          </p:cNvPr>
          <p:cNvSpPr/>
          <p:nvPr/>
        </p:nvSpPr>
        <p:spPr>
          <a:xfrm>
            <a:off x="2393496" y="4866187"/>
            <a:ext cx="2419350" cy="670060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Reduce Overfitting</a:t>
            </a:r>
          </a:p>
        </p:txBody>
      </p:sp>
      <p:sp>
        <p:nvSpPr>
          <p:cNvPr id="18" name="Rectangle: Top Corners Snipped 17">
            <a:extLst>
              <a:ext uri="{FF2B5EF4-FFF2-40B4-BE49-F238E27FC236}">
                <a16:creationId xmlns:a16="http://schemas.microsoft.com/office/drawing/2014/main" id="{0A5A8C55-5341-EE57-4247-12205C2C7D1B}"/>
              </a:ext>
            </a:extLst>
          </p:cNvPr>
          <p:cNvSpPr/>
          <p:nvPr/>
        </p:nvSpPr>
        <p:spPr>
          <a:xfrm>
            <a:off x="5216918" y="4866187"/>
            <a:ext cx="3046057" cy="676880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Better Generalization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28003248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7E06-9C51-34BF-CE1E-AF1BDE69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207884"/>
            <a:ext cx="10515600" cy="53893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OPTIMIZATION FOR DEEP NEURAL NETWORKS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9839A0-C724-F730-6BAD-3F3B42589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9660" y="970572"/>
                <a:ext cx="10515600" cy="4599432"/>
              </a:xfrm>
            </p:spPr>
            <p:txBody>
              <a:bodyPr>
                <a:normAutofit/>
              </a:bodyPr>
              <a:lstStyle/>
              <a:p>
                <a:r>
                  <a:rPr lang="en-IN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Optimization is the process of finding suitable values of model parameters (weights) that minimize the loss function</a:t>
                </a:r>
              </a:p>
              <a:p>
                <a:r>
                  <a:rPr lang="en-IN" sz="1800" dirty="0"/>
                  <a:t>Suppose the network has weights: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800" dirty="0"/>
              </a:p>
              <a:p>
                <a:r>
                  <a:rPr lang="en-IN" sz="1800" dirty="0"/>
                  <a:t>The network produces a loss: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</m:oMath>
                  </m:oMathPara>
                </a14:m>
                <a:endParaRPr lang="en-IN" sz="1800" dirty="0"/>
              </a:p>
              <a:p>
                <a:r>
                  <a:rPr lang="en-IN" sz="1800" dirty="0"/>
                  <a:t>Our objective is:</a:t>
                </a:r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limLow>
                            <m:limLowPr>
                              <m:ctrlPr>
                                <a:rPr lang="en-IN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  <a:endParaRPr lang="en-IN" sz="1800" dirty="0"/>
              </a:p>
              <a:p>
                <a:r>
                  <a:rPr lang="en-IN" sz="1800" dirty="0"/>
                  <a:t>Meaning: </a:t>
                </a:r>
              </a:p>
              <a:p>
                <a:r>
                  <a:rPr lang="en-IN" sz="1800" dirty="0"/>
                  <a:t>             Find weight values that give the smallest possible loss.</a:t>
                </a:r>
                <a:endParaRPr lang="en-IN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9839A0-C724-F730-6BAD-3F3B42589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660" y="970572"/>
                <a:ext cx="10515600" cy="4599432"/>
              </a:xfrm>
              <a:blipFill>
                <a:blip r:embed="rId2"/>
                <a:stretch>
                  <a:fillRect l="-522" r="-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74300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en the Loss Landscape Has a Map: Lessons from Hessian-Guided Optimization | by Nikhil Kishore | May, 2026 | Medium">
            <a:extLst>
              <a:ext uri="{FF2B5EF4-FFF2-40B4-BE49-F238E27FC236}">
                <a16:creationId xmlns:a16="http://schemas.microsoft.com/office/drawing/2014/main" id="{2C8D2793-8AB0-138B-9506-FB8788F4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97" y="857250"/>
            <a:ext cx="77180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21771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E05A-6EB5-D659-47A8-AFF84BC1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248277"/>
            <a:ext cx="10515600" cy="498543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WE NEED OPTIMIZATION?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057C0-8F36-08F2-5D91-32A65C691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1" y="1013205"/>
            <a:ext cx="10515600" cy="45994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 deep neural network may have : Thousands ,Millions ,Sometimes billions of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We cannot manually decide: which weight and how much to increase or decrease, 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An optimization algorithm automatically updates the weights.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38968-B936-E615-4E06-0E49B14ECBA5}"/>
              </a:ext>
            </a:extLst>
          </p:cNvPr>
          <p:cNvSpPr txBox="1"/>
          <p:nvPr/>
        </p:nvSpPr>
        <p:spPr>
          <a:xfrm>
            <a:off x="1503680" y="3008195"/>
            <a:ext cx="814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Backpropagation: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How does the loss change with respect to each weight?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4A8AD-2F65-100D-588C-F74C15164A7D}"/>
              </a:ext>
            </a:extLst>
          </p:cNvPr>
          <p:cNvSpPr txBox="1"/>
          <p:nvPr/>
        </p:nvSpPr>
        <p:spPr>
          <a:xfrm>
            <a:off x="3180080" y="3643912"/>
            <a:ext cx="743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Optimization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Decide how to update the weights to reduce the loss.</a:t>
            </a:r>
          </a:p>
        </p:txBody>
      </p:sp>
    </p:spTree>
    <p:extLst>
      <p:ext uri="{BB962C8B-B14F-4D97-AF65-F5344CB8AC3E}">
        <p14:creationId xmlns:p14="http://schemas.microsoft.com/office/powerpoint/2010/main" val="2247012575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EAAD-05F5-93F6-D583-3E02D4AA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52460"/>
            <a:ext cx="10515600" cy="59436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GRADIENT DESCENT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FE1720-40A9-9E3B-07DB-DCA10EF3B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800" y="2093595"/>
            <a:ext cx="7741920" cy="14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29646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1AB0-26E0-FB1A-5341-F7DB36C2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264220"/>
            <a:ext cx="10515600" cy="48260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PROBLEM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502C16-0E39-6563-BB04-77210CD60D1E}"/>
              </a:ext>
            </a:extLst>
          </p:cNvPr>
          <p:cNvSpPr/>
          <p:nvPr/>
        </p:nvSpPr>
        <p:spPr>
          <a:xfrm>
            <a:off x="1600780" y="1110172"/>
            <a:ext cx="3304650" cy="11074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ILL CONDITIONING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FDC4D9-0CDB-9C0C-F0E1-AE58C561369E}"/>
              </a:ext>
            </a:extLst>
          </p:cNvPr>
          <p:cNvSpPr/>
          <p:nvPr/>
        </p:nvSpPr>
        <p:spPr>
          <a:xfrm>
            <a:off x="1806575" y="3072669"/>
            <a:ext cx="2893060" cy="11074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PLATEAUS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981DC8-7BE8-9A8F-62C9-7CD5514301C3}"/>
              </a:ext>
            </a:extLst>
          </p:cNvPr>
          <p:cNvSpPr/>
          <p:nvPr/>
        </p:nvSpPr>
        <p:spPr>
          <a:xfrm>
            <a:off x="6197600" y="1116604"/>
            <a:ext cx="3439160" cy="11074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LOCAL MINIMA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1216DF-82BD-6FD4-8BCD-F3A7007AB51D}"/>
              </a:ext>
            </a:extLst>
          </p:cNvPr>
          <p:cNvSpPr/>
          <p:nvPr/>
        </p:nvSpPr>
        <p:spPr>
          <a:xfrm>
            <a:off x="4187507" y="5037054"/>
            <a:ext cx="3016140" cy="11074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OTHER FLAT REGIONS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D2238A-899F-C650-19B8-206AEE803349}"/>
              </a:ext>
            </a:extLst>
          </p:cNvPr>
          <p:cNvSpPr/>
          <p:nvPr/>
        </p:nvSpPr>
        <p:spPr>
          <a:xfrm>
            <a:off x="6520870" y="3072669"/>
            <a:ext cx="3016140" cy="11074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SADDLE POINTS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6D0FB4-4244-7C16-98C1-7BC532EAA75C}"/>
              </a:ext>
            </a:extLst>
          </p:cNvPr>
          <p:cNvSpPr/>
          <p:nvPr/>
        </p:nvSpPr>
        <p:spPr>
          <a:xfrm>
            <a:off x="1876425" y="2253462"/>
            <a:ext cx="2753360" cy="350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dirty="0"/>
              <a:t>Narrow, elongated valleys.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46E42D-6147-83AB-BB25-2840149EC0B8}"/>
              </a:ext>
            </a:extLst>
          </p:cNvPr>
          <p:cNvSpPr/>
          <p:nvPr/>
        </p:nvSpPr>
        <p:spPr>
          <a:xfrm>
            <a:off x="5957460" y="4265017"/>
            <a:ext cx="5196840" cy="4463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Downward in one direction but upward in another.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6EA8BF-D612-7C52-5186-E894540EDCAF}"/>
              </a:ext>
            </a:extLst>
          </p:cNvPr>
          <p:cNvSpPr/>
          <p:nvPr/>
        </p:nvSpPr>
        <p:spPr>
          <a:xfrm>
            <a:off x="748982" y="4287522"/>
            <a:ext cx="4875475" cy="3678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dirty="0"/>
              <a:t>Large regions where the gradient is very small.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5CF53D-E177-3E96-165F-4FD4C64CB35F}"/>
              </a:ext>
            </a:extLst>
          </p:cNvPr>
          <p:cNvSpPr/>
          <p:nvPr/>
        </p:nvSpPr>
        <p:spPr>
          <a:xfrm>
            <a:off x="5775116" y="2259561"/>
            <a:ext cx="5196840" cy="3442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A small valley that may not be the global minimum.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C84F00-14B5-0B4E-5B6A-8F2FF9F2A45E}"/>
              </a:ext>
            </a:extLst>
          </p:cNvPr>
          <p:cNvSpPr/>
          <p:nvPr/>
        </p:nvSpPr>
        <p:spPr>
          <a:xfrm>
            <a:off x="3253105" y="6262887"/>
            <a:ext cx="5196840" cy="4459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Regions where optimization progresses very slowly.</a:t>
            </a:r>
          </a:p>
        </p:txBody>
      </p:sp>
    </p:spTree>
    <p:extLst>
      <p:ext uri="{BB962C8B-B14F-4D97-AF65-F5344CB8AC3E}">
        <p14:creationId xmlns:p14="http://schemas.microsoft.com/office/powerpoint/2010/main" val="4265639322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F7D3-6D2A-A041-348C-54AE44C5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640"/>
            <a:ext cx="10515600" cy="52324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ILL CONDITIONING IN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9E59-9156-3C77-C577-807D3FE30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380" y="973328"/>
            <a:ext cx="10953860" cy="54376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Challenge in Neural Network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C9F82-0C4D-8CCE-D17B-94D8919833CD}"/>
              </a:ext>
            </a:extLst>
          </p:cNvPr>
          <p:cNvSpPr txBox="1"/>
          <p:nvPr/>
        </p:nvSpPr>
        <p:spPr>
          <a:xfrm>
            <a:off x="2682240" y="16123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“Why gradient descent take a long time even when it knows the downhill direction?”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F429C2-9449-CA53-BA3E-123AB5D47569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RECALL Gradient Descent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50F4D-5E92-7986-6B89-3F3D5BC7E48A}"/>
              </a:ext>
            </a:extLst>
          </p:cNvPr>
          <p:cNvSpPr txBox="1"/>
          <p:nvPr/>
        </p:nvSpPr>
        <p:spPr>
          <a:xfrm>
            <a:off x="1066800" y="4042816"/>
            <a:ext cx="936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Gradient tells us which direction decreases the loss. So we move in the opposite direction</a:t>
            </a:r>
          </a:p>
        </p:txBody>
      </p:sp>
    </p:spTree>
    <p:extLst>
      <p:ext uri="{BB962C8B-B14F-4D97-AF65-F5344CB8AC3E}">
        <p14:creationId xmlns:p14="http://schemas.microsoft.com/office/powerpoint/2010/main" val="3207335957"/>
      </p:ext>
    </p:extLst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FABD-2BC6-3BA6-FDDF-CF1536A3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0" y="193100"/>
            <a:ext cx="5608320" cy="55372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ILL CONTIONING MEANING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86CA6-E242-A8BF-8AB7-5A040618DB37}"/>
              </a:ext>
            </a:extLst>
          </p:cNvPr>
          <p:cNvSpPr txBox="1"/>
          <p:nvPr/>
        </p:nvSpPr>
        <p:spPr>
          <a:xfrm>
            <a:off x="800877" y="4234839"/>
            <a:ext cx="10750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Ill conditioning is not a type of minimum. It describes the geometry of the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4EC85-8BBC-05BD-FE7C-8E4EF3F5C0FD}"/>
                  </a:ext>
                </a:extLst>
              </p:cNvPr>
              <p:cNvSpPr txBox="1"/>
              <p:nvPr/>
            </p:nvSpPr>
            <p:spPr>
              <a:xfrm>
                <a:off x="716126" y="898129"/>
                <a:ext cx="1075042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In deep learning, we minimize a loss function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IN" dirty="0"/>
                  <a:t>using gradients.</a:t>
                </a:r>
              </a:p>
              <a:p>
                <a:pPr>
                  <a:buNone/>
                </a:pPr>
                <a:br>
                  <a:rPr lang="en-IN" dirty="0"/>
                </a:br>
                <a:r>
                  <a:rPr lang="en-IN" dirty="0"/>
                  <a:t>The loss surface can be:</a:t>
                </a:r>
              </a:p>
              <a:p>
                <a:pPr>
                  <a:buNone/>
                </a:pPr>
                <a:endParaRPr lang="en-IN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Well‑conditioned</a:t>
                </a:r>
                <a:r>
                  <a:rPr lang="en-IN" dirty="0"/>
                  <a:t>: similar curvature in all directions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b="1" dirty="0"/>
                  <a:t>Ill‑conditioned</a:t>
                </a:r>
                <a:r>
                  <a:rPr lang="en-IN" dirty="0"/>
                  <a:t>: very different curvature in different directions (steep in one direction, very flat in another)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Ill‑conditioning makes gradient descent </a:t>
                </a:r>
                <a:r>
                  <a:rPr lang="en-IN" b="1" dirty="0"/>
                  <a:t>zig‑zag</a:t>
                </a:r>
                <a:r>
                  <a:rPr lang="en-IN" dirty="0"/>
                  <a:t> and converge slowly.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64EC85-8BBC-05BD-FE7C-8E4EF3F5C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26" y="898129"/>
                <a:ext cx="10750420" cy="2308324"/>
              </a:xfrm>
              <a:prstGeom prst="rect">
                <a:avLst/>
              </a:prstGeom>
              <a:blipFill>
                <a:blip r:embed="rId2"/>
                <a:stretch>
                  <a:fillRect l="-454" t="-1055" b="-34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750007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B0759EB-4CEC-C2BF-F72C-60AF2EB46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203" y="648474"/>
            <a:ext cx="6377484" cy="318874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CF79FA-E479-42C9-8F11-7F927AB8145A}"/>
              </a:ext>
            </a:extLst>
          </p:cNvPr>
          <p:cNvSpPr/>
          <p:nvPr/>
        </p:nvSpPr>
        <p:spPr>
          <a:xfrm>
            <a:off x="2782851" y="4111303"/>
            <a:ext cx="3107094" cy="4945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Well-conditioned loss surface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8945A4-F04C-9A05-CEFF-A6563EA624DF}"/>
              </a:ext>
            </a:extLst>
          </p:cNvPr>
          <p:cNvSpPr/>
          <p:nvPr/>
        </p:nvSpPr>
        <p:spPr>
          <a:xfrm>
            <a:off x="6220410" y="4111303"/>
            <a:ext cx="3107094" cy="4945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ILL-conditioned loss surface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44F99-BAC8-2920-5BB9-D2CF55676C80}"/>
              </a:ext>
            </a:extLst>
          </p:cNvPr>
          <p:cNvSpPr txBox="1"/>
          <p:nvPr/>
        </p:nvSpPr>
        <p:spPr>
          <a:xfrm>
            <a:off x="1172743" y="5157109"/>
            <a:ext cx="10095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Arial Black" panose="020B0A04020102020204" pitchFamily="34" charset="0"/>
              </a:rPr>
              <a:t>Remedies to overcome the ill-conditioning :momentum and adaptive optimizers </a:t>
            </a:r>
          </a:p>
        </p:txBody>
      </p:sp>
    </p:spTree>
    <p:extLst>
      <p:ext uri="{BB962C8B-B14F-4D97-AF65-F5344CB8AC3E}">
        <p14:creationId xmlns:p14="http://schemas.microsoft.com/office/powerpoint/2010/main" val="42815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B481-045C-373C-C800-21A5293F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F66AE-C0DD-D1DF-1CB8-8139637A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297" y="107076"/>
            <a:ext cx="3149600" cy="55372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LOCAL MINIMA</a:t>
            </a:r>
          </a:p>
        </p:txBody>
      </p:sp>
      <p:pic>
        <p:nvPicPr>
          <p:cNvPr id="3" name="Picture 2" descr="Image">
            <a:extLst>
              <a:ext uri="{FF2B5EF4-FFF2-40B4-BE49-F238E27FC236}">
                <a16:creationId xmlns:a16="http://schemas.microsoft.com/office/drawing/2014/main" id="{6A3DF6B3-E460-0223-656C-50658CF5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92" y="857250"/>
            <a:ext cx="9001125" cy="51435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067834-F78D-25AF-D925-1BF4EB2E31E1}"/>
                  </a:ext>
                </a:extLst>
              </p14:cNvPr>
              <p14:cNvContentPartPr/>
              <p14:nvPr/>
            </p14:nvContentPartPr>
            <p14:xfrm>
              <a:off x="8238607" y="4795553"/>
              <a:ext cx="612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067834-F78D-25AF-D925-1BF4EB2E31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4607" y="4687913"/>
                <a:ext cx="1137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6251555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8FE3AD94-DC93-617C-200E-C331D948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87" y="1127838"/>
            <a:ext cx="4639355" cy="26510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3E4378D-9A73-B7DD-F162-C034DA00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819" y="141851"/>
            <a:ext cx="1933511" cy="55372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PLATEUS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7EFBEE-4BC9-C9DA-5903-2BB4E4ED8F98}"/>
              </a:ext>
            </a:extLst>
          </p:cNvPr>
          <p:cNvSpPr/>
          <p:nvPr/>
        </p:nvSpPr>
        <p:spPr>
          <a:xfrm>
            <a:off x="6792686" y="1847461"/>
            <a:ext cx="3237722" cy="13622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VANISHING GRADIENTS </a:t>
            </a:r>
            <a:r>
              <a:rPr lang="en-IN" b="1" dirty="0">
                <a:sym typeface="Wingdings" panose="05000000000000000000" pitchFamily="2" charset="2"/>
              </a:rPr>
              <a:t> Extremely slow learning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23072154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76DF2547-D90E-233B-ADDB-A4B02BCDF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414" y="1948932"/>
            <a:ext cx="4379323" cy="36494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76391FB-152F-4AB0-FA45-D9D7346BE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088" y="151182"/>
            <a:ext cx="3463732" cy="55372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SADDLE POINTS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D0CDCB-0D65-7D96-D1ED-27F6951BF317}"/>
              </a:ext>
            </a:extLst>
          </p:cNvPr>
          <p:cNvSpPr/>
          <p:nvPr/>
        </p:nvSpPr>
        <p:spPr>
          <a:xfrm>
            <a:off x="6270172" y="2821059"/>
            <a:ext cx="3629608" cy="1296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Zero Gradient &amp; mixed curvatures</a:t>
            </a:r>
          </a:p>
        </p:txBody>
      </p:sp>
    </p:spTree>
    <p:extLst>
      <p:ext uri="{BB962C8B-B14F-4D97-AF65-F5344CB8AC3E}">
        <p14:creationId xmlns:p14="http://schemas.microsoft.com/office/powerpoint/2010/main" val="2321419247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B6C3-68FD-93C0-3A4D-E222A3F5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270026"/>
            <a:ext cx="10515600" cy="476794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Summarizing</a:t>
            </a:r>
            <a:r>
              <a:rPr lang="en-IN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ED6916-DB3F-1203-BAFE-159775634E80}"/>
              </a:ext>
            </a:extLst>
          </p:cNvPr>
          <p:cNvSpPr/>
          <p:nvPr/>
        </p:nvSpPr>
        <p:spPr>
          <a:xfrm>
            <a:off x="475861" y="998376"/>
            <a:ext cx="5022911" cy="15582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Local minima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zero gradient at a valley bottom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E462F1-97C0-8DB6-B1C6-76A005751C4C}"/>
              </a:ext>
            </a:extLst>
          </p:cNvPr>
          <p:cNvSpPr/>
          <p:nvPr/>
        </p:nvSpPr>
        <p:spPr>
          <a:xfrm>
            <a:off x="5732038" y="998376"/>
            <a:ext cx="5564223" cy="15582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Plateaus: large flat regions with near‑zero gradient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1C4703-EE8B-A637-4163-D65ABE86D393}"/>
              </a:ext>
            </a:extLst>
          </p:cNvPr>
          <p:cNvSpPr/>
          <p:nvPr/>
        </p:nvSpPr>
        <p:spPr>
          <a:xfrm>
            <a:off x="2380758" y="2808144"/>
            <a:ext cx="6702559" cy="15582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Saddle points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zero gradient, but mixed curvature (min in some directions, max in others)</a:t>
            </a:r>
          </a:p>
        </p:txBody>
      </p:sp>
      <p:sp>
        <p:nvSpPr>
          <p:cNvPr id="9" name="Rectangle: Top Corners Snipped 8">
            <a:extLst>
              <a:ext uri="{FF2B5EF4-FFF2-40B4-BE49-F238E27FC236}">
                <a16:creationId xmlns:a16="http://schemas.microsoft.com/office/drawing/2014/main" id="{95DAFDF5-5F73-55AD-9FDA-C375DACD9CD1}"/>
              </a:ext>
            </a:extLst>
          </p:cNvPr>
          <p:cNvSpPr/>
          <p:nvPr/>
        </p:nvSpPr>
        <p:spPr>
          <a:xfrm>
            <a:off x="1978090" y="4945225"/>
            <a:ext cx="7931020" cy="1446245"/>
          </a:xfrm>
          <a:prstGeom prst="snip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Modern optimizers use</a:t>
            </a:r>
            <a:r>
              <a:rPr lang="en-IN" dirty="0"/>
              <a:t>:</a:t>
            </a:r>
          </a:p>
          <a:p>
            <a:pPr lvl="0" algn="ctr"/>
            <a:r>
              <a:rPr lang="en-IN" b="1" dirty="0"/>
              <a:t>Momentum</a:t>
            </a:r>
            <a:r>
              <a:rPr lang="en-IN" dirty="0"/>
              <a:t> (to carry through flat/saddle regions),</a:t>
            </a:r>
          </a:p>
          <a:p>
            <a:pPr lvl="0" algn="ctr"/>
            <a:r>
              <a:rPr lang="en-IN" b="1" dirty="0"/>
              <a:t>Adaptive methods</a:t>
            </a:r>
            <a:r>
              <a:rPr lang="en-IN" dirty="0"/>
              <a:t> (to rescale gradients per parameter),</a:t>
            </a:r>
          </a:p>
          <a:p>
            <a:pPr lvl="0" algn="ctr"/>
            <a:r>
              <a:rPr lang="en-IN" dirty="0"/>
              <a:t>And sometimes second‑order or curvature‑inspired ideas (conceptually).</a:t>
            </a:r>
          </a:p>
        </p:txBody>
      </p:sp>
    </p:spTree>
    <p:extLst>
      <p:ext uri="{BB962C8B-B14F-4D97-AF65-F5344CB8AC3E}">
        <p14:creationId xmlns:p14="http://schemas.microsoft.com/office/powerpoint/2010/main" val="19216904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2341</TotalTime>
  <Words>1888</Words>
  <Application>Microsoft Office PowerPoint</Application>
  <PresentationFormat>Widescreen</PresentationFormat>
  <Paragraphs>399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9" baseType="lpstr">
      <vt:lpstr>Yu Gothic Medium</vt:lpstr>
      <vt:lpstr>Agency FB</vt:lpstr>
      <vt:lpstr>Algerian</vt:lpstr>
      <vt:lpstr>Aptos</vt:lpstr>
      <vt:lpstr>Arial</vt:lpstr>
      <vt:lpstr>Arial Black</vt:lpstr>
      <vt:lpstr>Arial Nova Light</vt:lpstr>
      <vt:lpstr>Arial Rounded MT Bold</vt:lpstr>
      <vt:lpstr>Artifakt Element Light</vt:lpstr>
      <vt:lpstr>Brush Script MT</vt:lpstr>
      <vt:lpstr>Calibri</vt:lpstr>
      <vt:lpstr>Cambria Math</vt:lpstr>
      <vt:lpstr>Wingdings</vt:lpstr>
      <vt:lpstr>Dark Gradient</vt:lpstr>
      <vt:lpstr>MODULE 3</vt:lpstr>
      <vt:lpstr>AGENDA</vt:lpstr>
      <vt:lpstr>MEMORIZATION VS UNDERSTANDING</vt:lpstr>
      <vt:lpstr>WHAT DOES NEURAL NETWORK LEARN?</vt:lpstr>
      <vt:lpstr>TRAINING ERROR VS TESTING ERROR</vt:lpstr>
      <vt:lpstr>UNDERFITTING-MODEL IS TOO SIMPLE</vt:lpstr>
      <vt:lpstr>GOOD FIT</vt:lpstr>
      <vt:lpstr>OVERFITTING- MODEL IS TOO COMPLEX</vt:lpstr>
      <vt:lpstr>WHY DOES OVERFITTING HAPPEN?</vt:lpstr>
      <vt:lpstr>LET’S SEE OVERFITTING</vt:lpstr>
      <vt:lpstr>FROM OVERFITTING TO REGULARIZATION</vt:lpstr>
      <vt:lpstr>HOW DOES REGULARIZATION HELP US?</vt:lpstr>
      <vt:lpstr>WHY  WE NEED OPTIMIZATION &amp; REGULARIZATION</vt:lpstr>
      <vt:lpstr>PowerPoint Presentation</vt:lpstr>
      <vt:lpstr>PowerPoint Presentation</vt:lpstr>
      <vt:lpstr>REGULARIZATION TECHNIQUES</vt:lpstr>
      <vt:lpstr>Parameter Norms &amp; Penalties</vt:lpstr>
      <vt:lpstr>Why Penalize the weights?</vt:lpstr>
      <vt:lpstr>L1 &amp; L2 REGULARIZATION</vt:lpstr>
      <vt:lpstr>Regularization Parameter λ</vt:lpstr>
      <vt:lpstr>PowerPoint Presentation</vt:lpstr>
      <vt:lpstr>L1 vs L2</vt:lpstr>
      <vt:lpstr>Numerical</vt:lpstr>
      <vt:lpstr>L2 – WEIGHT DECAY</vt:lpstr>
      <vt:lpstr>L2 Parameter Regularization: How Does It Change the Weights?</vt:lpstr>
      <vt:lpstr>With L2 Regularization</vt:lpstr>
      <vt:lpstr>WHY DIFFERENTIATION?</vt:lpstr>
      <vt:lpstr>ADD L2</vt:lpstr>
      <vt:lpstr>MODIFIED WEIGHT UPDATE</vt:lpstr>
      <vt:lpstr>WHAT ACTUALLY HAPPENS TO WEIGHT?</vt:lpstr>
      <vt:lpstr>PowerPoint Presentation</vt:lpstr>
      <vt:lpstr>MODIFIED WEIGHT UPDATE NUMERICALS</vt:lpstr>
      <vt:lpstr>PowerPoint Presentation</vt:lpstr>
      <vt:lpstr>PowerPoint Presentation</vt:lpstr>
      <vt:lpstr>EXTRA NUMERICALS</vt:lpstr>
      <vt:lpstr>EXTRA NUMERICALS</vt:lpstr>
      <vt:lpstr>MOST IMPORTANT FORMULA FOR L2 REGULARIZATION WEIGHT UPDATE</vt:lpstr>
      <vt:lpstr>REGULARIZATION TECHNIQUES: DATA AUGMENTATION</vt:lpstr>
      <vt:lpstr>PowerPoint Presentation</vt:lpstr>
      <vt:lpstr>The Problem: Limited Training Data</vt:lpstr>
      <vt:lpstr>WHAT IS DATA AUGMENTATION?</vt:lpstr>
      <vt:lpstr>PowerPoint Presentation</vt:lpstr>
      <vt:lpstr>WHY DATA AUGMENTATION?</vt:lpstr>
      <vt:lpstr>DATA AUGMENTATION TECHNIQUES</vt:lpstr>
      <vt:lpstr>DATA AUGMENTATION AS GENERALIZATION</vt:lpstr>
      <vt:lpstr>Image Augmentation: What Should NOT Be Done?</vt:lpstr>
      <vt:lpstr>PowerPoint Presentation</vt:lpstr>
      <vt:lpstr>PowerPoint Presentation</vt:lpstr>
      <vt:lpstr>SEMI-SUPERVISED LEARNING</vt:lpstr>
      <vt:lpstr>WORKFLOW</vt:lpstr>
      <vt:lpstr>PSEUDO LABELLING</vt:lpstr>
      <vt:lpstr>CONFIDENCE MATTERS</vt:lpstr>
      <vt:lpstr>CONNECTION TO REGULARIZATION</vt:lpstr>
      <vt:lpstr>OPTIMIZATION FOR DEEP NEURAL NETWORKS</vt:lpstr>
      <vt:lpstr>PowerPoint Presentation</vt:lpstr>
      <vt:lpstr>WHY WE NEED OPTIMIZATION?</vt:lpstr>
      <vt:lpstr>GRADIENT DESCENT</vt:lpstr>
      <vt:lpstr>PROBLEM</vt:lpstr>
      <vt:lpstr>ILL CONDITIONING IN NEURAL NETWORKS</vt:lpstr>
      <vt:lpstr>ILL CONTIONING MEANING</vt:lpstr>
      <vt:lpstr>PowerPoint Presentation</vt:lpstr>
      <vt:lpstr>LOCAL MINIMA</vt:lpstr>
      <vt:lpstr>PLATEUS</vt:lpstr>
      <vt:lpstr>SADDLE POINTS</vt:lpstr>
      <vt:lpstr>Summarizing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Ranjani Pradeep</dc:creator>
  <cp:lastModifiedBy>Ranjani Pradeep</cp:lastModifiedBy>
  <cp:revision>270</cp:revision>
  <dcterms:created xsi:type="dcterms:W3CDTF">2026-08-13T05:33:52Z</dcterms:created>
  <dcterms:modified xsi:type="dcterms:W3CDTF">2026-09-18T09:17:05Z</dcterms:modified>
</cp:coreProperties>
</file>